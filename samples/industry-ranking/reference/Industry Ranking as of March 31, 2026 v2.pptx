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2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notesSlides/notesSlide3.xml" ContentType="application/vnd.openxmlformats-officedocument.presentationml.notesSlid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notesSlides/notesSlide4.xml" ContentType="application/vnd.openxmlformats-officedocument.presentationml.notesSlide+xml"/>
  <Override PartName="/ppt/charts/chart21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charts/chart22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charts/chart23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charts/chart24.xml" ContentType="application/vnd.openxmlformats-officedocument.drawingml.chart+xml"/>
  <Override PartName="/ppt/charts/style24.xml" ContentType="application/vnd.ms-office.chartstyle+xml"/>
  <Override PartName="/ppt/charts/colors24.xml" ContentType="application/vnd.ms-office.chartcolorstyle+xml"/>
  <Override PartName="/ppt/charts/chart25.xml" ContentType="application/vnd.openxmlformats-officedocument.drawingml.chart+xml"/>
  <Override PartName="/ppt/charts/style25.xml" ContentType="application/vnd.ms-office.chartstyle+xml"/>
  <Override PartName="/ppt/charts/colors25.xml" ContentType="application/vnd.ms-office.chartcolorstyle+xml"/>
  <Override PartName="/ppt/charts/chart26.xml" ContentType="application/vnd.openxmlformats-officedocument.drawingml.chart+xml"/>
  <Override PartName="/ppt/charts/style26.xml" ContentType="application/vnd.ms-office.chartstyle+xml"/>
  <Override PartName="/ppt/charts/colors26.xml" ContentType="application/vnd.ms-office.chartcolorstyle+xml"/>
  <Override PartName="/ppt/charts/chart27.xml" ContentType="application/vnd.openxmlformats-officedocument.drawingml.chart+xml"/>
  <Override PartName="/ppt/charts/style27.xml" ContentType="application/vnd.ms-office.chartstyle+xml"/>
  <Override PartName="/ppt/charts/colors27.xml" ContentType="application/vnd.ms-office.chartcolorstyle+xml"/>
  <Override PartName="/ppt/charts/chart28.xml" ContentType="application/vnd.openxmlformats-officedocument.drawingml.chart+xml"/>
  <Override PartName="/ppt/charts/style28.xml" ContentType="application/vnd.ms-office.chartstyle+xml"/>
  <Override PartName="/ppt/charts/colors28.xml" ContentType="application/vnd.ms-office.chartcolorstyle+xml"/>
  <Override PartName="/ppt/charts/chart29.xml" ContentType="application/vnd.openxmlformats-officedocument.drawingml.chart+xml"/>
  <Override PartName="/ppt/charts/style29.xml" ContentType="application/vnd.ms-office.chartstyle+xml"/>
  <Override PartName="/ppt/charts/colors29.xml" ContentType="application/vnd.ms-office.chartcolorstyle+xml"/>
  <Override PartName="/ppt/charts/chart30.xml" ContentType="application/vnd.openxmlformats-officedocument.drawingml.chart+xml"/>
  <Override PartName="/ppt/charts/style30.xml" ContentType="application/vnd.ms-office.chartstyle+xml"/>
  <Override PartName="/ppt/charts/colors30.xml" ContentType="application/vnd.ms-office.chartcolorstyle+xml"/>
  <Override PartName="/ppt/charts/chart31.xml" ContentType="application/vnd.openxmlformats-officedocument.drawingml.chart+xml"/>
  <Override PartName="/ppt/charts/style31.xml" ContentType="application/vnd.ms-office.chartstyle+xml"/>
  <Override PartName="/ppt/charts/colors31.xml" ContentType="application/vnd.ms-office.chartcolorstyle+xml"/>
  <Override PartName="/ppt/drawings/drawing1.xml" ContentType="application/vnd.openxmlformats-officedocument.drawingml.chartshapes+xml"/>
  <Override PartName="/ppt/charts/chart32.xml" ContentType="application/vnd.openxmlformats-officedocument.drawingml.chart+xml"/>
  <Override PartName="/ppt/charts/style32.xml" ContentType="application/vnd.ms-office.chartstyle+xml"/>
  <Override PartName="/ppt/charts/colors32.xml" ContentType="application/vnd.ms-office.chartcolorstyle+xml"/>
  <Override PartName="/ppt/charts/chart33.xml" ContentType="application/vnd.openxmlformats-officedocument.drawingml.chart+xml"/>
  <Override PartName="/ppt/charts/style33.xml" ContentType="application/vnd.ms-office.chartstyle+xml"/>
  <Override PartName="/ppt/charts/colors33.xml" ContentType="application/vnd.ms-office.chartcolorstyle+xml"/>
  <Override PartName="/ppt/charts/chart34.xml" ContentType="application/vnd.openxmlformats-officedocument.drawingml.chart+xml"/>
  <Override PartName="/ppt/charts/style34.xml" ContentType="application/vnd.ms-office.chartstyle+xml"/>
  <Override PartName="/ppt/charts/colors34.xml" ContentType="application/vnd.ms-office.chartcolorstyle+xml"/>
  <Override PartName="/ppt/charts/chart35.xml" ContentType="application/vnd.openxmlformats-officedocument.drawingml.chart+xml"/>
  <Override PartName="/ppt/charts/style35.xml" ContentType="application/vnd.ms-office.chartstyle+xml"/>
  <Override PartName="/ppt/charts/colors35.xml" ContentType="application/vnd.ms-office.chartcolorstyle+xml"/>
  <Override PartName="/ppt/notesSlides/notesSlide5.xml" ContentType="application/vnd.openxmlformats-officedocument.presentationml.notesSlide+xml"/>
  <Override PartName="/ppt/charts/chart36.xml" ContentType="application/vnd.openxmlformats-officedocument.drawingml.chart+xml"/>
  <Override PartName="/ppt/charts/style36.xml" ContentType="application/vnd.ms-office.chartstyle+xml"/>
  <Override PartName="/ppt/charts/colors36.xml" ContentType="application/vnd.ms-office.chartcolorstyle+xml"/>
  <Override PartName="/ppt/charts/chart37.xml" ContentType="application/vnd.openxmlformats-officedocument.drawingml.chart+xml"/>
  <Override PartName="/ppt/charts/style37.xml" ContentType="application/vnd.ms-office.chartstyle+xml"/>
  <Override PartName="/ppt/charts/colors37.xml" ContentType="application/vnd.ms-office.chartcolorstyle+xml"/>
  <Override PartName="/ppt/charts/chart38.xml" ContentType="application/vnd.openxmlformats-officedocument.drawingml.chart+xml"/>
  <Override PartName="/ppt/charts/style38.xml" ContentType="application/vnd.ms-office.chartstyle+xml"/>
  <Override PartName="/ppt/charts/colors38.xml" ContentType="application/vnd.ms-office.chartcolorstyle+xml"/>
  <Override PartName="/ppt/charts/chart39.xml" ContentType="application/vnd.openxmlformats-officedocument.drawingml.chart+xml"/>
  <Override PartName="/ppt/charts/style39.xml" ContentType="application/vnd.ms-office.chartstyle+xml"/>
  <Override PartName="/ppt/charts/colors39.xml" ContentType="application/vnd.ms-office.chartcolorstyle+xml"/>
  <Override PartName="/ppt/notesSlides/notesSlide6.xml" ContentType="application/vnd.openxmlformats-officedocument.presentationml.notesSlide+xml"/>
  <Override PartName="/ppt/charts/chart40.xml" ContentType="application/vnd.openxmlformats-officedocument.drawingml.chart+xml"/>
  <Override PartName="/ppt/charts/style40.xml" ContentType="application/vnd.ms-office.chartstyle+xml"/>
  <Override PartName="/ppt/charts/colors40.xml" ContentType="application/vnd.ms-office.chartcolorstyle+xml"/>
  <Override PartName="/ppt/charts/chart41.xml" ContentType="application/vnd.openxmlformats-officedocument.drawingml.chart+xml"/>
  <Override PartName="/ppt/charts/style41.xml" ContentType="application/vnd.ms-office.chartstyle+xml"/>
  <Override PartName="/ppt/charts/colors41.xml" ContentType="application/vnd.ms-office.chartcolorstyle+xml"/>
  <Override PartName="/ppt/charts/chart42.xml" ContentType="application/vnd.openxmlformats-officedocument.drawingml.chart+xml"/>
  <Override PartName="/ppt/charts/style42.xml" ContentType="application/vnd.ms-office.chartstyle+xml"/>
  <Override PartName="/ppt/charts/colors42.xml" ContentType="application/vnd.ms-office.chartcolorstyle+xml"/>
  <Override PartName="/ppt/charts/chart43.xml" ContentType="application/vnd.openxmlformats-officedocument.drawingml.chart+xml"/>
  <Override PartName="/ppt/charts/style43.xml" ContentType="application/vnd.ms-office.chartstyle+xml"/>
  <Override PartName="/ppt/charts/colors43.xml" ContentType="application/vnd.ms-office.chartcolorstyle+xml"/>
  <Override PartName="/ppt/notesSlides/notesSlide7.xml" ContentType="application/vnd.openxmlformats-officedocument.presentationml.notesSlide+xml"/>
  <Override PartName="/ppt/charts/chart44.xml" ContentType="application/vnd.openxmlformats-officedocument.drawingml.chart+xml"/>
  <Override PartName="/ppt/charts/style44.xml" ContentType="application/vnd.ms-office.chartstyle+xml"/>
  <Override PartName="/ppt/charts/colors44.xml" ContentType="application/vnd.ms-office.chartcolorstyle+xml"/>
  <Override PartName="/ppt/charts/chart45.xml" ContentType="application/vnd.openxmlformats-officedocument.drawingml.chart+xml"/>
  <Override PartName="/ppt/charts/style45.xml" ContentType="application/vnd.ms-office.chartstyle+xml"/>
  <Override PartName="/ppt/charts/colors45.xml" ContentType="application/vnd.ms-office.chartcolorstyle+xml"/>
  <Override PartName="/ppt/charts/chart46.xml" ContentType="application/vnd.openxmlformats-officedocument.drawingml.chart+xml"/>
  <Override PartName="/ppt/charts/style46.xml" ContentType="application/vnd.ms-office.chartstyle+xml"/>
  <Override PartName="/ppt/charts/colors46.xml" ContentType="application/vnd.ms-office.chartcolorstyle+xml"/>
  <Override PartName="/ppt/charts/chart47.xml" ContentType="application/vnd.openxmlformats-officedocument.drawingml.chart+xml"/>
  <Override PartName="/ppt/charts/style47.xml" ContentType="application/vnd.ms-office.chartstyle+xml"/>
  <Override PartName="/ppt/charts/colors47.xml" ContentType="application/vnd.ms-office.chartcolorstyle+xml"/>
  <Override PartName="/ppt/charts/chart48.xml" ContentType="application/vnd.openxmlformats-officedocument.drawingml.chart+xml"/>
  <Override PartName="/ppt/drawings/drawing2.xml" ContentType="application/vnd.openxmlformats-officedocument.drawingml.chartshapes+xml"/>
  <Override PartName="/ppt/charts/chart49.xml" ContentType="application/vnd.openxmlformats-officedocument.drawingml.chart+xml"/>
  <Override PartName="/ppt/charts/style48.xml" ContentType="application/vnd.ms-office.chartstyle+xml"/>
  <Override PartName="/ppt/charts/colors48.xml" ContentType="application/vnd.ms-office.chartcolorstyle+xml"/>
  <Override PartName="/ppt/charts/chart50.xml" ContentType="application/vnd.openxmlformats-officedocument.drawingml.chart+xml"/>
  <Override PartName="/ppt/charts/style49.xml" ContentType="application/vnd.ms-office.chartstyle+xml"/>
  <Override PartName="/ppt/charts/colors49.xml" ContentType="application/vnd.ms-office.chartcolorstyle+xml"/>
  <Override PartName="/ppt/drawings/drawing3.xml" ContentType="application/vnd.openxmlformats-officedocument.drawingml.chartshapes+xml"/>
  <Override PartName="/ppt/charts/chart51.xml" ContentType="application/vnd.openxmlformats-officedocument.drawingml.chart+xml"/>
  <Override PartName="/ppt/charts/style50.xml" ContentType="application/vnd.ms-office.chartstyle+xml"/>
  <Override PartName="/ppt/charts/colors50.xml" ContentType="application/vnd.ms-office.chartcolorstyle+xml"/>
  <Override PartName="/ppt/drawings/drawing4.xml" ContentType="application/vnd.openxmlformats-officedocument.drawingml.chartshapes+xml"/>
  <Override PartName="/ppt/notesSlides/notesSlide8.xml" ContentType="application/vnd.openxmlformats-officedocument.presentationml.notesSlide+xml"/>
  <Override PartName="/ppt/charts/chart52.xml" ContentType="application/vnd.openxmlformats-officedocument.drawingml.chart+xml"/>
  <Override PartName="/ppt/charts/style51.xml" ContentType="application/vnd.ms-office.chartstyle+xml"/>
  <Override PartName="/ppt/charts/colors51.xml" ContentType="application/vnd.ms-office.chartcolorstyle+xml"/>
  <Override PartName="/ppt/charts/chart53.xml" ContentType="application/vnd.openxmlformats-officedocument.drawingml.chart+xml"/>
  <Override PartName="/ppt/charts/style52.xml" ContentType="application/vnd.ms-office.chartstyle+xml"/>
  <Override PartName="/ppt/charts/colors52.xml" ContentType="application/vnd.ms-office.chartcolorstyle+xml"/>
  <Override PartName="/ppt/charts/chart54.xml" ContentType="application/vnd.openxmlformats-officedocument.drawingml.chart+xml"/>
  <Override PartName="/ppt/charts/style53.xml" ContentType="application/vnd.ms-office.chartstyle+xml"/>
  <Override PartName="/ppt/charts/colors53.xml" ContentType="application/vnd.ms-office.chartcolorstyle+xml"/>
  <Override PartName="/ppt/charts/chart55.xml" ContentType="application/vnd.openxmlformats-officedocument.drawingml.chart+xml"/>
  <Override PartName="/ppt/charts/style54.xml" ContentType="application/vnd.ms-office.chartstyle+xml"/>
  <Override PartName="/ppt/charts/colors54.xml" ContentType="application/vnd.ms-office.chartcolorstyle+xml"/>
  <Override PartName="/ppt/notesSlides/notesSlide9.xml" ContentType="application/vnd.openxmlformats-officedocument.presentationml.notesSlide+xml"/>
  <Override PartName="/ppt/charts/chart56.xml" ContentType="application/vnd.openxmlformats-officedocument.drawingml.chart+xml"/>
  <Override PartName="/ppt/charts/style55.xml" ContentType="application/vnd.ms-office.chartstyle+xml"/>
  <Override PartName="/ppt/charts/colors55.xml" ContentType="application/vnd.ms-office.chartcolorstyle+xml"/>
  <Override PartName="/ppt/drawings/drawing5.xml" ContentType="application/vnd.openxmlformats-officedocument.drawingml.chartshapes+xml"/>
  <Override PartName="/ppt/charts/chart57.xml" ContentType="application/vnd.openxmlformats-officedocument.drawingml.chart+xml"/>
  <Override PartName="/ppt/charts/style56.xml" ContentType="application/vnd.ms-office.chartstyle+xml"/>
  <Override PartName="/ppt/charts/colors56.xml" ContentType="application/vnd.ms-office.chartcolorstyle+xml"/>
  <Override PartName="/ppt/charts/chart58.xml" ContentType="application/vnd.openxmlformats-officedocument.drawingml.chart+xml"/>
  <Override PartName="/ppt/charts/style57.xml" ContentType="application/vnd.ms-office.chartstyle+xml"/>
  <Override PartName="/ppt/charts/colors57.xml" ContentType="application/vnd.ms-office.chartcolorstyle+xml"/>
  <Override PartName="/ppt/drawings/drawing6.xml" ContentType="application/vnd.openxmlformats-officedocument.drawingml.chartshapes+xml"/>
  <Override PartName="/ppt/charts/chart59.xml" ContentType="application/vnd.openxmlformats-officedocument.drawingml.chart+xml"/>
  <Override PartName="/ppt/charts/style58.xml" ContentType="application/vnd.ms-office.chartstyle+xml"/>
  <Override PartName="/ppt/charts/colors58.xml" ContentType="application/vnd.ms-office.chartcolorstyle+xml"/>
  <Override PartName="/ppt/drawings/drawing7.xml" ContentType="application/vnd.openxmlformats-officedocument.drawingml.chartshapes+xml"/>
  <Override PartName="/ppt/notesSlides/notesSlide10.xml" ContentType="application/vnd.openxmlformats-officedocument.presentationml.notesSlide+xml"/>
  <Override PartName="/ppt/charts/chart60.xml" ContentType="application/vnd.openxmlformats-officedocument.drawingml.chart+xml"/>
  <Override PartName="/ppt/charts/style59.xml" ContentType="application/vnd.ms-office.chartstyle+xml"/>
  <Override PartName="/ppt/charts/colors59.xml" ContentType="application/vnd.ms-office.chartcolorstyle+xml"/>
  <Override PartName="/ppt/charts/chart61.xml" ContentType="application/vnd.openxmlformats-officedocument.drawingml.chart+xml"/>
  <Override PartName="/ppt/charts/style60.xml" ContentType="application/vnd.ms-office.chartstyle+xml"/>
  <Override PartName="/ppt/charts/colors60.xml" ContentType="application/vnd.ms-office.chartcolorstyle+xml"/>
  <Override PartName="/ppt/charts/chart62.xml" ContentType="application/vnd.openxmlformats-officedocument.drawingml.chart+xml"/>
  <Override PartName="/ppt/charts/style61.xml" ContentType="application/vnd.ms-office.chartstyle+xml"/>
  <Override PartName="/ppt/charts/colors61.xml" ContentType="application/vnd.ms-office.chartcolorstyle+xml"/>
  <Override PartName="/ppt/charts/chart63.xml" ContentType="application/vnd.openxmlformats-officedocument.drawingml.chart+xml"/>
  <Override PartName="/ppt/charts/style62.xml" ContentType="application/vnd.ms-office.chartstyle+xml"/>
  <Override PartName="/ppt/charts/colors62.xml" ContentType="application/vnd.ms-office.chartcolorstyle+xml"/>
  <Override PartName="/ppt/notesSlides/notesSlide11.xml" ContentType="application/vnd.openxmlformats-officedocument.presentationml.notesSlide+xml"/>
  <Override PartName="/ppt/charts/chart64.xml" ContentType="application/vnd.openxmlformats-officedocument.drawingml.chart+xml"/>
  <Override PartName="/ppt/charts/style63.xml" ContentType="application/vnd.ms-office.chartstyle+xml"/>
  <Override PartName="/ppt/charts/colors63.xml" ContentType="application/vnd.ms-office.chartcolorstyle+xml"/>
  <Override PartName="/ppt/charts/chart65.xml" ContentType="application/vnd.openxmlformats-officedocument.drawingml.chart+xml"/>
  <Override PartName="/ppt/charts/style64.xml" ContentType="application/vnd.ms-office.chartstyle+xml"/>
  <Override PartName="/ppt/charts/colors64.xml" ContentType="application/vnd.ms-office.chartcolorstyle+xml"/>
  <Override PartName="/ppt/charts/chart66.xml" ContentType="application/vnd.openxmlformats-officedocument.drawingml.chart+xml"/>
  <Override PartName="/ppt/charts/style65.xml" ContentType="application/vnd.ms-office.chartstyle+xml"/>
  <Override PartName="/ppt/charts/colors65.xml" ContentType="application/vnd.ms-office.chartcolorstyle+xml"/>
  <Override PartName="/ppt/charts/chart67.xml" ContentType="application/vnd.openxmlformats-officedocument.drawingml.chart+xml"/>
  <Override PartName="/ppt/charts/style66.xml" ContentType="application/vnd.ms-office.chartstyle+xml"/>
  <Override PartName="/ppt/charts/colors66.xml" ContentType="application/vnd.ms-office.chartcolorstyle+xml"/>
  <Override PartName="/ppt/notesSlides/notesSlide12.xml" ContentType="application/vnd.openxmlformats-officedocument.presentationml.notesSlide+xml"/>
  <Override PartName="/ppt/charts/chart68.xml" ContentType="application/vnd.openxmlformats-officedocument.drawingml.chart+xml"/>
  <Override PartName="/ppt/charts/style67.xml" ContentType="application/vnd.ms-office.chartstyle+xml"/>
  <Override PartName="/ppt/charts/colors67.xml" ContentType="application/vnd.ms-office.chartcolorstyle+xml"/>
  <Override PartName="/ppt/charts/chart69.xml" ContentType="application/vnd.openxmlformats-officedocument.drawingml.chart+xml"/>
  <Override PartName="/ppt/charts/style68.xml" ContentType="application/vnd.ms-office.chartstyle+xml"/>
  <Override PartName="/ppt/charts/colors68.xml" ContentType="application/vnd.ms-office.chartcolorstyle+xml"/>
  <Override PartName="/ppt/charts/chart70.xml" ContentType="application/vnd.openxmlformats-officedocument.drawingml.chart+xml"/>
  <Override PartName="/ppt/charts/style69.xml" ContentType="application/vnd.ms-office.chartstyle+xml"/>
  <Override PartName="/ppt/charts/colors69.xml" ContentType="application/vnd.ms-office.chartcolorstyle+xml"/>
  <Override PartName="/ppt/charts/chart71.xml" ContentType="application/vnd.openxmlformats-officedocument.drawingml.chart+xml"/>
  <Override PartName="/ppt/charts/style70.xml" ContentType="application/vnd.ms-office.chartstyle+xml"/>
  <Override PartName="/ppt/charts/colors70.xml" ContentType="application/vnd.ms-office.chartcolorstyle+xml"/>
  <Override PartName="/ppt/notesSlides/notesSlide13.xml" ContentType="application/vnd.openxmlformats-officedocument.presentationml.notesSlide+xml"/>
  <Override PartName="/ppt/charts/chart72.xml" ContentType="application/vnd.openxmlformats-officedocument.drawingml.chart+xml"/>
  <Override PartName="/ppt/charts/style71.xml" ContentType="application/vnd.ms-office.chartstyle+xml"/>
  <Override PartName="/ppt/charts/colors71.xml" ContentType="application/vnd.ms-office.chartcolorstyle+xml"/>
  <Override PartName="/ppt/charts/chart73.xml" ContentType="application/vnd.openxmlformats-officedocument.drawingml.chart+xml"/>
  <Override PartName="/ppt/charts/style72.xml" ContentType="application/vnd.ms-office.chartstyle+xml"/>
  <Override PartName="/ppt/charts/colors72.xml" ContentType="application/vnd.ms-office.chartcolorstyle+xml"/>
  <Override PartName="/ppt/charts/chart74.xml" ContentType="application/vnd.openxmlformats-officedocument.drawingml.chart+xml"/>
  <Override PartName="/ppt/charts/style73.xml" ContentType="application/vnd.ms-office.chartstyle+xml"/>
  <Override PartName="/ppt/charts/colors73.xml" ContentType="application/vnd.ms-office.chartcolorstyle+xml"/>
  <Override PartName="/ppt/charts/chart75.xml" ContentType="application/vnd.openxmlformats-officedocument.drawingml.chart+xml"/>
  <Override PartName="/ppt/charts/style74.xml" ContentType="application/vnd.ms-office.chartstyle+xml"/>
  <Override PartName="/ppt/charts/colors74.xml" ContentType="application/vnd.ms-office.chartcolorstyle+xml"/>
  <Override PartName="/ppt/notesSlides/notesSlide14.xml" ContentType="application/vnd.openxmlformats-officedocument.presentationml.notesSlide+xml"/>
  <Override PartName="/ppt/charts/chart76.xml" ContentType="application/vnd.openxmlformats-officedocument.drawingml.chart+xml"/>
  <Override PartName="/ppt/charts/style75.xml" ContentType="application/vnd.ms-office.chartstyle+xml"/>
  <Override PartName="/ppt/charts/colors75.xml" ContentType="application/vnd.ms-office.chartcolorstyle+xml"/>
  <Override PartName="/ppt/charts/chart77.xml" ContentType="application/vnd.openxmlformats-officedocument.drawingml.chart+xml"/>
  <Override PartName="/ppt/charts/style76.xml" ContentType="application/vnd.ms-office.chartstyle+xml"/>
  <Override PartName="/ppt/charts/colors76.xml" ContentType="application/vnd.ms-office.chartcolorstyle+xml"/>
  <Override PartName="/ppt/charts/chart78.xml" ContentType="application/vnd.openxmlformats-officedocument.drawingml.chart+xml"/>
  <Override PartName="/ppt/charts/style77.xml" ContentType="application/vnd.ms-office.chartstyle+xml"/>
  <Override PartName="/ppt/charts/colors77.xml" ContentType="application/vnd.ms-office.chartcolorstyle+xml"/>
  <Override PartName="/ppt/charts/chart79.xml" ContentType="application/vnd.openxmlformats-officedocument.drawingml.chart+xml"/>
  <Override PartName="/ppt/charts/style78.xml" ContentType="application/vnd.ms-office.chartstyle+xml"/>
  <Override PartName="/ppt/charts/colors78.xml" ContentType="application/vnd.ms-office.chartcolorstyle+xml"/>
  <Override PartName="/ppt/charts/chart80.xml" ContentType="application/vnd.openxmlformats-officedocument.drawingml.chart+xml"/>
  <Override PartName="/ppt/charts/style79.xml" ContentType="application/vnd.ms-office.chartstyle+xml"/>
  <Override PartName="/ppt/charts/colors79.xml" ContentType="application/vnd.ms-office.chartcolorstyle+xml"/>
  <Override PartName="/ppt/charts/chart81.xml" ContentType="application/vnd.openxmlformats-officedocument.drawingml.chart+xml"/>
  <Override PartName="/ppt/charts/style80.xml" ContentType="application/vnd.ms-office.chartstyle+xml"/>
  <Override PartName="/ppt/charts/colors80.xml" ContentType="application/vnd.ms-office.chartcolorstyle+xml"/>
  <Override PartName="/ppt/charts/chart82.xml" ContentType="application/vnd.openxmlformats-officedocument.drawingml.chart+xml"/>
  <Override PartName="/ppt/charts/style81.xml" ContentType="application/vnd.ms-office.chartstyle+xml"/>
  <Override PartName="/ppt/charts/colors81.xml" ContentType="application/vnd.ms-office.chartcolorstyle+xml"/>
  <Override PartName="/ppt/charts/chart83.xml" ContentType="application/vnd.openxmlformats-officedocument.drawingml.chart+xml"/>
  <Override PartName="/ppt/charts/style82.xml" ContentType="application/vnd.ms-office.chartstyle+xml"/>
  <Override PartName="/ppt/charts/colors82.xml" ContentType="application/vnd.ms-office.chartcolorstyle+xml"/>
  <Override PartName="/ppt/notesSlides/notesSlide15.xml" ContentType="application/vnd.openxmlformats-officedocument.presentationml.notesSlide+xml"/>
  <Override PartName="/ppt/charts/chart84.xml" ContentType="application/vnd.openxmlformats-officedocument.drawingml.chart+xml"/>
  <Override PartName="/ppt/charts/style83.xml" ContentType="application/vnd.ms-office.chartstyle+xml"/>
  <Override PartName="/ppt/charts/colors83.xml" ContentType="application/vnd.ms-office.chartcolorstyle+xml"/>
  <Override PartName="/ppt/charts/chart85.xml" ContentType="application/vnd.openxmlformats-officedocument.drawingml.chart+xml"/>
  <Override PartName="/ppt/charts/style84.xml" ContentType="application/vnd.ms-office.chartstyle+xml"/>
  <Override PartName="/ppt/charts/colors84.xml" ContentType="application/vnd.ms-office.chartcolorstyle+xml"/>
  <Override PartName="/ppt/charts/chart86.xml" ContentType="application/vnd.openxmlformats-officedocument.drawingml.chart+xml"/>
  <Override PartName="/ppt/charts/style85.xml" ContentType="application/vnd.ms-office.chartstyle+xml"/>
  <Override PartName="/ppt/charts/colors85.xml" ContentType="application/vnd.ms-office.chartcolorstyle+xml"/>
  <Override PartName="/ppt/charts/chart87.xml" ContentType="application/vnd.openxmlformats-officedocument.drawingml.chart+xml"/>
  <Override PartName="/ppt/charts/style86.xml" ContentType="application/vnd.ms-office.chartstyle+xml"/>
  <Override PartName="/ppt/charts/colors86.xml" ContentType="application/vnd.ms-office.chartcolorstyle+xml"/>
  <Override PartName="/ppt/charts/chart88.xml" ContentType="application/vnd.openxmlformats-officedocument.drawingml.chart+xml"/>
  <Override PartName="/ppt/charts/style87.xml" ContentType="application/vnd.ms-office.chartstyle+xml"/>
  <Override PartName="/ppt/charts/colors87.xml" ContentType="application/vnd.ms-office.chartcolorstyle+xml"/>
  <Override PartName="/ppt/charts/chart89.xml" ContentType="application/vnd.openxmlformats-officedocument.drawingml.chart+xml"/>
  <Override PartName="/ppt/charts/style88.xml" ContentType="application/vnd.ms-office.chartstyle+xml"/>
  <Override PartName="/ppt/charts/colors88.xml" ContentType="application/vnd.ms-office.chartcolorstyle+xml"/>
  <Override PartName="/ppt/charts/chart90.xml" ContentType="application/vnd.openxmlformats-officedocument.drawingml.chart+xml"/>
  <Override PartName="/ppt/charts/style89.xml" ContentType="application/vnd.ms-office.chartstyle+xml"/>
  <Override PartName="/ppt/charts/colors89.xml" ContentType="application/vnd.ms-office.chartcolorstyle+xml"/>
  <Override PartName="/ppt/charts/chart91.xml" ContentType="application/vnd.openxmlformats-officedocument.drawingml.chart+xml"/>
  <Override PartName="/ppt/charts/style90.xml" ContentType="application/vnd.ms-office.chartstyle+xml"/>
  <Override PartName="/ppt/charts/colors90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25"/>
  </p:notesMasterIdLst>
  <p:sldIdLst>
    <p:sldId id="269" r:id="rId3"/>
    <p:sldId id="272" r:id="rId4"/>
    <p:sldId id="286" r:id="rId5"/>
    <p:sldId id="283" r:id="rId6"/>
    <p:sldId id="290" r:id="rId7"/>
    <p:sldId id="291" r:id="rId8"/>
    <p:sldId id="288" r:id="rId9"/>
    <p:sldId id="289" r:id="rId10"/>
    <p:sldId id="284" r:id="rId11"/>
    <p:sldId id="287" r:id="rId12"/>
    <p:sldId id="285" r:id="rId13"/>
    <p:sldId id="282" r:id="rId14"/>
    <p:sldId id="280" r:id="rId15"/>
    <p:sldId id="273" r:id="rId16"/>
    <p:sldId id="281" r:id="rId17"/>
    <p:sldId id="278" r:id="rId18"/>
    <p:sldId id="279" r:id="rId19"/>
    <p:sldId id="276" r:id="rId20"/>
    <p:sldId id="277" r:id="rId21"/>
    <p:sldId id="274" r:id="rId22"/>
    <p:sldId id="275" r:id="rId23"/>
    <p:sldId id="271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5597"/>
    <a:srgbClr val="FFC000"/>
    <a:srgbClr val="DAEDEF"/>
    <a:srgbClr val="FBE5D6"/>
    <a:srgbClr val="FFFFCC"/>
    <a:srgbClr val="DDAB6D"/>
    <a:srgbClr val="FFCC66"/>
    <a:srgbClr val="FFC6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662" autoAdjust="0"/>
    <p:restoredTop sz="94343" autoAdjust="0"/>
  </p:normalViewPr>
  <p:slideViewPr>
    <p:cSldViewPr snapToGrid="0">
      <p:cViewPr varScale="1">
        <p:scale>
          <a:sx n="72" d="100"/>
          <a:sy n="72" d="100"/>
        </p:scale>
        <p:origin x="1728" y="66"/>
      </p:cViewPr>
      <p:guideLst/>
    </p:cSldViewPr>
  </p:slid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SP-\2023\Industry%20Ranking\2026\Industry%20Ranking%20as%20of%20March%2031,%202026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SP-\2023\Industry%20Ranking\2026\Industry%20Ranking%20as%20of%20March%2031,%202026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SP-\2023\Industry%20Ranking\2026\Industry%20Ranking%20as%20of%20March%2031,%202026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SP-\2023\Industry%20Ranking\2026\Industry%20Ranking%20as%20of%20March%2031,%202026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SP-\2023\Industry%20Ranking\2026\Industry%20Ranking%20as%20of%20March%2031,%202026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SP-\2023\Industry%20Ranking\2026\Industry%20Ranking%20as%20of%20March%2031,%202026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SP-\2023\Industry%20Ranking\2026\Industry%20Ranking%20as%20of%20March%2031,%202026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SP-\2023\Industry%20Ranking\2026\Industry%20Ranking%20as%20of%20March%2031,%202026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SP-\2023\Industry%20Ranking\2026\Industry%20Ranking%20as%20of%20March%2031,%202026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SP-\2023\Industry%20Ranking\2026\Industry%20Ranking%20as%20of%20March%2031,%202026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SP-\2023\Industry%20Ranking\2026\Industry%20Ranking%20as%20of%20March%2031,%202026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SP-\2023\Industry%20Ranking\2026\Industry%20Ranking%20as%20of%20March%2031,%202026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SP-\2023\Industry%20Ranking\2026\Industry%20Ranking%20as%20of%2030%20Sept%202025.xlsx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SP-\2023\Industry%20Ranking\2026\Industry%20Ranking%20as%20of%2030%20Sept%202025.xlsx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SP-\2023\Industry%20Ranking\2026\Industry%20Ranking%20as%20of%2030%20Sept%202025.xlsx" TargetMode="External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SP-\2023\Industry%20Ranking\2026\Industry%20Ranking%20as%20of%2030%20Sept%202025.xlsx" TargetMode="External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SP-\2023\Industry%20Ranking\2026\Industry%20Ranking%20as%20of%2030%20Sept%202025.xlsx" TargetMode="External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SP-\2023\Industry%20Ranking\2026\Industry%20Ranking%20as%20of%2030%20Sept%202025.xlsx" TargetMode="External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SP-\2023\Industry%20Ranking\2026\Industry%20Ranking%20as%20of%2030%20Sept%202025.xlsx" TargetMode="External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SP-\2023\Industry%20Ranking\2026\Industry%20Ranking%20as%20of%2030%20Sept%202025.xlsx" TargetMode="External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SP-\2023\Industry%20Ranking\2025\Industry%20Ranking%20as%20of%20March%2031,%202025.xlsx" TargetMode="External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SP-\2023\Industry%20Ranking\2025\Industry%20Ranking%20as%20of%20March%2031,%202025.xlsx" TargetMode="External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SP-\2023\Industry%20Ranking\2025\Industry%20Ranking%20as%20of%20March%2031,%202025.xlsx" TargetMode="External"/><Relationship Id="rId2" Type="http://schemas.microsoft.com/office/2011/relationships/chartColorStyle" Target="colors23.xml"/><Relationship Id="rId1" Type="http://schemas.microsoft.com/office/2011/relationships/chartStyle" Target="style23.xml"/></Relationships>
</file>

<file path=ppt/charts/_rels/chart2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SP-\2023\Industry%20Ranking\2025\Industry%20Ranking%20as%20of%20March%2031,%202025.xlsx" TargetMode="External"/><Relationship Id="rId2" Type="http://schemas.microsoft.com/office/2011/relationships/chartColorStyle" Target="colors24.xml"/><Relationship Id="rId1" Type="http://schemas.microsoft.com/office/2011/relationships/chartStyle" Target="style24.xml"/></Relationships>
</file>

<file path=ppt/charts/_rels/chart25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SP-\2023\Industry%20Ranking\2025\Industry%20Ranking%20as%20of%20March%2031,%202025.xlsx" TargetMode="External"/><Relationship Id="rId2" Type="http://schemas.microsoft.com/office/2011/relationships/chartColorStyle" Target="colors25.xml"/><Relationship Id="rId1" Type="http://schemas.microsoft.com/office/2011/relationships/chartStyle" Target="style25.xml"/></Relationships>
</file>

<file path=ppt/charts/_rels/chart26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SP-\2023\Industry%20Ranking\2025\Industry%20Ranking%20as%20of%20March%2031,%202025.xlsx" TargetMode="External"/><Relationship Id="rId2" Type="http://schemas.microsoft.com/office/2011/relationships/chartColorStyle" Target="colors26.xml"/><Relationship Id="rId1" Type="http://schemas.microsoft.com/office/2011/relationships/chartStyle" Target="style26.xml"/></Relationships>
</file>

<file path=ppt/charts/_rels/chart27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SP-\2023\Industry%20Ranking\2025\Industry%20Ranking%20as%20of%20March%2031,%202025.xlsx" TargetMode="External"/><Relationship Id="rId2" Type="http://schemas.microsoft.com/office/2011/relationships/chartColorStyle" Target="colors27.xml"/><Relationship Id="rId1" Type="http://schemas.microsoft.com/office/2011/relationships/chartStyle" Target="style27.xml"/></Relationships>
</file>

<file path=ppt/charts/_rels/chart28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SP-\2023\Industry%20Ranking\2025\Industry%20Ranking%20as%20of%20March%2031,%202025.xlsx" TargetMode="External"/><Relationship Id="rId2" Type="http://schemas.microsoft.com/office/2011/relationships/chartColorStyle" Target="colors28.xml"/><Relationship Id="rId1" Type="http://schemas.microsoft.com/office/2011/relationships/chartStyle" Target="style28.xml"/></Relationships>
</file>

<file path=ppt/charts/_rels/chart29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SP-\2023\Industry%20Ranking\2025\Industry%20Ranking%20as%20of%20March%2031,%202025.xlsx" TargetMode="External"/><Relationship Id="rId2" Type="http://schemas.microsoft.com/office/2011/relationships/chartColorStyle" Target="colors29.xml"/><Relationship Id="rId1" Type="http://schemas.microsoft.com/office/2011/relationships/chartStyle" Target="style29.xml"/></Relationships>
</file>

<file path=ppt/charts/_rels/chart30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SP-\2023\Industry%20Ranking\2025\Industry%20Ranking%20as%20of%20March%2031,%202025.xlsx" TargetMode="External"/><Relationship Id="rId2" Type="http://schemas.microsoft.com/office/2011/relationships/chartColorStyle" Target="colors30.xml"/><Relationship Id="rId1" Type="http://schemas.microsoft.com/office/2011/relationships/chartStyle" Target="style30.xml"/></Relationships>
</file>

<file path=ppt/charts/_rels/chart3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SP-\2023\Industry%20Ranking\2025\Industry%20Ranking%20as%20of%20March%2031,%202025.xlsx" TargetMode="External"/><Relationship Id="rId2" Type="http://schemas.microsoft.com/office/2011/relationships/chartColorStyle" Target="colors31.xml"/><Relationship Id="rId1" Type="http://schemas.microsoft.com/office/2011/relationships/chartStyle" Target="style31.xml"/><Relationship Id="rId4" Type="http://schemas.openxmlformats.org/officeDocument/2006/relationships/chartUserShapes" Target="../drawings/drawing1.xml"/></Relationships>
</file>

<file path=ppt/charts/_rels/chart3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SP-\2023\Industry%20Ranking\2025\Industry%20Ranking%20as%20of%20March%2031,%202025.xlsx" TargetMode="External"/><Relationship Id="rId2" Type="http://schemas.microsoft.com/office/2011/relationships/chartColorStyle" Target="colors32.xml"/><Relationship Id="rId1" Type="http://schemas.microsoft.com/office/2011/relationships/chartStyle" Target="style32.xml"/></Relationships>
</file>

<file path=ppt/charts/_rels/chart3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SP-\2023\Industry%20Ranking\2025\Industry%20Ranking%20as%20of%20March%2031,%202025.xlsx" TargetMode="External"/><Relationship Id="rId2" Type="http://schemas.microsoft.com/office/2011/relationships/chartColorStyle" Target="colors33.xml"/><Relationship Id="rId1" Type="http://schemas.microsoft.com/office/2011/relationships/chartStyle" Target="style33.xml"/></Relationships>
</file>

<file path=ppt/charts/_rels/chart3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SP-\2023\Industry%20Ranking\2025\Industry%20Ranking%20as%20of%20March%2031,%202025.xlsx" TargetMode="External"/><Relationship Id="rId2" Type="http://schemas.microsoft.com/office/2011/relationships/chartColorStyle" Target="colors34.xml"/><Relationship Id="rId1" Type="http://schemas.microsoft.com/office/2011/relationships/chartStyle" Target="style34.xml"/></Relationships>
</file>

<file path=ppt/charts/_rels/chart35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SP-\2023\Industry%20Ranking\2025\Industry%20Ranking%20as%20of%20March%2031,%202025.xlsx" TargetMode="External"/><Relationship Id="rId2" Type="http://schemas.microsoft.com/office/2011/relationships/chartColorStyle" Target="colors35.xml"/><Relationship Id="rId1" Type="http://schemas.microsoft.com/office/2011/relationships/chartStyle" Target="style35.xml"/></Relationships>
</file>

<file path=ppt/charts/_rels/chart36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SP-\2023\Industry%20Ranking\2025\Industry%20Ranking%20as%20of%20March%2031,%202025.xlsx" TargetMode="External"/><Relationship Id="rId2" Type="http://schemas.microsoft.com/office/2011/relationships/chartColorStyle" Target="colors36.xml"/><Relationship Id="rId1" Type="http://schemas.microsoft.com/office/2011/relationships/chartStyle" Target="style36.xml"/></Relationships>
</file>

<file path=ppt/charts/_rels/chart37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SP-\2023\Industry%20Ranking\2025\Industry%20Ranking%20as%20of%20March%2031,%202025.xlsx" TargetMode="External"/><Relationship Id="rId2" Type="http://schemas.microsoft.com/office/2011/relationships/chartColorStyle" Target="colors37.xml"/><Relationship Id="rId1" Type="http://schemas.microsoft.com/office/2011/relationships/chartStyle" Target="style37.xml"/></Relationships>
</file>

<file path=ppt/charts/_rels/chart38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SP-\2023\Industry%20Ranking\2025\Industry%20Ranking%20as%20of%20March%2031,%202025.xlsx" TargetMode="External"/><Relationship Id="rId2" Type="http://schemas.microsoft.com/office/2011/relationships/chartColorStyle" Target="colors38.xml"/><Relationship Id="rId1" Type="http://schemas.microsoft.com/office/2011/relationships/chartStyle" Target="style38.xml"/></Relationships>
</file>

<file path=ppt/charts/_rels/chart39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SP-\2023\Industry%20Ranking\2025\Industry%20Ranking%20as%20of%20March%2031,%202025.xlsx" TargetMode="External"/><Relationship Id="rId2" Type="http://schemas.microsoft.com/office/2011/relationships/chartColorStyle" Target="colors39.xml"/><Relationship Id="rId1" Type="http://schemas.microsoft.com/office/2011/relationships/chartStyle" Target="style39.xml"/></Relationships>
</file>

<file path=ppt/charts/_rels/chart40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SP-\2023\Industry%20Ranking\2025\Industry%20Ranking%20as%20of%20March%2031,%202025.xlsx" TargetMode="External"/><Relationship Id="rId2" Type="http://schemas.microsoft.com/office/2011/relationships/chartColorStyle" Target="colors40.xml"/><Relationship Id="rId1" Type="http://schemas.microsoft.com/office/2011/relationships/chartStyle" Target="style40.xml"/></Relationships>
</file>

<file path=ppt/charts/_rels/chart4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SP-\2023\Industry%20Ranking\2025\Industry%20Ranking%20as%20of%20March%2031,%202025.xlsx" TargetMode="External"/><Relationship Id="rId2" Type="http://schemas.microsoft.com/office/2011/relationships/chartColorStyle" Target="colors41.xml"/><Relationship Id="rId1" Type="http://schemas.microsoft.com/office/2011/relationships/chartStyle" Target="style41.xml"/></Relationships>
</file>

<file path=ppt/charts/_rels/chart4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SP-\2023\Industry%20Ranking\2025\Industry%20Ranking%20as%20of%20March%2031,%202025.xlsx" TargetMode="External"/><Relationship Id="rId2" Type="http://schemas.microsoft.com/office/2011/relationships/chartColorStyle" Target="colors42.xml"/><Relationship Id="rId1" Type="http://schemas.microsoft.com/office/2011/relationships/chartStyle" Target="style42.xml"/></Relationships>
</file>

<file path=ppt/charts/_rels/chart4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SP-\2023\Industry%20Ranking\2025\Industry%20Ranking%20as%20of%20March%2031,%202025.xlsx" TargetMode="External"/><Relationship Id="rId2" Type="http://schemas.microsoft.com/office/2011/relationships/chartColorStyle" Target="colors43.xml"/><Relationship Id="rId1" Type="http://schemas.microsoft.com/office/2011/relationships/chartStyle" Target="style43.xml"/></Relationships>
</file>

<file path=ppt/charts/_rels/chart4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SP-\2023\Industry%20Ranking\2024\Industry%20Ranking%20as%20of%2031%20March%202024.xlsx" TargetMode="External"/><Relationship Id="rId2" Type="http://schemas.microsoft.com/office/2011/relationships/chartColorStyle" Target="colors44.xml"/><Relationship Id="rId1" Type="http://schemas.microsoft.com/office/2011/relationships/chartStyle" Target="style44.xml"/></Relationships>
</file>

<file path=ppt/charts/_rels/chart45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SP-\2023\Industry%20Ranking\2024\Industry%20Ranking%20as%20of%2031%20March%202024.xlsx" TargetMode="External"/><Relationship Id="rId2" Type="http://schemas.microsoft.com/office/2011/relationships/chartColorStyle" Target="colors45.xml"/><Relationship Id="rId1" Type="http://schemas.microsoft.com/office/2011/relationships/chartStyle" Target="style45.xml"/></Relationships>
</file>

<file path=ppt/charts/_rels/chart46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SP-\2023\Industry%20Ranking\2024\Industry%20Ranking%20as%20of%2031%20March%202024.xlsx" TargetMode="External"/><Relationship Id="rId2" Type="http://schemas.microsoft.com/office/2011/relationships/chartColorStyle" Target="colors46.xml"/><Relationship Id="rId1" Type="http://schemas.microsoft.com/office/2011/relationships/chartStyle" Target="style46.xml"/></Relationships>
</file>

<file path=ppt/charts/_rels/chart47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SP-\2023\Industry%20Ranking\2024\Industry%20Ranking%20as%20of%2031%20March%202024.xlsx" TargetMode="External"/><Relationship Id="rId2" Type="http://schemas.microsoft.com/office/2011/relationships/chartColorStyle" Target="colors47.xml"/><Relationship Id="rId1" Type="http://schemas.microsoft.com/office/2011/relationships/chartStyle" Target="style47.xml"/></Relationships>
</file>

<file path=ppt/charts/_rels/chart48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2.xml"/><Relationship Id="rId1" Type="http://schemas.openxmlformats.org/officeDocument/2006/relationships/oleObject" Target="file:///D:\RSP-\2023\Industry%20Ranking\2024\Industry%20Ranking%20as%20of%2031%20March%202024.xlsx" TargetMode="External"/></Relationships>
</file>

<file path=ppt/charts/_rels/chart49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SP-\2023\Industry%20Ranking\2024\Industry%20Ranking%20as%20of%2031%20March%202024.xlsx" TargetMode="External"/><Relationship Id="rId2" Type="http://schemas.microsoft.com/office/2011/relationships/chartColorStyle" Target="colors48.xml"/><Relationship Id="rId1" Type="http://schemas.microsoft.com/office/2011/relationships/chartStyle" Target="style48.xml"/></Relationships>
</file>

<file path=ppt/charts/_rels/chart50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SP-\2023\Industry%20Ranking\2024\Industry%20Ranking%20as%20of%2031%20March%202024.xlsx" TargetMode="External"/><Relationship Id="rId2" Type="http://schemas.microsoft.com/office/2011/relationships/chartColorStyle" Target="colors49.xml"/><Relationship Id="rId1" Type="http://schemas.microsoft.com/office/2011/relationships/chartStyle" Target="style49.xml"/><Relationship Id="rId4" Type="http://schemas.openxmlformats.org/officeDocument/2006/relationships/chartUserShapes" Target="../drawings/drawing3.xml"/></Relationships>
</file>

<file path=ppt/charts/_rels/chart5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SP-\2023\Industry%20Ranking\2024\Industry%20Ranking%20as%20of%2031%20March%202024.xlsx" TargetMode="External"/><Relationship Id="rId2" Type="http://schemas.microsoft.com/office/2011/relationships/chartColorStyle" Target="colors50.xml"/><Relationship Id="rId1" Type="http://schemas.microsoft.com/office/2011/relationships/chartStyle" Target="style50.xml"/><Relationship Id="rId4" Type="http://schemas.openxmlformats.org/officeDocument/2006/relationships/chartUserShapes" Target="../drawings/drawing4.xml"/></Relationships>
</file>

<file path=ppt/charts/_rels/chart5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SP-\2023\Industry%20Ranking\2024\Industry%20Ranking%20as%20of%2031%20March%202024.xlsx" TargetMode="External"/><Relationship Id="rId2" Type="http://schemas.microsoft.com/office/2011/relationships/chartColorStyle" Target="colors51.xml"/><Relationship Id="rId1" Type="http://schemas.microsoft.com/office/2011/relationships/chartStyle" Target="style51.xml"/></Relationships>
</file>

<file path=ppt/charts/_rels/chart5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SP-\2023\Industry%20Ranking\2024\Industry%20Ranking%20as%20of%2031%20March%202024.xlsx" TargetMode="External"/><Relationship Id="rId2" Type="http://schemas.microsoft.com/office/2011/relationships/chartColorStyle" Target="colors52.xml"/><Relationship Id="rId1" Type="http://schemas.microsoft.com/office/2011/relationships/chartStyle" Target="style52.xml"/></Relationships>
</file>

<file path=ppt/charts/_rels/chart5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SP-\2023\Industry%20Ranking\2024\Industry%20Ranking%20as%20of%2031%20March%202024.xlsx" TargetMode="External"/><Relationship Id="rId2" Type="http://schemas.microsoft.com/office/2011/relationships/chartColorStyle" Target="colors53.xml"/><Relationship Id="rId1" Type="http://schemas.microsoft.com/office/2011/relationships/chartStyle" Target="style53.xml"/></Relationships>
</file>

<file path=ppt/charts/_rels/chart55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SP-\2023\Industry%20Ranking\2024\Industry%20Ranking%20as%20of%2031%20March%202024.xlsx" TargetMode="External"/><Relationship Id="rId2" Type="http://schemas.microsoft.com/office/2011/relationships/chartColorStyle" Target="colors54.xml"/><Relationship Id="rId1" Type="http://schemas.microsoft.com/office/2011/relationships/chartStyle" Target="style54.xml"/></Relationships>
</file>

<file path=ppt/charts/_rels/chart56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SP-\2023\Industry%20Ranking\2024\Industry%20Ranking%20as%20of%2031%20March%202024.xlsx" TargetMode="External"/><Relationship Id="rId2" Type="http://schemas.microsoft.com/office/2011/relationships/chartColorStyle" Target="colors55.xml"/><Relationship Id="rId1" Type="http://schemas.microsoft.com/office/2011/relationships/chartStyle" Target="style55.xml"/><Relationship Id="rId4" Type="http://schemas.openxmlformats.org/officeDocument/2006/relationships/chartUserShapes" Target="../drawings/drawing5.xml"/></Relationships>
</file>

<file path=ppt/charts/_rels/chart57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SP-\2023\Industry%20Ranking\2024\Industry%20Ranking%20as%20of%2031%20March%202024.xlsx" TargetMode="External"/><Relationship Id="rId2" Type="http://schemas.microsoft.com/office/2011/relationships/chartColorStyle" Target="colors56.xml"/><Relationship Id="rId1" Type="http://schemas.microsoft.com/office/2011/relationships/chartStyle" Target="style56.xml"/></Relationships>
</file>

<file path=ppt/charts/_rels/chart58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SP-\2023\Industry%20Ranking\2024\Industry%20Ranking%20as%20of%2031%20March%202024.xlsx" TargetMode="External"/><Relationship Id="rId2" Type="http://schemas.microsoft.com/office/2011/relationships/chartColorStyle" Target="colors57.xml"/><Relationship Id="rId1" Type="http://schemas.microsoft.com/office/2011/relationships/chartStyle" Target="style57.xml"/><Relationship Id="rId4" Type="http://schemas.openxmlformats.org/officeDocument/2006/relationships/chartUserShapes" Target="../drawings/drawing6.xml"/></Relationships>
</file>

<file path=ppt/charts/_rels/chart59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SP-\2023\Industry%20Ranking\2024\Industry%20Ranking%20as%20of%2031%20March%202024.xlsx" TargetMode="External"/><Relationship Id="rId2" Type="http://schemas.microsoft.com/office/2011/relationships/chartColorStyle" Target="colors58.xml"/><Relationship Id="rId1" Type="http://schemas.microsoft.com/office/2011/relationships/chartStyle" Target="style58.xml"/><Relationship Id="rId4" Type="http://schemas.openxmlformats.org/officeDocument/2006/relationships/chartUserShapes" Target="../drawings/drawing7.xml"/></Relationships>
</file>

<file path=ppt/charts/_rels/chart60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SP-\2023\Industry%20Ranking\Industry%20Ranking%20as%20of%2030%20September%202023.xlsx" TargetMode="External"/><Relationship Id="rId2" Type="http://schemas.microsoft.com/office/2011/relationships/chartColorStyle" Target="colors59.xml"/><Relationship Id="rId1" Type="http://schemas.microsoft.com/office/2011/relationships/chartStyle" Target="style59.xml"/></Relationships>
</file>

<file path=ppt/charts/_rels/chart6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SP-\2023\Industry%20Ranking\Industry%20Ranking%20as%20of%2030%20September%202023.xlsx" TargetMode="External"/><Relationship Id="rId2" Type="http://schemas.microsoft.com/office/2011/relationships/chartColorStyle" Target="colors60.xml"/><Relationship Id="rId1" Type="http://schemas.microsoft.com/office/2011/relationships/chartStyle" Target="style60.xml"/></Relationships>
</file>

<file path=ppt/charts/_rels/chart6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SP-\2023\Industry%20Ranking\Industry%20Ranking%20as%20of%2030%20September%202023.xlsx" TargetMode="External"/><Relationship Id="rId2" Type="http://schemas.microsoft.com/office/2011/relationships/chartColorStyle" Target="colors61.xml"/><Relationship Id="rId1" Type="http://schemas.microsoft.com/office/2011/relationships/chartStyle" Target="style61.xml"/></Relationships>
</file>

<file path=ppt/charts/_rels/chart6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SP-\2023\Industry%20Ranking\Industry%20Ranking%20as%20of%2030%20September%202023.xlsx" TargetMode="External"/><Relationship Id="rId2" Type="http://schemas.microsoft.com/office/2011/relationships/chartColorStyle" Target="colors62.xml"/><Relationship Id="rId1" Type="http://schemas.microsoft.com/office/2011/relationships/chartStyle" Target="style62.xml"/></Relationships>
</file>

<file path=ppt/charts/_rels/chart6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SP-\2023\Industry%20Ranking\Industry%20Ranking%20as%20of%2030%20September%202023.xlsx" TargetMode="External"/><Relationship Id="rId2" Type="http://schemas.microsoft.com/office/2011/relationships/chartColorStyle" Target="colors63.xml"/><Relationship Id="rId1" Type="http://schemas.microsoft.com/office/2011/relationships/chartStyle" Target="style63.xml"/></Relationships>
</file>

<file path=ppt/charts/_rels/chart65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SP-\2023\Industry%20Ranking\Industry%20Ranking%20as%20of%2030%20September%202023.xlsx" TargetMode="External"/><Relationship Id="rId2" Type="http://schemas.microsoft.com/office/2011/relationships/chartColorStyle" Target="colors64.xml"/><Relationship Id="rId1" Type="http://schemas.microsoft.com/office/2011/relationships/chartStyle" Target="style64.xml"/></Relationships>
</file>

<file path=ppt/charts/_rels/chart66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SP-\2023\Industry%20Ranking\Industry%20Ranking%20as%20of%2030%20September%202023.xlsx" TargetMode="External"/><Relationship Id="rId2" Type="http://schemas.microsoft.com/office/2011/relationships/chartColorStyle" Target="colors65.xml"/><Relationship Id="rId1" Type="http://schemas.microsoft.com/office/2011/relationships/chartStyle" Target="style65.xml"/></Relationships>
</file>

<file path=ppt/charts/_rels/chart67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SP-\2023\Industry%20Ranking\Industry%20Ranking%20as%20of%2030%20September%202023.xlsx" TargetMode="External"/><Relationship Id="rId2" Type="http://schemas.microsoft.com/office/2011/relationships/chartColorStyle" Target="colors66.xml"/><Relationship Id="rId1" Type="http://schemas.microsoft.com/office/2011/relationships/chartStyle" Target="style66.xml"/></Relationships>
</file>

<file path=ppt/charts/_rels/chart6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psanpedro\Desktop\Industry%20Ranking%20as%20of%2030%20June%202023.xlsx" TargetMode="External"/><Relationship Id="rId2" Type="http://schemas.microsoft.com/office/2011/relationships/chartColorStyle" Target="colors67.xml"/><Relationship Id="rId1" Type="http://schemas.microsoft.com/office/2011/relationships/chartStyle" Target="style67.xml"/></Relationships>
</file>

<file path=ppt/charts/_rels/chart6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psanpedro\Desktop\Industry%20Ranking%20as%20of%2030%20June%202023.xlsx" TargetMode="External"/><Relationship Id="rId2" Type="http://schemas.microsoft.com/office/2011/relationships/chartColorStyle" Target="colors68.xml"/><Relationship Id="rId1" Type="http://schemas.microsoft.com/office/2011/relationships/chartStyle" Target="style68.xml"/></Relationships>
</file>

<file path=ppt/charts/_rels/chart7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psanpedro\Desktop\Industry%20Ranking%20as%20of%2030%20June%202023.xlsx" TargetMode="External"/><Relationship Id="rId2" Type="http://schemas.microsoft.com/office/2011/relationships/chartColorStyle" Target="colors69.xml"/><Relationship Id="rId1" Type="http://schemas.microsoft.com/office/2011/relationships/chartStyle" Target="style69.xml"/></Relationships>
</file>

<file path=ppt/charts/_rels/chart7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psanpedro\Desktop\Industry%20Ranking%20as%20of%2030%20June%202023.xlsx" TargetMode="External"/><Relationship Id="rId2" Type="http://schemas.microsoft.com/office/2011/relationships/chartColorStyle" Target="colors70.xml"/><Relationship Id="rId1" Type="http://schemas.microsoft.com/office/2011/relationships/chartStyle" Target="style70.xml"/></Relationships>
</file>

<file path=ppt/charts/_rels/chart7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psanpedro\Desktop\Industry%20Ranking%20as%20of%2030%20June%202023.xlsx" TargetMode="External"/><Relationship Id="rId2" Type="http://schemas.microsoft.com/office/2011/relationships/chartColorStyle" Target="colors71.xml"/><Relationship Id="rId1" Type="http://schemas.microsoft.com/office/2011/relationships/chartStyle" Target="style71.xml"/></Relationships>
</file>

<file path=ppt/charts/_rels/chart7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psanpedro\Desktop\Industry%20Ranking%20as%20of%2030%20June%202023.xlsx" TargetMode="External"/><Relationship Id="rId2" Type="http://schemas.microsoft.com/office/2011/relationships/chartColorStyle" Target="colors72.xml"/><Relationship Id="rId1" Type="http://schemas.microsoft.com/office/2011/relationships/chartStyle" Target="style72.xml"/></Relationships>
</file>

<file path=ppt/charts/_rels/chart7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psanpedro\Desktop\Industry%20Ranking%20as%20of%2030%20June%202023.xlsx" TargetMode="External"/><Relationship Id="rId2" Type="http://schemas.microsoft.com/office/2011/relationships/chartColorStyle" Target="colors73.xml"/><Relationship Id="rId1" Type="http://schemas.microsoft.com/office/2011/relationships/chartStyle" Target="style73.xml"/></Relationships>
</file>

<file path=ppt/charts/_rels/chart7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psanpedro\Desktop\Industry%20Ranking%20as%20of%2030%20June%202023.xlsx" TargetMode="External"/><Relationship Id="rId2" Type="http://schemas.microsoft.com/office/2011/relationships/chartColorStyle" Target="colors74.xml"/><Relationship Id="rId1" Type="http://schemas.microsoft.com/office/2011/relationships/chartStyle" Target="style74.xml"/></Relationships>
</file>

<file path=ppt/charts/_rels/chart7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icole%20Castro\Desktop\AUG%204\ongoing_AUG42022\Pre-planning%20persentation\Industry%20Ranking%20as%20of%2031%20March%202021.xlsx" TargetMode="External"/><Relationship Id="rId2" Type="http://schemas.microsoft.com/office/2011/relationships/chartColorStyle" Target="colors75.xml"/><Relationship Id="rId1" Type="http://schemas.microsoft.com/office/2011/relationships/chartStyle" Target="style75.xml"/></Relationships>
</file>

<file path=ppt/charts/_rels/chart7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icole%20Castro\Desktop\AUG%204\ongoing_AUG42022\Pre-planning%20persentation\Industry%20Ranking%20as%20of%2031%20March%202021.xlsx" TargetMode="External"/><Relationship Id="rId2" Type="http://schemas.microsoft.com/office/2011/relationships/chartColorStyle" Target="colors76.xml"/><Relationship Id="rId1" Type="http://schemas.microsoft.com/office/2011/relationships/chartStyle" Target="style76.xml"/></Relationships>
</file>

<file path=ppt/charts/_rels/chart7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icole%20Castro\Desktop\AUG%204\ongoing_AUG42022\Pre-planning%20persentation\Industry%20Ranking%20as%20of%2031%20March%202021.xlsx" TargetMode="External"/><Relationship Id="rId2" Type="http://schemas.microsoft.com/office/2011/relationships/chartColorStyle" Target="colors77.xml"/><Relationship Id="rId1" Type="http://schemas.microsoft.com/office/2011/relationships/chartStyle" Target="style77.xml"/></Relationships>
</file>

<file path=ppt/charts/_rels/chart7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icole%20Castro\Desktop\AUG%204\ongoing_AUG42022\Pre-planning%20persentation\Industry%20Ranking%20as%20of%2031%20March%202021.xlsx" TargetMode="External"/><Relationship Id="rId2" Type="http://schemas.microsoft.com/office/2011/relationships/chartColorStyle" Target="colors78.xml"/><Relationship Id="rId1" Type="http://schemas.microsoft.com/office/2011/relationships/chartStyle" Target="style78.xml"/></Relationships>
</file>

<file path=ppt/charts/_rels/chart80.xml.rels><?xml version="1.0" encoding="UTF-8" standalone="yes"?>
<Relationships xmlns="http://schemas.openxmlformats.org/package/2006/relationships"><Relationship Id="rId3" Type="http://schemas.openxmlformats.org/officeDocument/2006/relationships/oleObject" Target="file:///\\nlex\marketing$\RD\Industry%20Ranking%20as%20of%2031%20March%202023.xlsx" TargetMode="External"/><Relationship Id="rId2" Type="http://schemas.microsoft.com/office/2011/relationships/chartColorStyle" Target="colors79.xml"/><Relationship Id="rId1" Type="http://schemas.microsoft.com/office/2011/relationships/chartStyle" Target="style79.xml"/></Relationships>
</file>

<file path=ppt/charts/_rels/chart81.xml.rels><?xml version="1.0" encoding="UTF-8" standalone="yes"?>
<Relationships xmlns="http://schemas.openxmlformats.org/package/2006/relationships"><Relationship Id="rId3" Type="http://schemas.openxmlformats.org/officeDocument/2006/relationships/oleObject" Target="file:///\\nlex\marketing$\RD\Industry%20Ranking%20as%20of%2031%20March%202023.xlsx" TargetMode="External"/><Relationship Id="rId2" Type="http://schemas.microsoft.com/office/2011/relationships/chartColorStyle" Target="colors80.xml"/><Relationship Id="rId1" Type="http://schemas.microsoft.com/office/2011/relationships/chartStyle" Target="style80.xml"/></Relationships>
</file>

<file path=ppt/charts/_rels/chart82.xml.rels><?xml version="1.0" encoding="UTF-8" standalone="yes"?>
<Relationships xmlns="http://schemas.openxmlformats.org/package/2006/relationships"><Relationship Id="rId3" Type="http://schemas.openxmlformats.org/officeDocument/2006/relationships/oleObject" Target="file:///\\nlex\marketing$\RD\Industry%20Ranking%20as%20of%2031%20March%202023.xlsx" TargetMode="External"/><Relationship Id="rId2" Type="http://schemas.microsoft.com/office/2011/relationships/chartColorStyle" Target="colors81.xml"/><Relationship Id="rId1" Type="http://schemas.microsoft.com/office/2011/relationships/chartStyle" Target="style81.xml"/></Relationships>
</file>

<file path=ppt/charts/_rels/chart83.xml.rels><?xml version="1.0" encoding="UTF-8" standalone="yes"?>
<Relationships xmlns="http://schemas.openxmlformats.org/package/2006/relationships"><Relationship Id="rId3" Type="http://schemas.openxmlformats.org/officeDocument/2006/relationships/oleObject" Target="file:///\\nlex\marketing$\RD\Industry%20Ranking%20as%20of%2031%20March%202023.xlsx" TargetMode="External"/><Relationship Id="rId2" Type="http://schemas.microsoft.com/office/2011/relationships/chartColorStyle" Target="colors82.xml"/><Relationship Id="rId1" Type="http://schemas.microsoft.com/office/2011/relationships/chartStyle" Target="style82.xml"/></Relationships>
</file>

<file path=ppt/charts/_rels/chart8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icole%20Castro\Desktop\AUG%204\ongoing_AUG42022\Pre-planning%20persentation\Industry%20Ranking%20as%20of%2031%20March%202021.xlsx" TargetMode="External"/><Relationship Id="rId2" Type="http://schemas.microsoft.com/office/2011/relationships/chartColorStyle" Target="colors83.xml"/><Relationship Id="rId1" Type="http://schemas.microsoft.com/office/2011/relationships/chartStyle" Target="style83.xml"/></Relationships>
</file>

<file path=ppt/charts/_rels/chart8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icole%20Castro\Desktop\AUG%204\ongoing_AUG42022\Pre-planning%20persentation\Industry%20Ranking%20as%20of%2031%20March%202021.xlsx" TargetMode="External"/><Relationship Id="rId2" Type="http://schemas.microsoft.com/office/2011/relationships/chartColorStyle" Target="colors84.xml"/><Relationship Id="rId1" Type="http://schemas.microsoft.com/office/2011/relationships/chartStyle" Target="style84.xml"/></Relationships>
</file>

<file path=ppt/charts/_rels/chart8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icole%20Castro\Desktop\AUG%204\ongoing_AUG42022\Pre-planning%20persentation\Industry%20Ranking%20as%20of%2031%20March%202021.xlsx" TargetMode="External"/><Relationship Id="rId2" Type="http://schemas.microsoft.com/office/2011/relationships/chartColorStyle" Target="colors85.xml"/><Relationship Id="rId1" Type="http://schemas.microsoft.com/office/2011/relationships/chartStyle" Target="style85.xml"/></Relationships>
</file>

<file path=ppt/charts/_rels/chart8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icole%20Castro\Desktop\AUG%204\ongoing_AUG42022\Pre-planning%20persentation\Industry%20Ranking%20as%20of%2031%20March%202021.xlsx" TargetMode="External"/><Relationship Id="rId2" Type="http://schemas.microsoft.com/office/2011/relationships/chartColorStyle" Target="colors86.xml"/><Relationship Id="rId1" Type="http://schemas.microsoft.com/office/2011/relationships/chartStyle" Target="style86.xml"/></Relationships>
</file>

<file path=ppt/charts/_rels/chart88.xml.rels><?xml version="1.0" encoding="UTF-8" standalone="yes"?>
<Relationships xmlns="http://schemas.openxmlformats.org/package/2006/relationships"><Relationship Id="rId3" Type="http://schemas.openxmlformats.org/officeDocument/2006/relationships/oleObject" Target="file:///\\nlex\marketing$\RD\Industry%20Ranking%20as%20of%2031%20March%202023.xlsx" TargetMode="External"/><Relationship Id="rId2" Type="http://schemas.microsoft.com/office/2011/relationships/chartColorStyle" Target="colors87.xml"/><Relationship Id="rId1" Type="http://schemas.microsoft.com/office/2011/relationships/chartStyle" Target="style87.xml"/></Relationships>
</file>

<file path=ppt/charts/_rels/chart89.xml.rels><?xml version="1.0" encoding="UTF-8" standalone="yes"?>
<Relationships xmlns="http://schemas.openxmlformats.org/package/2006/relationships"><Relationship Id="rId3" Type="http://schemas.openxmlformats.org/officeDocument/2006/relationships/oleObject" Target="file:///\\nlex\marketing$\RD\Industry%20Ranking%20as%20of%2031%20March%202023.xlsx" TargetMode="External"/><Relationship Id="rId2" Type="http://schemas.microsoft.com/office/2011/relationships/chartColorStyle" Target="colors88.xml"/><Relationship Id="rId1" Type="http://schemas.microsoft.com/office/2011/relationships/chartStyle" Target="style88.xml"/></Relationships>
</file>

<file path=ppt/charts/_rels/chart90.xml.rels><?xml version="1.0" encoding="UTF-8" standalone="yes"?>
<Relationships xmlns="http://schemas.openxmlformats.org/package/2006/relationships"><Relationship Id="rId3" Type="http://schemas.openxmlformats.org/officeDocument/2006/relationships/oleObject" Target="file:///\\nlex\marketing$\RD\Industry%20Ranking%20as%20of%2031%20March%202023.xlsx" TargetMode="External"/><Relationship Id="rId2" Type="http://schemas.microsoft.com/office/2011/relationships/chartColorStyle" Target="colors89.xml"/><Relationship Id="rId1" Type="http://schemas.microsoft.com/office/2011/relationships/chartStyle" Target="style89.xml"/></Relationships>
</file>

<file path=ppt/charts/_rels/chart91.xml.rels><?xml version="1.0" encoding="UTF-8" standalone="yes"?>
<Relationships xmlns="http://schemas.openxmlformats.org/package/2006/relationships"><Relationship Id="rId3" Type="http://schemas.openxmlformats.org/officeDocument/2006/relationships/oleObject" Target="file:///\\nlex\marketing$\RD\Industry%20Ranking%20as%20of%2031%20March%202023.xlsx" TargetMode="External"/><Relationship Id="rId2" Type="http://schemas.microsoft.com/office/2011/relationships/chartColorStyle" Target="colors90.xml"/><Relationship Id="rId1" Type="http://schemas.microsoft.com/office/2011/relationships/chartStyle" Target="style90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bar"/>
        <c:grouping val="clustered"/>
        <c:varyColors val="0"/>
        <c:ser>
          <c:idx val="0"/>
          <c:order val="0"/>
          <c:spPr>
            <a:solidFill>
              <a:srgbClr val="2F5597"/>
            </a:solidFill>
            <a:ln>
              <a:noFill/>
            </a:ln>
            <a:effectLst/>
            <a:sp3d/>
          </c:spPr>
          <c:invertIfNegative val="0"/>
          <c:dPt>
            <c:idx val="5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1-877D-4157-BC52-1257F3C0B96D}"/>
              </c:ext>
            </c:extLst>
          </c:dPt>
          <c:dPt>
            <c:idx val="6"/>
            <c:invertIfNegative val="0"/>
            <c:bubble3D val="0"/>
            <c:spPr>
              <a:solidFill>
                <a:srgbClr val="2F5597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3-877D-4157-BC52-1257F3C0B96D}"/>
              </c:ext>
            </c:extLst>
          </c:dPt>
          <c:dPt>
            <c:idx val="7"/>
            <c:invertIfNegative val="0"/>
            <c:bubble3D val="0"/>
            <c:spPr>
              <a:solidFill>
                <a:srgbClr val="2F5597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5-877D-4157-BC52-1257F3C0B96D}"/>
              </c:ext>
            </c:extLst>
          </c:dPt>
          <c:dLbls>
            <c:dLbl>
              <c:idx val="5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800" b="1" i="0" u="none" strike="noStrike" kern="1200" baseline="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877D-4157-BC52-1257F3C0B96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'2026 March'!$C$7:$C$18</c:f>
              <c:strCache>
                <c:ptCount val="10"/>
                <c:pt idx="0">
                  <c:v>CHINA BANK SAVINGS</c:v>
                </c:pt>
                <c:pt idx="1">
                  <c:v>PHIL SAVINGS BANK</c:v>
                </c:pt>
                <c:pt idx="2">
                  <c:v>PHIL BUSINESS BANK</c:v>
                </c:pt>
                <c:pt idx="3">
                  <c:v>BDO NETWORK BANK INC</c:v>
                </c:pt>
                <c:pt idx="4">
                  <c:v>CITY SAVINGS BANK</c:v>
                </c:pt>
                <c:pt idx="5">
                  <c:v>STERLING BANK OF ASIA</c:v>
                </c:pt>
                <c:pt idx="6">
                  <c:v>BPI DIRECT BANKO</c:v>
                </c:pt>
                <c:pt idx="7">
                  <c:v>BANK OF MAKATI</c:v>
                </c:pt>
                <c:pt idx="8">
                  <c:v>PRODUCERS SAVINGS BANK</c:v>
                </c:pt>
                <c:pt idx="9">
                  <c:v>FIRST CONSOLIDATED BANK</c:v>
                </c:pt>
              </c:strCache>
              <c:extLst/>
            </c:strRef>
          </c:cat>
          <c:val>
            <c:numRef>
              <c:f>'2026 March'!$D$7:$D$18</c:f>
              <c:numCache>
                <c:formatCode>#,##0</c:formatCode>
                <c:ptCount val="10"/>
                <c:pt idx="0">
                  <c:v>191444.7</c:v>
                </c:pt>
                <c:pt idx="1">
                  <c:v>177200.83</c:v>
                </c:pt>
                <c:pt idx="2">
                  <c:v>134200.91</c:v>
                </c:pt>
                <c:pt idx="3">
                  <c:v>113725.37</c:v>
                </c:pt>
                <c:pt idx="4">
                  <c:v>107207.15</c:v>
                </c:pt>
                <c:pt idx="5">
                  <c:v>67035.22</c:v>
                </c:pt>
                <c:pt idx="6">
                  <c:v>50737.04</c:v>
                </c:pt>
                <c:pt idx="7">
                  <c:v>39097.449999999997</c:v>
                </c:pt>
                <c:pt idx="8">
                  <c:v>27872.93</c:v>
                </c:pt>
                <c:pt idx="9">
                  <c:v>22922.720000000001</c:v>
                </c:pt>
              </c:numCache>
              <c:extLst/>
            </c:numRef>
          </c:val>
          <c:shape val="cylinder"/>
          <c:extLst>
            <c:ext xmlns:c16="http://schemas.microsoft.com/office/drawing/2014/chart" uri="{C3380CC4-5D6E-409C-BE32-E72D297353CC}">
              <c16:uniqueId val="{00000006-877D-4157-BC52-1257F3C0B9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0"/>
        <c:gapDepth val="234"/>
        <c:shape val="box"/>
        <c:axId val="486739912"/>
        <c:axId val="486739520"/>
        <c:axId val="0"/>
      </c:bar3DChart>
      <c:catAx>
        <c:axId val="486739912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6739520"/>
        <c:crosses val="autoZero"/>
        <c:auto val="1"/>
        <c:lblAlgn val="ctr"/>
        <c:lblOffset val="100"/>
        <c:noMultiLvlLbl val="0"/>
      </c:catAx>
      <c:valAx>
        <c:axId val="486739520"/>
        <c:scaling>
          <c:orientation val="minMax"/>
        </c:scaling>
        <c:delete val="1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crossAx val="4867399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rgbClr val="DAEDEF"/>
    </a:solidFill>
    <a:ln>
      <a:noFill/>
    </a:ln>
    <a:effectLst/>
  </c:spPr>
  <c:txPr>
    <a:bodyPr/>
    <a:lstStyle/>
    <a:p>
      <a:pPr>
        <a:defRPr sz="800"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bar"/>
        <c:grouping val="clustered"/>
        <c:varyColors val="0"/>
        <c:ser>
          <c:idx val="0"/>
          <c:order val="0"/>
          <c:spPr>
            <a:solidFill>
              <a:srgbClr val="2F5597"/>
            </a:solidFill>
            <a:ln>
              <a:noFill/>
            </a:ln>
            <a:effectLst/>
            <a:sp3d/>
          </c:spPr>
          <c:invertIfNegative val="0"/>
          <c:dPt>
            <c:idx val="4"/>
            <c:invertIfNegative val="0"/>
            <c:bubble3D val="0"/>
            <c:spPr>
              <a:solidFill>
                <a:srgbClr val="2F5597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1-C202-4E06-A730-0C7E5E0FC416}"/>
              </c:ext>
            </c:extLst>
          </c:dPt>
          <c:dPt>
            <c:idx val="5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3-C202-4E06-A730-0C7E5E0FC416}"/>
              </c:ext>
            </c:extLst>
          </c:dPt>
          <c:dPt>
            <c:idx val="6"/>
            <c:invertIfNegative val="0"/>
            <c:bubble3D val="0"/>
            <c:spPr>
              <a:solidFill>
                <a:srgbClr val="2F5597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5-C202-4E06-A730-0C7E5E0FC416}"/>
              </c:ext>
            </c:extLst>
          </c:dPt>
          <c:dLbls>
            <c:dLbl>
              <c:idx val="0"/>
              <c:layout>
                <c:manualLayout>
                  <c:x val="1.086968914371006E-16"/>
                  <c:y val="3.447786285954989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6-C202-4E06-A730-0C7E5E0FC416}"/>
                </c:ext>
              </c:extLst>
            </c:dLbl>
            <c:dLbl>
              <c:idx val="1"/>
              <c:layout>
                <c:manualLayout>
                  <c:x val="1.086968914371006E-16"/>
                  <c:y val="2.388317637501504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8-C202-4E06-A730-0C7E5E0FC416}"/>
                </c:ext>
              </c:extLst>
            </c:dLbl>
            <c:dLbl>
              <c:idx val="2"/>
              <c:layout>
                <c:manualLayout>
                  <c:x val="-5.9289898425199609E-3"/>
                  <c:y val="5.970559032374533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9-C202-4E06-A730-0C7E5E0FC416}"/>
                </c:ext>
              </c:extLst>
            </c:dLbl>
            <c:dLbl>
              <c:idx val="3"/>
              <c:layout>
                <c:manualLayout>
                  <c:x val="-5.9289898425199609E-3"/>
                  <c:y val="5.970559032374533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A-C202-4E06-A730-0C7E5E0FC416}"/>
                </c:ext>
              </c:extLst>
            </c:dLbl>
            <c:dLbl>
              <c:idx val="4"/>
              <c:layout>
                <c:manualLayout>
                  <c:x val="-1.1857979685040031E-2"/>
                  <c:y val="5.970559032374588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C202-4E06-A730-0C7E5E0FC416}"/>
                </c:ext>
              </c:extLst>
            </c:dLbl>
            <c:dLbl>
              <c:idx val="5"/>
              <c:layout>
                <c:manualLayout>
                  <c:x val="-8.8934847637799404E-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800" b="1" i="0" u="none" strike="noStrike" kern="1200" baseline="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C202-4E06-A730-0C7E5E0FC416}"/>
                </c:ext>
              </c:extLst>
            </c:dLbl>
            <c:dLbl>
              <c:idx val="6"/>
              <c:layout>
                <c:manualLayout>
                  <c:x val="-5.9289898425199609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5-C202-4E06-A730-0C7E5E0FC416}"/>
                </c:ext>
              </c:extLst>
            </c:dLbl>
            <c:dLbl>
              <c:idx val="7"/>
              <c:layout>
                <c:manualLayout>
                  <c:x val="-5.9289898425200693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B-C202-4E06-A730-0C7E5E0FC416}"/>
                </c:ext>
              </c:extLst>
            </c:dLbl>
            <c:dLbl>
              <c:idx val="8"/>
              <c:layout>
                <c:manualLayout>
                  <c:x val="-1.1857979685039922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C-C202-4E06-A730-0C7E5E0FC416}"/>
                </c:ext>
              </c:extLst>
            </c:dLbl>
            <c:dLbl>
              <c:idx val="9"/>
              <c:layout>
                <c:manualLayout>
                  <c:x val="-1.1857979685039922E-2"/>
                  <c:y val="1.0945898444733761E-16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D-C202-4E06-A730-0C7E5E0FC41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'2026 March'!$C$39:$C$48</c:f>
              <c:strCache>
                <c:ptCount val="10"/>
                <c:pt idx="0">
                  <c:v>PHIL SAVINGS BANK</c:v>
                </c:pt>
                <c:pt idx="1">
                  <c:v>CHINA BANK SAVINGS</c:v>
                </c:pt>
                <c:pt idx="2">
                  <c:v>BDO NETWORK BANK INC</c:v>
                </c:pt>
                <c:pt idx="3">
                  <c:v>PHIL BUSINESS BANK</c:v>
                </c:pt>
                <c:pt idx="4">
                  <c:v>CITY SAVINGS BANK</c:v>
                </c:pt>
                <c:pt idx="5">
                  <c:v>STERLING BANK OF ASIA</c:v>
                </c:pt>
                <c:pt idx="6">
                  <c:v>BPI DIRECT BANKO</c:v>
                </c:pt>
                <c:pt idx="7">
                  <c:v>BANK OF MAKATI</c:v>
                </c:pt>
                <c:pt idx="8">
                  <c:v>PRODUCERS SAVINGS BANK</c:v>
                </c:pt>
                <c:pt idx="9">
                  <c:v>FIRST CONSOLIDATED BANK</c:v>
                </c:pt>
              </c:strCache>
            </c:strRef>
          </c:cat>
          <c:val>
            <c:numRef>
              <c:f>'2026 March'!$D$39:$D$48</c:f>
              <c:numCache>
                <c:formatCode>#,##0</c:formatCode>
                <c:ptCount val="10"/>
                <c:pt idx="0">
                  <c:v>159342.78</c:v>
                </c:pt>
                <c:pt idx="1">
                  <c:v>154470.63</c:v>
                </c:pt>
                <c:pt idx="2">
                  <c:v>126959.29</c:v>
                </c:pt>
                <c:pt idx="3">
                  <c:v>124407.09</c:v>
                </c:pt>
                <c:pt idx="4">
                  <c:v>116198.95</c:v>
                </c:pt>
                <c:pt idx="5">
                  <c:v>61160.59</c:v>
                </c:pt>
                <c:pt idx="6">
                  <c:v>44631.69</c:v>
                </c:pt>
                <c:pt idx="7">
                  <c:v>42741.19</c:v>
                </c:pt>
                <c:pt idx="8">
                  <c:v>34363.25</c:v>
                </c:pt>
                <c:pt idx="9">
                  <c:v>21151.35</c:v>
                </c:pt>
              </c:numCache>
            </c:numRef>
          </c:val>
          <c:shape val="cylinder"/>
          <c:extLst>
            <c:ext xmlns:c16="http://schemas.microsoft.com/office/drawing/2014/chart" uri="{C3380CC4-5D6E-409C-BE32-E72D297353CC}">
              <c16:uniqueId val="{00000007-C202-4E06-A730-0C7E5E0FC4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0"/>
        <c:gapDepth val="234"/>
        <c:shape val="box"/>
        <c:axId val="486727760"/>
        <c:axId val="486728152"/>
        <c:axId val="0"/>
      </c:bar3DChart>
      <c:catAx>
        <c:axId val="48672776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6728152"/>
        <c:crosses val="autoZero"/>
        <c:auto val="0"/>
        <c:lblAlgn val="ctr"/>
        <c:lblOffset val="100"/>
        <c:noMultiLvlLbl val="0"/>
      </c:catAx>
      <c:valAx>
        <c:axId val="486728152"/>
        <c:scaling>
          <c:orientation val="minMax"/>
        </c:scaling>
        <c:delete val="1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crossAx val="4867277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rgbClr val="FBE5D6"/>
    </a:solidFill>
    <a:ln>
      <a:noFill/>
    </a:ln>
    <a:effectLst/>
  </c:spPr>
  <c:txPr>
    <a:bodyPr/>
    <a:lstStyle/>
    <a:p>
      <a:pPr>
        <a:defRPr sz="800"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bar"/>
        <c:grouping val="clustered"/>
        <c:varyColors val="0"/>
        <c:ser>
          <c:idx val="0"/>
          <c:order val="0"/>
          <c:spPr>
            <a:solidFill>
              <a:srgbClr val="2F5597"/>
            </a:solidFill>
            <a:ln>
              <a:noFill/>
            </a:ln>
            <a:effectLst/>
            <a:sp3d/>
          </c:spPr>
          <c:invertIfNegative val="0"/>
          <c:dPt>
            <c:idx val="9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1-AF79-41CB-B638-48BF105A6EF5}"/>
              </c:ext>
            </c:extLst>
          </c:dPt>
          <c:dLbls>
            <c:dLbl>
              <c:idx val="0"/>
              <c:layout>
                <c:manualLayout>
                  <c:x val="-5.9746037003025878E-3"/>
                  <c:y val="2.85013720838169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AF79-41CB-B638-48BF105A6EF5}"/>
                </c:ext>
              </c:extLst>
            </c:dLbl>
            <c:dLbl>
              <c:idx val="1"/>
              <c:layout>
                <c:manualLayout>
                  <c:x val="-8.9619055504539906E-3"/>
                  <c:y val="1.140036930015197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4-AF79-41CB-B638-48BF105A6EF5}"/>
                </c:ext>
              </c:extLst>
            </c:dLbl>
            <c:dLbl>
              <c:idx val="2"/>
              <c:layout>
                <c:manualLayout>
                  <c:x val="-8.9619055504538813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5-AF79-41CB-B638-48BF105A6EF5}"/>
                </c:ext>
              </c:extLst>
            </c:dLbl>
            <c:dLbl>
              <c:idx val="3"/>
              <c:layout>
                <c:manualLayout>
                  <c:x val="-1.1949207400605285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6-AF79-41CB-B638-48BF105A6EF5}"/>
                </c:ext>
              </c:extLst>
            </c:dLbl>
            <c:dLbl>
              <c:idx val="4"/>
              <c:layout>
                <c:manualLayout>
                  <c:x val="-8.9619055504538813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7-AF79-41CB-B638-48BF105A6EF5}"/>
                </c:ext>
              </c:extLst>
            </c:dLbl>
            <c:dLbl>
              <c:idx val="5"/>
              <c:layout>
                <c:manualLayout>
                  <c:x val="-5.9746037003025878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8-AF79-41CB-B638-48BF105A6EF5}"/>
                </c:ext>
              </c:extLst>
            </c:dLbl>
            <c:dLbl>
              <c:idx val="6"/>
              <c:layout>
                <c:manualLayout>
                  <c:x val="-1.1949207400605176E-2"/>
                  <c:y val="1.0450217803331495E-16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9-AF79-41CB-B638-48BF105A6EF5}"/>
                </c:ext>
              </c:extLst>
            </c:dLbl>
            <c:dLbl>
              <c:idx val="7"/>
              <c:layout>
                <c:manualLayout>
                  <c:x val="-2.9873018501512393E-3"/>
                  <c:y val="5.700184650076092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A-AF79-41CB-B638-48BF105A6EF5}"/>
                </c:ext>
              </c:extLst>
            </c:dLbl>
            <c:dLbl>
              <c:idx val="8"/>
              <c:layout>
                <c:manualLayout>
                  <c:x val="-1.1949207400605231E-2"/>
                  <c:y val="5.700184650075987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B-AF79-41CB-B638-48BF105A6EF5}"/>
                </c:ext>
              </c:extLst>
            </c:dLbl>
            <c:dLbl>
              <c:idx val="9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800" b="1" i="0" u="none" strike="noStrike" kern="1200" baseline="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AF79-41CB-B638-48BF105A6EF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'2026 March'!$C$57:$C$66</c:f>
              <c:strCache>
                <c:ptCount val="10"/>
                <c:pt idx="0">
                  <c:v>PHIL SAVINGS BANK</c:v>
                </c:pt>
                <c:pt idx="1">
                  <c:v>CITY SAVINGS BANK</c:v>
                </c:pt>
                <c:pt idx="2">
                  <c:v>CHINA BANK SAVINGS</c:v>
                </c:pt>
                <c:pt idx="3">
                  <c:v>PHIL BUSINESS BANK</c:v>
                </c:pt>
                <c:pt idx="4">
                  <c:v>BDO NETWORK BANK INC</c:v>
                </c:pt>
                <c:pt idx="5">
                  <c:v>BANK OF MAKATI</c:v>
                </c:pt>
                <c:pt idx="6">
                  <c:v>BPI DIRECT BANKO</c:v>
                </c:pt>
                <c:pt idx="7">
                  <c:v>FIRST CONSOLIDATED BANK</c:v>
                </c:pt>
                <c:pt idx="8">
                  <c:v>PRODUCERS SAVINGS BANK</c:v>
                </c:pt>
                <c:pt idx="9">
                  <c:v>STERLING BANK OF ASIA</c:v>
                </c:pt>
              </c:strCache>
            </c:strRef>
          </c:cat>
          <c:val>
            <c:numRef>
              <c:f>'2026 March'!$D$57:$D$66</c:f>
              <c:numCache>
                <c:formatCode>#,##0</c:formatCode>
                <c:ptCount val="10"/>
                <c:pt idx="0">
                  <c:v>44269</c:v>
                </c:pt>
                <c:pt idx="1">
                  <c:v>22377.7</c:v>
                </c:pt>
                <c:pt idx="2">
                  <c:v>21832.33</c:v>
                </c:pt>
                <c:pt idx="3">
                  <c:v>21088.560000000001</c:v>
                </c:pt>
                <c:pt idx="4">
                  <c:v>19984.830000000002</c:v>
                </c:pt>
                <c:pt idx="5">
                  <c:v>18736.310000000001</c:v>
                </c:pt>
                <c:pt idx="6">
                  <c:v>11853.33</c:v>
                </c:pt>
                <c:pt idx="7">
                  <c:v>8646.9500000000007</c:v>
                </c:pt>
                <c:pt idx="8">
                  <c:v>8420.7900000000009</c:v>
                </c:pt>
                <c:pt idx="9">
                  <c:v>5696.59</c:v>
                </c:pt>
              </c:numCache>
            </c:numRef>
          </c:val>
          <c:shape val="cylinder"/>
          <c:extLst>
            <c:ext xmlns:c16="http://schemas.microsoft.com/office/drawing/2014/chart" uri="{C3380CC4-5D6E-409C-BE32-E72D297353CC}">
              <c16:uniqueId val="{00000002-AF79-41CB-B638-48BF105A6EF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0"/>
        <c:gapDepth val="234"/>
        <c:shape val="box"/>
        <c:axId val="486739128"/>
        <c:axId val="486740304"/>
        <c:axId val="0"/>
      </c:bar3DChart>
      <c:catAx>
        <c:axId val="48673912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6740304"/>
        <c:crosses val="autoZero"/>
        <c:auto val="1"/>
        <c:lblAlgn val="ctr"/>
        <c:lblOffset val="100"/>
        <c:noMultiLvlLbl val="0"/>
      </c:catAx>
      <c:valAx>
        <c:axId val="486740304"/>
        <c:scaling>
          <c:orientation val="minMax"/>
        </c:scaling>
        <c:delete val="1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crossAx val="4867391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rgbClr val="DAEDEF"/>
    </a:solidFill>
    <a:ln>
      <a:noFill/>
    </a:ln>
    <a:effectLst/>
  </c:spPr>
  <c:txPr>
    <a:bodyPr/>
    <a:lstStyle/>
    <a:p>
      <a:pPr>
        <a:defRPr sz="800"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30081284234998157"/>
          <c:y val="0.12187446617481211"/>
          <c:w val="0.5661106552949805"/>
          <c:h val="0.89499706487858521"/>
        </c:manualLayout>
      </c:layout>
      <c:bar3DChart>
        <c:barDir val="bar"/>
        <c:grouping val="clustered"/>
        <c:varyColors val="0"/>
        <c:ser>
          <c:idx val="0"/>
          <c:order val="0"/>
          <c:spPr>
            <a:solidFill>
              <a:srgbClr val="2F5597"/>
            </a:solidFill>
            <a:ln>
              <a:noFill/>
            </a:ln>
            <a:effectLst/>
            <a:sp3d/>
          </c:spPr>
          <c:invertIfNegative val="0"/>
          <c:dPt>
            <c:idx val="4"/>
            <c:invertIfNegative val="0"/>
            <c:bubble3D val="0"/>
            <c:spPr>
              <a:solidFill>
                <a:srgbClr val="2F5597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1-6349-4848-A9DE-5627A3F79DD9}"/>
              </c:ext>
            </c:extLst>
          </c:dPt>
          <c:dPt>
            <c:idx val="5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3-6349-4848-A9DE-5627A3F79DD9}"/>
              </c:ext>
            </c:extLst>
          </c:dPt>
          <c:dLbls>
            <c:dLbl>
              <c:idx val="0"/>
              <c:layout>
                <c:manualLayout>
                  <c:x val="-7.4031526325252115E-3"/>
                  <c:y val="1.490869910144599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4-6349-4848-A9DE-5627A3F79DD9}"/>
                </c:ext>
              </c:extLst>
            </c:dLbl>
            <c:dLbl>
              <c:idx val="1"/>
              <c:layout>
                <c:manualLayout>
                  <c:x val="-3.1836871931016607E-3"/>
                  <c:y val="1.145709351627639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5-6349-4848-A9DE-5627A3F79DD9}"/>
                </c:ext>
              </c:extLst>
            </c:dLbl>
            <c:dLbl>
              <c:idx val="2"/>
              <c:layout>
                <c:manualLayout>
                  <c:x val="-4.4770090385429211E-3"/>
                  <c:y val="1.087889433161843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6-6349-4848-A9DE-5627A3F79DD9}"/>
                </c:ext>
              </c:extLst>
            </c:dLbl>
            <c:dLbl>
              <c:idx val="3"/>
              <c:layout>
                <c:manualLayout>
                  <c:x val="1.09742059461408E-4"/>
                  <c:y val="9.169553528300414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7-6349-4848-A9DE-5627A3F79DD9}"/>
                </c:ext>
              </c:extLst>
            </c:dLbl>
            <c:dLbl>
              <c:idx val="4"/>
              <c:layout>
                <c:manualLayout>
                  <c:x val="-7.6217027764741048E-3"/>
                  <c:y val="5.728321251435966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6349-4848-A9DE-5627A3F79DD9}"/>
                </c:ext>
              </c:extLst>
            </c:dLbl>
            <c:dLbl>
              <c:idx val="5"/>
              <c:layout>
                <c:manualLayout>
                  <c:x val="-3.604909906439057E-3"/>
                  <c:y val="5.7287722648405887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800" b="1" i="0" u="none" strike="noStrike" kern="1200" baseline="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6349-4848-A9DE-5627A3F79DD9}"/>
                </c:ext>
              </c:extLst>
            </c:dLbl>
            <c:dLbl>
              <c:idx val="6"/>
              <c:layout>
                <c:manualLayout>
                  <c:x val="-1.0005206910480834E-2"/>
                  <c:y val="1.145619148946725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8-6349-4848-A9DE-5627A3F79DD9}"/>
                </c:ext>
              </c:extLst>
            </c:dLbl>
            <c:dLbl>
              <c:idx val="7"/>
              <c:layout>
                <c:manualLayout>
                  <c:x val="-6.1049274184698764E-3"/>
                  <c:y val="5.728321251435913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9-6349-4848-A9DE-5627A3F79DD9}"/>
                </c:ext>
              </c:extLst>
            </c:dLbl>
            <c:dLbl>
              <c:idx val="8"/>
              <c:layout>
                <c:manualLayout>
                  <c:x val="-1.0843449449771994E-2"/>
                  <c:y val="9.260207222618967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A-6349-4848-A9DE-5627A3F79DD9}"/>
                </c:ext>
              </c:extLst>
            </c:dLbl>
            <c:dLbl>
              <c:idx val="9"/>
              <c:layout>
                <c:manualLayout>
                  <c:x val="-5.5508467650608757E-3"/>
                  <c:y val="4.631005638118675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B-6349-4848-A9DE-5627A3F79DD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'2026 March'!$C$22:$C$31</c:f>
              <c:strCache>
                <c:ptCount val="10"/>
                <c:pt idx="0">
                  <c:v>PHIL SAVINGS BANK</c:v>
                </c:pt>
                <c:pt idx="1">
                  <c:v>CHINA BANK SAVINGS</c:v>
                </c:pt>
                <c:pt idx="2">
                  <c:v>CITY SAVINGS BANK</c:v>
                </c:pt>
                <c:pt idx="3">
                  <c:v>PHIL BUSINESS BANK</c:v>
                </c:pt>
                <c:pt idx="4">
                  <c:v>BDO NETWORK BANK INC</c:v>
                </c:pt>
                <c:pt idx="5">
                  <c:v>STERLING BANK OF ASIA</c:v>
                </c:pt>
                <c:pt idx="6">
                  <c:v>BPI DIRECT BANKO</c:v>
                </c:pt>
                <c:pt idx="7">
                  <c:v>BANK OF MAKATI</c:v>
                </c:pt>
                <c:pt idx="8">
                  <c:v>PRODUCERS SAVINGS BANK</c:v>
                </c:pt>
                <c:pt idx="9">
                  <c:v>FIRST CONSOLIDATED BANK</c:v>
                </c:pt>
              </c:strCache>
            </c:strRef>
          </c:cat>
          <c:val>
            <c:numRef>
              <c:f>'2026 March'!$D$22:$D$31</c:f>
              <c:numCache>
                <c:formatCode>#,##0</c:formatCode>
                <c:ptCount val="10"/>
                <c:pt idx="0">
                  <c:v>232588.73</c:v>
                </c:pt>
                <c:pt idx="1">
                  <c:v>217536.44</c:v>
                </c:pt>
                <c:pt idx="2">
                  <c:v>171953.32</c:v>
                </c:pt>
                <c:pt idx="3">
                  <c:v>164973.21</c:v>
                </c:pt>
                <c:pt idx="4">
                  <c:v>159509.10999999999</c:v>
                </c:pt>
                <c:pt idx="5">
                  <c:v>75573.179999999993</c:v>
                </c:pt>
                <c:pt idx="6">
                  <c:v>67616.02</c:v>
                </c:pt>
                <c:pt idx="7">
                  <c:v>60825.53</c:v>
                </c:pt>
                <c:pt idx="8">
                  <c:v>46913.16</c:v>
                </c:pt>
                <c:pt idx="9">
                  <c:v>32864.5</c:v>
                </c:pt>
              </c:numCache>
            </c:numRef>
          </c:val>
          <c:shape val="cylinder"/>
          <c:extLst>
            <c:ext xmlns:c16="http://schemas.microsoft.com/office/drawing/2014/chart" uri="{C3380CC4-5D6E-409C-BE32-E72D297353CC}">
              <c16:uniqueId val="{0000000C-6349-4848-A9DE-5627A3F79D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0"/>
        <c:gapDepth val="234"/>
        <c:shape val="box"/>
        <c:axId val="486738344"/>
        <c:axId val="486737168"/>
        <c:axId val="0"/>
      </c:bar3DChart>
      <c:catAx>
        <c:axId val="48673834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6737168"/>
        <c:crosses val="autoZero"/>
        <c:auto val="1"/>
        <c:lblAlgn val="ctr"/>
        <c:lblOffset val="100"/>
        <c:noMultiLvlLbl val="0"/>
      </c:catAx>
      <c:valAx>
        <c:axId val="486737168"/>
        <c:scaling>
          <c:orientation val="minMax"/>
        </c:scaling>
        <c:delete val="1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crossAx val="4867383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rgbClr val="FFFFCC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bar"/>
        <c:grouping val="clustered"/>
        <c:varyColors val="0"/>
        <c:ser>
          <c:idx val="1"/>
          <c:order val="0"/>
          <c:tx>
            <c:v>2026</c:v>
          </c:tx>
          <c:spPr>
            <a:solidFill>
              <a:srgbClr val="FFC000"/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0"/>
                  <c:y val="1.762769356320626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2-F1E0-474E-AE18-D5B757CF0BD0}"/>
                </c:ext>
              </c:extLst>
            </c:dLbl>
            <c:dLbl>
              <c:idx val="1"/>
              <c:layout>
                <c:manualLayout>
                  <c:x val="-8.9835862098886412E-3"/>
                  <c:y val="1.175087044341493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5-F1E0-474E-AE18-D5B757CF0BD0}"/>
                </c:ext>
              </c:extLst>
            </c:dLbl>
            <c:dLbl>
              <c:idx val="2"/>
              <c:layout>
                <c:manualLayout>
                  <c:x val="-5.9890574732590941E-3"/>
                  <c:y val="1.762676829781702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6-F1E0-474E-AE18-D5B757CF0BD0}"/>
                </c:ext>
              </c:extLst>
            </c:dLbl>
            <c:dLbl>
              <c:idx val="3"/>
              <c:layout>
                <c:manualLayout>
                  <c:x val="-5.9890574732592043E-3"/>
                  <c:y val="5.875897854402088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8-F1E0-474E-AE18-D5B757CF0BD0}"/>
                </c:ext>
              </c:extLst>
            </c:dLbl>
            <c:dLbl>
              <c:idx val="4"/>
              <c:layout>
                <c:manualLayout>
                  <c:x val="-8.9835862098886412E-3"/>
                  <c:y val="1.175087044341493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B-F1E0-474E-AE18-D5B757CF0BD0}"/>
                </c:ext>
              </c:extLst>
            </c:dLbl>
            <c:dLbl>
              <c:idx val="5"/>
              <c:layout>
                <c:manualLayout>
                  <c:x val="-5.9890574732590941E-3"/>
                  <c:y val="1.175318360688804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C-F1E0-474E-AE18-D5B757CF0BD0}"/>
                </c:ext>
              </c:extLst>
            </c:dLbl>
            <c:dLbl>
              <c:idx val="6"/>
              <c:layout>
                <c:manualLayout>
                  <c:x val="-1.1978114946518188E-2"/>
                  <c:y val="5.875435221707466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F-F1E0-474E-AE18-D5B757CF0BD0}"/>
                </c:ext>
              </c:extLst>
            </c:dLbl>
            <c:dLbl>
              <c:idx val="7"/>
              <c:layout>
                <c:manualLayout>
                  <c:x val="-8.9835862098886412E-3"/>
                  <c:y val="1.1752258341498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11-F1E0-474E-AE18-D5B757CF0BD0}"/>
                </c:ext>
              </c:extLst>
            </c:dLbl>
            <c:dLbl>
              <c:idx val="8"/>
              <c:layout>
                <c:manualLayout>
                  <c:x val="-5.4899059306257205E-17"/>
                  <c:y val="1.762676829781702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13-F1E0-474E-AE18-D5B757CF0BD0}"/>
                </c:ext>
              </c:extLst>
            </c:dLbl>
            <c:dLbl>
              <c:idx val="9"/>
              <c:layout>
                <c:manualLayout>
                  <c:x val="-8.9835862098886412E-3"/>
                  <c:y val="5.877285752485956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15-F1E0-474E-AE18-D5B757CF0BD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600" b="1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'9-2025 vs 3-2026'!$I$8:$I$17</c:f>
              <c:strCache>
                <c:ptCount val="10"/>
                <c:pt idx="0">
                  <c:v>CHINA BANK SAVINGS</c:v>
                </c:pt>
                <c:pt idx="1">
                  <c:v>PHIL SAVINGS BANK</c:v>
                </c:pt>
                <c:pt idx="2">
                  <c:v>PHIL BUSINESS BANK</c:v>
                </c:pt>
                <c:pt idx="3">
                  <c:v>BDO NETWORK BANK INC</c:v>
                </c:pt>
                <c:pt idx="4">
                  <c:v>CITY SAVINGS BANK</c:v>
                </c:pt>
                <c:pt idx="5">
                  <c:v>STERLING BANK OF ASIA</c:v>
                </c:pt>
                <c:pt idx="6">
                  <c:v>BPI DIRECT BANKO</c:v>
                </c:pt>
                <c:pt idx="7">
                  <c:v>BANK OF MAKATI</c:v>
                </c:pt>
                <c:pt idx="8">
                  <c:v>PRODUCERS SAVINGS BANK</c:v>
                </c:pt>
                <c:pt idx="9">
                  <c:v>FIRST CONSOLIDATED BANK</c:v>
                </c:pt>
              </c:strCache>
            </c:strRef>
          </c:cat>
          <c:val>
            <c:numRef>
              <c:f>'9-2025 vs 3-2026'!$M$8:$M$17</c:f>
              <c:numCache>
                <c:formatCode>#,##0</c:formatCode>
                <c:ptCount val="10"/>
                <c:pt idx="0">
                  <c:v>191444.7</c:v>
                </c:pt>
                <c:pt idx="1">
                  <c:v>177200.83</c:v>
                </c:pt>
                <c:pt idx="2">
                  <c:v>134200.91</c:v>
                </c:pt>
                <c:pt idx="3">
                  <c:v>113725.37</c:v>
                </c:pt>
                <c:pt idx="4">
                  <c:v>107207.15</c:v>
                </c:pt>
                <c:pt idx="5">
                  <c:v>67035.22</c:v>
                </c:pt>
                <c:pt idx="6">
                  <c:v>50737.04</c:v>
                </c:pt>
                <c:pt idx="7">
                  <c:v>39097.449999999997</c:v>
                </c:pt>
                <c:pt idx="8">
                  <c:v>27872.93</c:v>
                </c:pt>
                <c:pt idx="9">
                  <c:v>22922.720000000001</c:v>
                </c:pt>
              </c:numCache>
            </c:numRef>
          </c:val>
          <c:shape val="cylinder"/>
          <c:extLst>
            <c:ext xmlns:c16="http://schemas.microsoft.com/office/drawing/2014/chart" uri="{C3380CC4-5D6E-409C-BE32-E72D297353CC}">
              <c16:uniqueId val="{00000000-F1E0-474E-AE18-D5B757CF0BD0}"/>
            </c:ext>
          </c:extLst>
        </c:ser>
        <c:ser>
          <c:idx val="0"/>
          <c:order val="1"/>
          <c:tx>
            <c:v>2025</c:v>
          </c:tx>
          <c:spPr>
            <a:solidFill>
              <a:srgbClr val="2F5597"/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-8.9835862098886412E-3"/>
                  <c:y val="1.346438350803903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F1E0-474E-AE18-D5B757CF0BD0}"/>
                </c:ext>
              </c:extLst>
            </c:dLbl>
            <c:dLbl>
              <c:idx val="1"/>
              <c:layout>
                <c:manualLayout>
                  <c:x val="-1.1978114946518188E-2"/>
                  <c:y val="4.6263269462263511E-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4-F1E0-474E-AE18-D5B757CF0BD0}"/>
                </c:ext>
              </c:extLst>
            </c:dLbl>
            <c:dLbl>
              <c:idx val="2"/>
              <c:layout>
                <c:manualLayout>
                  <c:x val="-2.9945287366295471E-3"/>
                  <c:y val="5.876823119791333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7-F1E0-474E-AE18-D5B757CF0BD0}"/>
                </c:ext>
              </c:extLst>
            </c:dLbl>
            <c:dLbl>
              <c:idx val="3"/>
              <c:layout>
                <c:manualLayout>
                  <c:x val="-8.9835862098887505E-3"/>
                  <c:y val="-5.875435221707466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9-F1E0-474E-AE18-D5B757CF0BD0}"/>
                </c:ext>
              </c:extLst>
            </c:dLbl>
            <c:dLbl>
              <c:idx val="4"/>
              <c:layout>
                <c:manualLayout>
                  <c:x val="-5.9890574732590941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A-F1E0-474E-AE18-D5B757CF0BD0}"/>
                </c:ext>
              </c:extLst>
            </c:dLbl>
            <c:dLbl>
              <c:idx val="5"/>
              <c:layout>
                <c:manualLayout>
                  <c:x val="-5.9890574732590941E-3"/>
                  <c:y val="5.3857534032156122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D-F1E0-474E-AE18-D5B757CF0BD0}"/>
                </c:ext>
              </c:extLst>
            </c:dLbl>
            <c:dLbl>
              <c:idx val="6"/>
              <c:layout>
                <c:manualLayout>
                  <c:x val="-8.9835862098885857E-3"/>
                  <c:y val="-5.875435221707466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E-F1E0-474E-AE18-D5B757CF0BD0}"/>
                </c:ext>
              </c:extLst>
            </c:dLbl>
            <c:dLbl>
              <c:idx val="7"/>
              <c:layout>
                <c:manualLayout>
                  <c:x val="-8.9835862098886412E-3"/>
                  <c:y val="4.6263269462263511E-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10-F1E0-474E-AE18-D5B757CF0BD0}"/>
                </c:ext>
              </c:extLst>
            </c:dLbl>
            <c:dLbl>
              <c:idx val="8"/>
              <c:layout>
                <c:manualLayout>
                  <c:x val="-1.4972643683147735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12-F1E0-474E-AE18-D5B757CF0BD0}"/>
                </c:ext>
              </c:extLst>
            </c:dLbl>
            <c:dLbl>
              <c:idx val="9"/>
              <c:layout>
                <c:manualLayout>
                  <c:x val="-1.1978114946518188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14-F1E0-474E-AE18-D5B757CF0BD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'9-2025 vs 3-2026'!$I$8:$I$17</c:f>
              <c:strCache>
                <c:ptCount val="10"/>
                <c:pt idx="0">
                  <c:v>CHINA BANK SAVINGS</c:v>
                </c:pt>
                <c:pt idx="1">
                  <c:v>PHIL SAVINGS BANK</c:v>
                </c:pt>
                <c:pt idx="2">
                  <c:v>PHIL BUSINESS BANK</c:v>
                </c:pt>
                <c:pt idx="3">
                  <c:v>BDO NETWORK BANK INC</c:v>
                </c:pt>
                <c:pt idx="4">
                  <c:v>CITY SAVINGS BANK</c:v>
                </c:pt>
                <c:pt idx="5">
                  <c:v>STERLING BANK OF ASIA</c:v>
                </c:pt>
                <c:pt idx="6">
                  <c:v>BPI DIRECT BANKO</c:v>
                </c:pt>
                <c:pt idx="7">
                  <c:v>BANK OF MAKATI</c:v>
                </c:pt>
                <c:pt idx="8">
                  <c:v>PRODUCERS SAVINGS BANK</c:v>
                </c:pt>
                <c:pt idx="9">
                  <c:v>FIRST CONSOLIDATED BANK</c:v>
                </c:pt>
              </c:strCache>
            </c:strRef>
          </c:cat>
          <c:val>
            <c:numRef>
              <c:f>'9-2025 vs 3-2026'!$J$8:$J$17</c:f>
              <c:numCache>
                <c:formatCode>#,##0</c:formatCode>
                <c:ptCount val="10"/>
                <c:pt idx="0">
                  <c:v>186286.49</c:v>
                </c:pt>
                <c:pt idx="1">
                  <c:v>163651.54999999999</c:v>
                </c:pt>
                <c:pt idx="2">
                  <c:v>136356.04</c:v>
                </c:pt>
                <c:pt idx="3">
                  <c:v>106674.06</c:v>
                </c:pt>
                <c:pt idx="4">
                  <c:v>105228.99</c:v>
                </c:pt>
                <c:pt idx="5">
                  <c:v>59083.54</c:v>
                </c:pt>
                <c:pt idx="6">
                  <c:v>44629.22</c:v>
                </c:pt>
                <c:pt idx="7">
                  <c:v>37552.269999999997</c:v>
                </c:pt>
                <c:pt idx="8">
                  <c:v>26163.11</c:v>
                </c:pt>
                <c:pt idx="9">
                  <c:v>20926.21</c:v>
                </c:pt>
              </c:numCache>
            </c:numRef>
          </c:val>
          <c:shape val="cylinder"/>
          <c:extLst>
            <c:ext xmlns:c16="http://schemas.microsoft.com/office/drawing/2014/chart" uri="{C3380CC4-5D6E-409C-BE32-E72D297353CC}">
              <c16:uniqueId val="{00000001-F1E0-474E-AE18-D5B757CF0BD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1861576000"/>
        <c:axId val="1861576416"/>
        <c:axId val="0"/>
      </c:bar3DChart>
      <c:catAx>
        <c:axId val="186157600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61576416"/>
        <c:crosses val="autoZero"/>
        <c:auto val="1"/>
        <c:lblAlgn val="ctr"/>
        <c:lblOffset val="100"/>
        <c:noMultiLvlLbl val="0"/>
      </c:catAx>
      <c:valAx>
        <c:axId val="1861576416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crossAx val="1861576000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DAEDEF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bar"/>
        <c:grouping val="clustered"/>
        <c:varyColors val="0"/>
        <c:ser>
          <c:idx val="1"/>
          <c:order val="0"/>
          <c:tx>
            <c:v>2026</c:v>
          </c:tx>
          <c:spPr>
            <a:solidFill>
              <a:srgbClr val="FFC000"/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-1.0937650615014818E-16"/>
                  <c:y val="2.937810137392657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2-9010-4519-8DF1-BB6568085D89}"/>
                </c:ext>
              </c:extLst>
            </c:dLbl>
            <c:dLbl>
              <c:idx val="1"/>
              <c:layout>
                <c:manualLayout>
                  <c:x val="-1.0937650615014818E-16"/>
                  <c:y val="5.875435221707466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5-9010-4519-8DF1-BB6568085D89}"/>
                </c:ext>
              </c:extLst>
            </c:dLbl>
            <c:dLbl>
              <c:idx val="2"/>
              <c:layout>
                <c:manualLayout>
                  <c:x val="-1.1932120328386983E-2"/>
                  <c:y val="1.175087044341490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6-9010-4519-8DF1-BB6568085D89}"/>
                </c:ext>
              </c:extLst>
            </c:dLbl>
            <c:dLbl>
              <c:idx val="3"/>
              <c:layout>
                <c:manualLayout>
                  <c:x val="-5.9660601641934917E-3"/>
                  <c:y val="1.175133307610955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8-9010-4519-8DF1-BB6568085D89}"/>
                </c:ext>
              </c:extLst>
            </c:dLbl>
            <c:dLbl>
              <c:idx val="4"/>
              <c:layout>
                <c:manualLayout>
                  <c:x val="-1.1932120328386983E-2"/>
                  <c:y val="1.175087044341493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9-9010-4519-8DF1-BB6568085D89}"/>
                </c:ext>
              </c:extLst>
            </c:dLbl>
            <c:dLbl>
              <c:idx val="5"/>
              <c:layout>
                <c:manualLayout>
                  <c:x val="-1.4915150410483731E-2"/>
                  <c:y val="1.175179570880423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C-9010-4519-8DF1-BB6568085D89}"/>
                </c:ext>
              </c:extLst>
            </c:dLbl>
            <c:dLbl>
              <c:idx val="6"/>
              <c:layout>
                <c:manualLayout>
                  <c:x val="-1.1932120328386983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E-9010-4519-8DF1-BB6568085D89}"/>
                </c:ext>
              </c:extLst>
            </c:dLbl>
            <c:dLbl>
              <c:idx val="7"/>
              <c:layout>
                <c:manualLayout>
                  <c:x val="-5.9660601641934917E-3"/>
                  <c:y val="5.875435221707574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10-9010-4519-8DF1-BB6568085D89}"/>
                </c:ext>
              </c:extLst>
            </c:dLbl>
            <c:dLbl>
              <c:idx val="8"/>
              <c:layout>
                <c:manualLayout>
                  <c:x val="-5.4688253075074091E-17"/>
                  <c:y val="1.175133307610955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14-9010-4519-8DF1-BB6568085D89}"/>
                </c:ext>
              </c:extLst>
            </c:dLbl>
            <c:dLbl>
              <c:idx val="9"/>
              <c:layout>
                <c:manualLayout>
                  <c:x val="-5.9660601641935464E-3"/>
                  <c:y val="5.875897854402088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12-9010-4519-8DF1-BB6568085D8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600" b="1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'9-2025 vs 3-2026'!$I$40:$I$49</c:f>
              <c:strCache>
                <c:ptCount val="10"/>
                <c:pt idx="0">
                  <c:v>PHIL SAVINGS BANK</c:v>
                </c:pt>
                <c:pt idx="1">
                  <c:v>CHINA BANK SAVINGS</c:v>
                </c:pt>
                <c:pt idx="2">
                  <c:v>CITY SAVINGS BANK</c:v>
                </c:pt>
                <c:pt idx="3">
                  <c:v>PHIL BUSINESS BANK</c:v>
                </c:pt>
                <c:pt idx="4">
                  <c:v>BDO NETWORK BANK INC</c:v>
                </c:pt>
                <c:pt idx="5">
                  <c:v>STERLING BANK OF ASIA</c:v>
                </c:pt>
                <c:pt idx="6">
                  <c:v>BPI DIRECT BANKO</c:v>
                </c:pt>
                <c:pt idx="7">
                  <c:v>BANK OF MAKATI</c:v>
                </c:pt>
                <c:pt idx="8">
                  <c:v>PRODUCERS SAVINGS BANK</c:v>
                </c:pt>
                <c:pt idx="9">
                  <c:v>FIRST CONSOLIDATED BANK</c:v>
                </c:pt>
              </c:strCache>
            </c:strRef>
          </c:cat>
          <c:val>
            <c:numRef>
              <c:f>'9-2025 vs 3-2026'!$M$40:$M$49</c:f>
              <c:numCache>
                <c:formatCode>#,##0</c:formatCode>
                <c:ptCount val="10"/>
                <c:pt idx="0">
                  <c:v>159342.78</c:v>
                </c:pt>
                <c:pt idx="1">
                  <c:v>154470.63</c:v>
                </c:pt>
                <c:pt idx="2">
                  <c:v>116198.95</c:v>
                </c:pt>
                <c:pt idx="3">
                  <c:v>124407.09</c:v>
                </c:pt>
                <c:pt idx="4">
                  <c:v>126959.29</c:v>
                </c:pt>
                <c:pt idx="5">
                  <c:v>61160.59</c:v>
                </c:pt>
                <c:pt idx="6">
                  <c:v>44631.69</c:v>
                </c:pt>
                <c:pt idx="7">
                  <c:v>42741.19</c:v>
                </c:pt>
                <c:pt idx="8">
                  <c:v>34363.25</c:v>
                </c:pt>
                <c:pt idx="9">
                  <c:v>21151.35</c:v>
                </c:pt>
              </c:numCache>
            </c:numRef>
          </c:val>
          <c:shape val="cylinder"/>
          <c:extLst>
            <c:ext xmlns:c16="http://schemas.microsoft.com/office/drawing/2014/chart" uri="{C3380CC4-5D6E-409C-BE32-E72D297353CC}">
              <c16:uniqueId val="{00000000-9010-4519-8DF1-BB6568085D89}"/>
            </c:ext>
          </c:extLst>
        </c:ser>
        <c:ser>
          <c:idx val="0"/>
          <c:order val="1"/>
          <c:tx>
            <c:v>2025</c:v>
          </c:tx>
          <c:spPr>
            <a:solidFill>
              <a:srgbClr val="2F5597"/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-5.966060164193601E-3"/>
                  <c:y val="4.6263269462263511E-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9010-4519-8DF1-BB6568085D89}"/>
                </c:ext>
              </c:extLst>
            </c:dLbl>
            <c:dLbl>
              <c:idx val="1"/>
              <c:layout>
                <c:manualLayout>
                  <c:x val="-5.966060164193601E-3"/>
                  <c:y val="-5.875435221707466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4-9010-4519-8DF1-BB6568085D89}"/>
                </c:ext>
              </c:extLst>
            </c:dLbl>
            <c:dLbl>
              <c:idx val="3"/>
              <c:layout>
                <c:manualLayout>
                  <c:x val="-1.1932120328387093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7-9010-4519-8DF1-BB6568085D89}"/>
                </c:ext>
              </c:extLst>
            </c:dLbl>
            <c:dLbl>
              <c:idx val="4"/>
              <c:layout>
                <c:manualLayout>
                  <c:x val="-8.949090246290238E-3"/>
                  <c:y val="5.3857534032156122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A-9010-4519-8DF1-BB6568085D89}"/>
                </c:ext>
              </c:extLst>
            </c:dLbl>
            <c:dLbl>
              <c:idx val="5"/>
              <c:layout>
                <c:manualLayout>
                  <c:x val="-1.1932120328386983E-2"/>
                  <c:y val="5.3857534032156122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B-9010-4519-8DF1-BB6568085D89}"/>
                </c:ext>
              </c:extLst>
            </c:dLbl>
            <c:dLbl>
              <c:idx val="6"/>
              <c:layout>
                <c:manualLayout>
                  <c:x val="-8.9490902462902935E-3"/>
                  <c:y val="-5.875435221707466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D-9010-4519-8DF1-BB6568085D89}"/>
                </c:ext>
              </c:extLst>
            </c:dLbl>
            <c:dLbl>
              <c:idx val="7"/>
              <c:layout>
                <c:manualLayout>
                  <c:x val="-1.193212032838693E-2"/>
                  <c:y val="4.6263269462263511E-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F-9010-4519-8DF1-BB6568085D89}"/>
                </c:ext>
              </c:extLst>
            </c:dLbl>
            <c:dLbl>
              <c:idx val="8"/>
              <c:layout>
                <c:manualLayout>
                  <c:x val="-5.9660601641934371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13-9010-4519-8DF1-BB6568085D89}"/>
                </c:ext>
              </c:extLst>
            </c:dLbl>
            <c:dLbl>
              <c:idx val="9"/>
              <c:layout>
                <c:manualLayout>
                  <c:x val="-1.7898180492580476E-2"/>
                  <c:y val="-5.875435221707466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11-9010-4519-8DF1-BB6568085D8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'9-2025 vs 3-2026'!$I$40:$I$49</c:f>
              <c:strCache>
                <c:ptCount val="10"/>
                <c:pt idx="0">
                  <c:v>PHIL SAVINGS BANK</c:v>
                </c:pt>
                <c:pt idx="1">
                  <c:v>CHINA BANK SAVINGS</c:v>
                </c:pt>
                <c:pt idx="2">
                  <c:v>CITY SAVINGS BANK</c:v>
                </c:pt>
                <c:pt idx="3">
                  <c:v>PHIL BUSINESS BANK</c:v>
                </c:pt>
                <c:pt idx="4">
                  <c:v>BDO NETWORK BANK INC</c:v>
                </c:pt>
                <c:pt idx="5">
                  <c:v>STERLING BANK OF ASIA</c:v>
                </c:pt>
                <c:pt idx="6">
                  <c:v>BPI DIRECT BANKO</c:v>
                </c:pt>
                <c:pt idx="7">
                  <c:v>BANK OF MAKATI</c:v>
                </c:pt>
                <c:pt idx="8">
                  <c:v>PRODUCERS SAVINGS BANK</c:v>
                </c:pt>
                <c:pt idx="9">
                  <c:v>FIRST CONSOLIDATED BANK</c:v>
                </c:pt>
              </c:strCache>
            </c:strRef>
          </c:cat>
          <c:val>
            <c:numRef>
              <c:f>'9-2025 vs 3-2026'!$J$40:$J$49</c:f>
              <c:numCache>
                <c:formatCode>#,##0</c:formatCode>
                <c:ptCount val="10"/>
                <c:pt idx="0">
                  <c:v>154492.91</c:v>
                </c:pt>
                <c:pt idx="1">
                  <c:v>152502.18</c:v>
                </c:pt>
                <c:pt idx="2">
                  <c:v>123115.35</c:v>
                </c:pt>
                <c:pt idx="3">
                  <c:v>119996.33</c:v>
                </c:pt>
                <c:pt idx="4">
                  <c:v>116002.3</c:v>
                </c:pt>
                <c:pt idx="5">
                  <c:v>52933.17</c:v>
                </c:pt>
                <c:pt idx="6">
                  <c:v>41283.65</c:v>
                </c:pt>
                <c:pt idx="7">
                  <c:v>39041.57</c:v>
                </c:pt>
                <c:pt idx="8">
                  <c:v>32159.4</c:v>
                </c:pt>
                <c:pt idx="9">
                  <c:v>20193.04</c:v>
                </c:pt>
              </c:numCache>
            </c:numRef>
          </c:val>
          <c:shape val="cylinder"/>
          <c:extLst>
            <c:ext xmlns:c16="http://schemas.microsoft.com/office/drawing/2014/chart" uri="{C3380CC4-5D6E-409C-BE32-E72D297353CC}">
              <c16:uniqueId val="{00000001-9010-4519-8DF1-BB6568085D8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1861566432"/>
        <c:axId val="1861556032"/>
        <c:axId val="0"/>
      </c:bar3DChart>
      <c:catAx>
        <c:axId val="1861566432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61556032"/>
        <c:crosses val="autoZero"/>
        <c:auto val="1"/>
        <c:lblAlgn val="ctr"/>
        <c:lblOffset val="100"/>
        <c:noMultiLvlLbl val="0"/>
      </c:catAx>
      <c:valAx>
        <c:axId val="1861556032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crossAx val="1861566432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BE5D6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bar"/>
        <c:grouping val="clustered"/>
        <c:varyColors val="0"/>
        <c:ser>
          <c:idx val="1"/>
          <c:order val="0"/>
          <c:tx>
            <c:v>2026</c:v>
          </c:tx>
          <c:spPr>
            <a:solidFill>
              <a:srgbClr val="FFC000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600" b="1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'9-2025 vs 3-2026'!$I$58:$I$67</c:f>
              <c:strCache>
                <c:ptCount val="10"/>
                <c:pt idx="0">
                  <c:v>PHIL SAVINGS BANK</c:v>
                </c:pt>
                <c:pt idx="1">
                  <c:v>CITY SAVINGS BANK</c:v>
                </c:pt>
                <c:pt idx="2">
                  <c:v>PHIL BUSINESS BANK</c:v>
                </c:pt>
                <c:pt idx="3">
                  <c:v>CHINA BANK SAVINGS</c:v>
                </c:pt>
                <c:pt idx="4">
                  <c:v>BDO NETWORK BANK INC</c:v>
                </c:pt>
                <c:pt idx="5">
                  <c:v>BANK OF MAKATI</c:v>
                </c:pt>
                <c:pt idx="6">
                  <c:v>BPI DIRECT BANKO</c:v>
                </c:pt>
                <c:pt idx="7">
                  <c:v>FIRST CONSOLIDATED BANK</c:v>
                </c:pt>
                <c:pt idx="8">
                  <c:v>PRODUCERS SAVINGS BANK</c:v>
                </c:pt>
                <c:pt idx="9">
                  <c:v>STERLING BANK OF ASIA</c:v>
                </c:pt>
              </c:strCache>
            </c:strRef>
          </c:cat>
          <c:val>
            <c:numRef>
              <c:f>'9-2025 vs 3-2026'!$M$58:$M$67</c:f>
              <c:numCache>
                <c:formatCode>#,##0</c:formatCode>
                <c:ptCount val="10"/>
                <c:pt idx="0">
                  <c:v>44269</c:v>
                </c:pt>
                <c:pt idx="1">
                  <c:v>22377.7</c:v>
                </c:pt>
                <c:pt idx="2">
                  <c:v>21088.560000000001</c:v>
                </c:pt>
                <c:pt idx="3">
                  <c:v>21832.33</c:v>
                </c:pt>
                <c:pt idx="4">
                  <c:v>19984.830000000002</c:v>
                </c:pt>
                <c:pt idx="5">
                  <c:v>18736.310000000001</c:v>
                </c:pt>
                <c:pt idx="6">
                  <c:v>11853.33</c:v>
                </c:pt>
                <c:pt idx="7">
                  <c:v>8646.9500000000007</c:v>
                </c:pt>
                <c:pt idx="8">
                  <c:v>8420.7900000000009</c:v>
                </c:pt>
                <c:pt idx="9">
                  <c:v>5696.59</c:v>
                </c:pt>
              </c:numCache>
            </c:numRef>
          </c:val>
          <c:shape val="cylinder"/>
          <c:extLst>
            <c:ext xmlns:c16="http://schemas.microsoft.com/office/drawing/2014/chart" uri="{C3380CC4-5D6E-409C-BE32-E72D297353CC}">
              <c16:uniqueId val="{00000000-06AD-458D-BF15-1AF49DF4F16C}"/>
            </c:ext>
          </c:extLst>
        </c:ser>
        <c:ser>
          <c:idx val="0"/>
          <c:order val="1"/>
          <c:tx>
            <c:v>2025</c:v>
          </c:tx>
          <c:spPr>
            <a:solidFill>
              <a:srgbClr val="2F5597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'9-2025 vs 3-2026'!$I$58:$I$67</c:f>
              <c:strCache>
                <c:ptCount val="10"/>
                <c:pt idx="0">
                  <c:v>PHIL SAVINGS BANK</c:v>
                </c:pt>
                <c:pt idx="1">
                  <c:v>CITY SAVINGS BANK</c:v>
                </c:pt>
                <c:pt idx="2">
                  <c:v>PHIL BUSINESS BANK</c:v>
                </c:pt>
                <c:pt idx="3">
                  <c:v>CHINA BANK SAVINGS</c:v>
                </c:pt>
                <c:pt idx="4">
                  <c:v>BDO NETWORK BANK INC</c:v>
                </c:pt>
                <c:pt idx="5">
                  <c:v>BANK OF MAKATI</c:v>
                </c:pt>
                <c:pt idx="6">
                  <c:v>BPI DIRECT BANKO</c:v>
                </c:pt>
                <c:pt idx="7">
                  <c:v>FIRST CONSOLIDATED BANK</c:v>
                </c:pt>
                <c:pt idx="8">
                  <c:v>PRODUCERS SAVINGS BANK</c:v>
                </c:pt>
                <c:pt idx="9">
                  <c:v>STERLING BANK OF ASIA</c:v>
                </c:pt>
              </c:strCache>
            </c:strRef>
          </c:cat>
          <c:val>
            <c:numRef>
              <c:f>'9-2025 vs 3-2026'!$J$58:$J$67</c:f>
              <c:numCache>
                <c:formatCode>#,##0</c:formatCode>
                <c:ptCount val="10"/>
                <c:pt idx="0">
                  <c:v>44729.74</c:v>
                </c:pt>
                <c:pt idx="1">
                  <c:v>21316.81</c:v>
                </c:pt>
                <c:pt idx="2">
                  <c:v>20794.189999999999</c:v>
                </c:pt>
                <c:pt idx="3">
                  <c:v>21095.84</c:v>
                </c:pt>
                <c:pt idx="4">
                  <c:v>17901.400000000001</c:v>
                </c:pt>
                <c:pt idx="5">
                  <c:v>16959.18</c:v>
                </c:pt>
                <c:pt idx="6">
                  <c:v>10342.33</c:v>
                </c:pt>
                <c:pt idx="7">
                  <c:v>8173.57</c:v>
                </c:pt>
                <c:pt idx="8">
                  <c:v>7563.36</c:v>
                </c:pt>
                <c:pt idx="9">
                  <c:v>5526.06</c:v>
                </c:pt>
              </c:numCache>
            </c:numRef>
          </c:val>
          <c:shape val="cylinder"/>
          <c:extLst>
            <c:ext xmlns:c16="http://schemas.microsoft.com/office/drawing/2014/chart" uri="{C3380CC4-5D6E-409C-BE32-E72D297353CC}">
              <c16:uniqueId val="{00000001-06AD-458D-BF15-1AF49DF4F16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1861565600"/>
        <c:axId val="1861559776"/>
        <c:axId val="0"/>
      </c:bar3DChart>
      <c:catAx>
        <c:axId val="186156560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61559776"/>
        <c:crosses val="autoZero"/>
        <c:auto val="1"/>
        <c:lblAlgn val="ctr"/>
        <c:lblOffset val="100"/>
        <c:noMultiLvlLbl val="0"/>
      </c:catAx>
      <c:valAx>
        <c:axId val="1861559776"/>
        <c:scaling>
          <c:orientation val="minMax"/>
        </c:scaling>
        <c:delete val="1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crossAx val="18615656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DAEDEF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28151871928314848"/>
          <c:y val="6.462978743878213E-2"/>
          <c:w val="0.68569786551102585"/>
          <c:h val="0.73633915047683551"/>
        </c:manualLayout>
      </c:layout>
      <c:bar3DChart>
        <c:barDir val="bar"/>
        <c:grouping val="clustered"/>
        <c:varyColors val="0"/>
        <c:ser>
          <c:idx val="1"/>
          <c:order val="0"/>
          <c:tx>
            <c:v>2026</c:v>
          </c:tx>
          <c:spPr>
            <a:solidFill>
              <a:srgbClr val="FFC000"/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-5.936289589968325E-3"/>
                  <c:y val="1.751187526195430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4-7F49-458B-81CB-292B65058233}"/>
                </c:ext>
              </c:extLst>
            </c:dLbl>
            <c:dLbl>
              <c:idx val="1"/>
              <c:layout>
                <c:manualLayout>
                  <c:x val="-5.936289589968325E-3"/>
                  <c:y val="1.167351118039368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2-6556-4C00-BE41-C00BAEDDBB8C}"/>
                </c:ext>
              </c:extLst>
            </c:dLbl>
            <c:dLbl>
              <c:idx val="2"/>
              <c:layout>
                <c:manualLayout>
                  <c:x val="-8.9044343849524876E-3"/>
                  <c:y val="1.167351118039365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4-6556-4C00-BE41-C00BAEDDBB8C}"/>
                </c:ext>
              </c:extLst>
            </c:dLbl>
            <c:dLbl>
              <c:idx val="3"/>
              <c:layout>
                <c:manualLayout>
                  <c:x val="-5.9362895899684335E-3"/>
                  <c:y val="1.167351118039368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2-7F49-458B-81CB-292B65058233}"/>
                </c:ext>
              </c:extLst>
            </c:dLbl>
            <c:dLbl>
              <c:idx val="4"/>
              <c:layout>
                <c:manualLayout>
                  <c:x val="-1.1872579179936759E-2"/>
                  <c:y val="1.167305161143265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7-6556-4C00-BE41-C00BAEDDBB8C}"/>
                </c:ext>
              </c:extLst>
            </c:dLbl>
            <c:dLbl>
              <c:idx val="5"/>
              <c:layout>
                <c:manualLayout>
                  <c:x val="-1.1872579179936704E-2"/>
                  <c:y val="5.837904512599542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8-6556-4C00-BE41-C00BAEDDBB8C}"/>
                </c:ext>
              </c:extLst>
            </c:dLbl>
            <c:dLbl>
              <c:idx val="6"/>
              <c:layout>
                <c:manualLayout>
                  <c:x val="-1.187257917993665E-2"/>
                  <c:y val="5.836525805716302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B-6556-4C00-BE41-C00BAEDDBB8C}"/>
                </c:ext>
              </c:extLst>
            </c:dLbl>
            <c:dLbl>
              <c:idx val="7"/>
              <c:layout>
                <c:manualLayout>
                  <c:x val="-1.4840723974920813E-2"/>
                  <c:y val="5.836525805716302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D-6556-4C00-BE41-C00BAEDDBB8C}"/>
                </c:ext>
              </c:extLst>
            </c:dLbl>
            <c:dLbl>
              <c:idx val="8"/>
              <c:layout>
                <c:manualLayout>
                  <c:x val="-5.9362895899683797E-3"/>
                  <c:y val="5.836525805716302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F-6556-4C00-BE41-C00BAEDDBB8C}"/>
                </c:ext>
              </c:extLst>
            </c:dLbl>
            <c:dLbl>
              <c:idx val="9"/>
              <c:layout>
                <c:manualLayout>
                  <c:x val="-1.4840723974920813E-2"/>
                  <c:y val="5.836985374677382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10-6556-4C00-BE41-C00BAEDDBB8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600" b="1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'9-2025 vs 3-2026'!$I$23:$I$32</c:f>
              <c:strCache>
                <c:ptCount val="10"/>
                <c:pt idx="0">
                  <c:v>PHIL SAVINGS BANK</c:v>
                </c:pt>
                <c:pt idx="1">
                  <c:v>CHINA BANK SAVINGS</c:v>
                </c:pt>
                <c:pt idx="2">
                  <c:v>CITY SAVINGS BANK</c:v>
                </c:pt>
                <c:pt idx="3">
                  <c:v>PHIL BUSINESS BANK</c:v>
                </c:pt>
                <c:pt idx="4">
                  <c:v>BDO NETWORK BANK INC</c:v>
                </c:pt>
                <c:pt idx="5">
                  <c:v>STERLING BANK OF ASIA</c:v>
                </c:pt>
                <c:pt idx="6">
                  <c:v>BPI DIRECT BANKO</c:v>
                </c:pt>
                <c:pt idx="7">
                  <c:v>BANK OF MAKATI</c:v>
                </c:pt>
                <c:pt idx="8">
                  <c:v>PRODUCERS SAVINGS BANK</c:v>
                </c:pt>
                <c:pt idx="9">
                  <c:v>FIRST CONSOLIDATED BANK</c:v>
                </c:pt>
              </c:strCache>
            </c:strRef>
          </c:cat>
          <c:val>
            <c:numRef>
              <c:f>'9-2025 vs 3-2026'!$M$23:$M$32</c:f>
              <c:numCache>
                <c:formatCode>#,##0</c:formatCode>
                <c:ptCount val="10"/>
                <c:pt idx="0">
                  <c:v>232588.73</c:v>
                </c:pt>
                <c:pt idx="1">
                  <c:v>217536.44</c:v>
                </c:pt>
                <c:pt idx="2">
                  <c:v>171953.32</c:v>
                </c:pt>
                <c:pt idx="3">
                  <c:v>164973.21</c:v>
                </c:pt>
                <c:pt idx="4">
                  <c:v>159509.10999999999</c:v>
                </c:pt>
                <c:pt idx="5">
                  <c:v>75573.179999999993</c:v>
                </c:pt>
                <c:pt idx="6">
                  <c:v>67616.02</c:v>
                </c:pt>
                <c:pt idx="7">
                  <c:v>60825.53</c:v>
                </c:pt>
                <c:pt idx="8">
                  <c:v>46913.16</c:v>
                </c:pt>
                <c:pt idx="9">
                  <c:v>32864.5</c:v>
                </c:pt>
              </c:numCache>
            </c:numRef>
          </c:val>
          <c:shape val="cylinder"/>
          <c:extLst>
            <c:ext xmlns:c16="http://schemas.microsoft.com/office/drawing/2014/chart" uri="{C3380CC4-5D6E-409C-BE32-E72D297353CC}">
              <c16:uniqueId val="{00000001-7F49-458B-81CB-292B65058233}"/>
            </c:ext>
          </c:extLst>
        </c:ser>
        <c:ser>
          <c:idx val="0"/>
          <c:order val="1"/>
          <c:tx>
            <c:v>2025</c:v>
          </c:tx>
          <c:spPr>
            <a:solidFill>
              <a:srgbClr val="2F5597"/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-1.1872579179936759E-2"/>
                  <c:y val="-5.835606667794142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7F49-458B-81CB-292B65058233}"/>
                </c:ext>
              </c:extLst>
            </c:dLbl>
            <c:dLbl>
              <c:idx val="1"/>
              <c:layout>
                <c:manualLayout>
                  <c:x val="-5.936289589968325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6556-4C00-BE41-C00BAEDDBB8C}"/>
                </c:ext>
              </c:extLst>
            </c:dLbl>
            <c:dLbl>
              <c:idx val="2"/>
              <c:layout>
                <c:manualLayout>
                  <c:x val="-1.4840723974920813E-2"/>
                  <c:y val="-5.835606667794142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6556-4C00-BE41-C00BAEDDBB8C}"/>
                </c:ext>
              </c:extLst>
            </c:dLbl>
            <c:dLbl>
              <c:idx val="3"/>
              <c:layout>
                <c:manualLayout>
                  <c:x val="-1.4840723974920922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5-6556-4C00-BE41-C00BAEDDBB8C}"/>
                </c:ext>
              </c:extLst>
            </c:dLbl>
            <c:dLbl>
              <c:idx val="4"/>
              <c:layout>
                <c:manualLayout>
                  <c:x val="-1.4840723974920813E-2"/>
                  <c:y val="-5.836525805716302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6-6556-4C00-BE41-C00BAEDDBB8C}"/>
                </c:ext>
              </c:extLst>
            </c:dLbl>
            <c:dLbl>
              <c:idx val="5"/>
              <c:layout>
                <c:manualLayout>
                  <c:x val="-1.187257917993665E-2"/>
                  <c:y val="-5.835147098833062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9-6556-4C00-BE41-C00BAEDDBB8C}"/>
                </c:ext>
              </c:extLst>
            </c:dLbl>
            <c:dLbl>
              <c:idx val="6"/>
              <c:layout>
                <c:manualLayout>
                  <c:x val="-1.4840723974920866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A-6556-4C00-BE41-C00BAEDDBB8C}"/>
                </c:ext>
              </c:extLst>
            </c:dLbl>
            <c:dLbl>
              <c:idx val="7"/>
              <c:layout>
                <c:manualLayout>
                  <c:x val="-1.4840723974920813E-2"/>
                  <c:y val="-5.836066236755115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C-6556-4C00-BE41-C00BAEDDBB8C}"/>
                </c:ext>
              </c:extLst>
            </c:dLbl>
            <c:dLbl>
              <c:idx val="8"/>
              <c:layout>
                <c:manualLayout>
                  <c:x val="-1.4840723974920866E-2"/>
                  <c:y val="1.0700173701160211E-16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E-6556-4C00-BE41-C00BAEDDBB8C}"/>
                </c:ext>
              </c:extLst>
            </c:dLbl>
            <c:dLbl>
              <c:idx val="9"/>
              <c:layout>
                <c:manualLayout>
                  <c:x val="-1.1872579179936704E-2"/>
                  <c:y val="-5.836066236755222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0-6556-4C00-BE41-C00BAEDDBB8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'9-2025 vs 3-2026'!$I$23:$I$32</c:f>
              <c:strCache>
                <c:ptCount val="10"/>
                <c:pt idx="0">
                  <c:v>PHIL SAVINGS BANK</c:v>
                </c:pt>
                <c:pt idx="1">
                  <c:v>CHINA BANK SAVINGS</c:v>
                </c:pt>
                <c:pt idx="2">
                  <c:v>CITY SAVINGS BANK</c:v>
                </c:pt>
                <c:pt idx="3">
                  <c:v>PHIL BUSINESS BANK</c:v>
                </c:pt>
                <c:pt idx="4">
                  <c:v>BDO NETWORK BANK INC</c:v>
                </c:pt>
                <c:pt idx="5">
                  <c:v>STERLING BANK OF ASIA</c:v>
                </c:pt>
                <c:pt idx="6">
                  <c:v>BPI DIRECT BANKO</c:v>
                </c:pt>
                <c:pt idx="7">
                  <c:v>BANK OF MAKATI</c:v>
                </c:pt>
                <c:pt idx="8">
                  <c:v>PRODUCERS SAVINGS BANK</c:v>
                </c:pt>
                <c:pt idx="9">
                  <c:v>FIRST CONSOLIDATED BANK</c:v>
                </c:pt>
              </c:strCache>
            </c:strRef>
          </c:cat>
          <c:val>
            <c:numRef>
              <c:f>'9-2025 vs 3-2026'!$J$23:$J$32</c:f>
              <c:numCache>
                <c:formatCode>#,##0</c:formatCode>
                <c:ptCount val="10"/>
                <c:pt idx="0">
                  <c:v>220919.27</c:v>
                </c:pt>
                <c:pt idx="1">
                  <c:v>212063.44</c:v>
                </c:pt>
                <c:pt idx="2">
                  <c:v>167867.51</c:v>
                </c:pt>
                <c:pt idx="3">
                  <c:v>164937.5</c:v>
                </c:pt>
                <c:pt idx="4">
                  <c:v>144360.10999999999</c:v>
                </c:pt>
                <c:pt idx="5">
                  <c:v>67468.97</c:v>
                </c:pt>
                <c:pt idx="6">
                  <c:v>59123.29</c:v>
                </c:pt>
                <c:pt idx="7">
                  <c:v>57466.75</c:v>
                </c:pt>
                <c:pt idx="8">
                  <c:v>42366.84</c:v>
                </c:pt>
                <c:pt idx="9">
                  <c:v>30453.37</c:v>
                </c:pt>
              </c:numCache>
            </c:numRef>
          </c:val>
          <c:shape val="cylinder"/>
          <c:extLst>
            <c:ext xmlns:c16="http://schemas.microsoft.com/office/drawing/2014/chart" uri="{C3380CC4-5D6E-409C-BE32-E72D297353CC}">
              <c16:uniqueId val="{00000000-7F49-458B-81CB-292B6505823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1861570176"/>
        <c:axId val="1861573504"/>
        <c:axId val="0"/>
      </c:bar3DChart>
      <c:catAx>
        <c:axId val="1861570176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61573504"/>
        <c:crosses val="autoZero"/>
        <c:auto val="1"/>
        <c:lblAlgn val="ctr"/>
        <c:lblOffset val="100"/>
        <c:noMultiLvlLbl val="0"/>
      </c:catAx>
      <c:valAx>
        <c:axId val="1861573504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crossAx val="1861570176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BE5D6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bar"/>
        <c:grouping val="clustered"/>
        <c:varyColors val="0"/>
        <c:ser>
          <c:idx val="0"/>
          <c:order val="0"/>
          <c:spPr>
            <a:solidFill>
              <a:srgbClr val="2F5597"/>
            </a:solidFill>
            <a:ln>
              <a:noFill/>
            </a:ln>
            <a:effectLst/>
            <a:sp3d/>
          </c:spPr>
          <c:invertIfNegative val="0"/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1-BCED-49F4-9C38-4A8976B5DB35}"/>
              </c:ext>
            </c:extLst>
          </c:dPt>
          <c:dPt>
            <c:idx val="2"/>
            <c:invertIfNegative val="0"/>
            <c:bubble3D val="0"/>
            <c:spPr>
              <a:solidFill>
                <a:srgbClr val="2F5597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3-BCED-49F4-9C38-4A8976B5DB35}"/>
              </c:ext>
            </c:extLst>
          </c:dPt>
          <c:dLbls>
            <c:dLbl>
              <c:idx val="0"/>
              <c:layout>
                <c:manualLayout>
                  <c:x val="0"/>
                  <c:y val="3.66219913616315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5-BCED-49F4-9C38-4A8976B5DB35}"/>
                </c:ext>
              </c:extLst>
            </c:dLbl>
            <c:dLbl>
              <c:idx val="1"/>
              <c:layout/>
              <c:tx>
                <c:rich>
                  <a:bodyPr/>
                  <a:lstStyle/>
                  <a:p>
                    <a:fld id="{56490533-96A1-4ED7-BC5F-6B1222920132}" type="VALUE">
                      <a:rPr lang="en-US" b="1"/>
                      <a:pPr/>
                      <a:t>[VALUE]</a:t>
                    </a:fld>
                    <a:endParaRPr lang="en-PH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BCED-49F4-9C38-4A8976B5DB3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'March 2026'!$C$7:$C$11</c:f>
              <c:strCache>
                <c:ptCount val="5"/>
                <c:pt idx="0">
                  <c:v>PHIL BUSINESS BANK</c:v>
                </c:pt>
                <c:pt idx="1">
                  <c:v>STERLING BANK OF ASIA</c:v>
                </c:pt>
                <c:pt idx="2">
                  <c:v>BANK OF MAKATI</c:v>
                </c:pt>
                <c:pt idx="3">
                  <c:v>PRODUCERS SAVINGS BANK</c:v>
                </c:pt>
                <c:pt idx="4">
                  <c:v>FIRST CONSOLIDATED BANK</c:v>
                </c:pt>
              </c:strCache>
            </c:strRef>
          </c:cat>
          <c:val>
            <c:numRef>
              <c:f>'March 2026'!$D$7:$D$11</c:f>
              <c:numCache>
                <c:formatCode>#,##0</c:formatCode>
                <c:ptCount val="5"/>
                <c:pt idx="0">
                  <c:v>134200.91</c:v>
                </c:pt>
                <c:pt idx="1">
                  <c:v>67035.22</c:v>
                </c:pt>
                <c:pt idx="2">
                  <c:v>39097.449999999997</c:v>
                </c:pt>
                <c:pt idx="3">
                  <c:v>27872.93</c:v>
                </c:pt>
                <c:pt idx="4">
                  <c:v>22922.720000000001</c:v>
                </c:pt>
              </c:numCache>
            </c:numRef>
          </c:val>
          <c:shape val="cylinder"/>
          <c:extLst>
            <c:ext xmlns:c16="http://schemas.microsoft.com/office/drawing/2014/chart" uri="{C3380CC4-5D6E-409C-BE32-E72D297353CC}">
              <c16:uniqueId val="{00000004-BCED-49F4-9C38-4A8976B5DB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0"/>
        <c:gapDepth val="234"/>
        <c:shape val="box"/>
        <c:axId val="144847288"/>
        <c:axId val="144847680"/>
        <c:axId val="0"/>
      </c:bar3DChart>
      <c:catAx>
        <c:axId val="14484728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4847680"/>
        <c:crosses val="autoZero"/>
        <c:auto val="1"/>
        <c:lblAlgn val="ctr"/>
        <c:lblOffset val="100"/>
        <c:noMultiLvlLbl val="0"/>
      </c:catAx>
      <c:valAx>
        <c:axId val="144847680"/>
        <c:scaling>
          <c:orientation val="minMax"/>
        </c:scaling>
        <c:delete val="1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crossAx val="1448472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rgbClr val="DAEDEF"/>
    </a:solidFill>
    <a:ln>
      <a:noFill/>
    </a:ln>
    <a:effectLst/>
  </c:spPr>
  <c:txPr>
    <a:bodyPr/>
    <a:lstStyle/>
    <a:p>
      <a:pPr>
        <a:defRPr sz="800" b="1">
          <a:solidFill>
            <a:srgbClr val="002060"/>
          </a:solidFill>
        </a:defRPr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bar"/>
        <c:grouping val="clustered"/>
        <c:varyColors val="0"/>
        <c:ser>
          <c:idx val="0"/>
          <c:order val="0"/>
          <c:spPr>
            <a:solidFill>
              <a:srgbClr val="2F5597"/>
            </a:solidFill>
            <a:ln>
              <a:noFill/>
            </a:ln>
            <a:effectLst/>
            <a:sp3d/>
          </c:spPr>
          <c:invertIfNegative val="0"/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1-57F7-4E05-9A27-FB0D373340AA}"/>
              </c:ext>
            </c:extLst>
          </c:dPt>
          <c:dPt>
            <c:idx val="2"/>
            <c:invertIfNegative val="0"/>
            <c:bubble3D val="0"/>
            <c:spPr>
              <a:solidFill>
                <a:srgbClr val="2F5597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3-57F7-4E05-9A27-FB0D373340AA}"/>
              </c:ext>
            </c:extLst>
          </c:dPt>
          <c:dPt>
            <c:idx val="3"/>
            <c:invertIfNegative val="0"/>
            <c:bubble3D val="0"/>
            <c:spPr>
              <a:solidFill>
                <a:srgbClr val="2F5597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5-57F7-4E05-9A27-FB0D373340AA}"/>
              </c:ext>
            </c:extLst>
          </c:dPt>
          <c:dLbls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800" b="1" i="0" u="none" strike="noStrike" kern="1200" baseline="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57F7-4E05-9A27-FB0D373340A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'March 2026'!$C$28:$C$32</c:f>
              <c:strCache>
                <c:ptCount val="5"/>
                <c:pt idx="0">
                  <c:v>PHIL BUSINESS BANK</c:v>
                </c:pt>
                <c:pt idx="1">
                  <c:v>STERLING BANK OF ASIA</c:v>
                </c:pt>
                <c:pt idx="2">
                  <c:v>BANK OF MAKATI</c:v>
                </c:pt>
                <c:pt idx="3">
                  <c:v>PRODUCERS SAVINGS BANK</c:v>
                </c:pt>
                <c:pt idx="4">
                  <c:v>FIRST CONSOLIDATED BANK</c:v>
                </c:pt>
              </c:strCache>
            </c:strRef>
          </c:cat>
          <c:val>
            <c:numRef>
              <c:f>'March 2026'!$D$28:$D$32</c:f>
              <c:numCache>
                <c:formatCode>#,##0</c:formatCode>
                <c:ptCount val="5"/>
                <c:pt idx="0">
                  <c:v>124407.09</c:v>
                </c:pt>
                <c:pt idx="1">
                  <c:v>61160.59</c:v>
                </c:pt>
                <c:pt idx="2">
                  <c:v>42631.69</c:v>
                </c:pt>
                <c:pt idx="3">
                  <c:v>34363.25</c:v>
                </c:pt>
                <c:pt idx="4">
                  <c:v>21151.35</c:v>
                </c:pt>
              </c:numCache>
            </c:numRef>
          </c:val>
          <c:shape val="cylinder"/>
          <c:extLst>
            <c:ext xmlns:c16="http://schemas.microsoft.com/office/drawing/2014/chart" uri="{C3380CC4-5D6E-409C-BE32-E72D297353CC}">
              <c16:uniqueId val="{00000006-57F7-4E05-9A27-FB0D373340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0"/>
        <c:gapDepth val="234"/>
        <c:shape val="box"/>
        <c:axId val="486736776"/>
        <c:axId val="486730896"/>
        <c:axId val="0"/>
      </c:bar3DChart>
      <c:catAx>
        <c:axId val="486736776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6730896"/>
        <c:crosses val="autoZero"/>
        <c:auto val="0"/>
        <c:lblAlgn val="ctr"/>
        <c:lblOffset val="100"/>
        <c:noMultiLvlLbl val="0"/>
      </c:catAx>
      <c:valAx>
        <c:axId val="486730896"/>
        <c:scaling>
          <c:orientation val="minMax"/>
        </c:scaling>
        <c:delete val="1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crossAx val="4867367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rgbClr val="FBE5D6"/>
    </a:solidFill>
    <a:ln>
      <a:noFill/>
    </a:ln>
    <a:effectLst/>
  </c:spPr>
  <c:txPr>
    <a:bodyPr/>
    <a:lstStyle/>
    <a:p>
      <a:pPr>
        <a:defRPr sz="800" b="1">
          <a:solidFill>
            <a:srgbClr val="002060"/>
          </a:solidFill>
        </a:defRPr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bar"/>
        <c:grouping val="clustered"/>
        <c:varyColors val="0"/>
        <c:ser>
          <c:idx val="0"/>
          <c:order val="0"/>
          <c:spPr>
            <a:solidFill>
              <a:srgbClr val="2F5597"/>
            </a:solidFill>
            <a:ln>
              <a:noFill/>
            </a:ln>
            <a:effectLst/>
            <a:sp3d/>
          </c:spPr>
          <c:invertIfNegative val="0"/>
          <c:dPt>
            <c:idx val="4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1-052A-4D2E-A181-5B0F5609B0DF}"/>
              </c:ext>
            </c:extLst>
          </c:dPt>
          <c:dLbls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800" b="1" i="0" u="none" strike="noStrike" kern="1200" baseline="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052A-4D2E-A181-5B0F5609B0D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'March 2026'!$C$41:$C$45</c:f>
              <c:strCache>
                <c:ptCount val="5"/>
                <c:pt idx="0">
                  <c:v>PHIL BUSINESS BANK</c:v>
                </c:pt>
                <c:pt idx="1">
                  <c:v>BANK OF MAKATI</c:v>
                </c:pt>
                <c:pt idx="2">
                  <c:v>FIRST CONSOLIDATED BANK</c:v>
                </c:pt>
                <c:pt idx="3">
                  <c:v>PRODUCERS SAVINGS BANK</c:v>
                </c:pt>
                <c:pt idx="4">
                  <c:v>STERLING BANK OF ASIA</c:v>
                </c:pt>
              </c:strCache>
            </c:strRef>
          </c:cat>
          <c:val>
            <c:numRef>
              <c:f>'March 2026'!$D$41:$D$45</c:f>
              <c:numCache>
                <c:formatCode>#,##0</c:formatCode>
                <c:ptCount val="5"/>
                <c:pt idx="0">
                  <c:v>21088.560000000001</c:v>
                </c:pt>
                <c:pt idx="1">
                  <c:v>18736.310000000001</c:v>
                </c:pt>
                <c:pt idx="2">
                  <c:v>8646.9500000000007</c:v>
                </c:pt>
                <c:pt idx="3">
                  <c:v>8420.7900000000009</c:v>
                </c:pt>
                <c:pt idx="4">
                  <c:v>5696.59</c:v>
                </c:pt>
              </c:numCache>
            </c:numRef>
          </c:val>
          <c:shape val="cylinder"/>
          <c:extLst>
            <c:ext xmlns:c16="http://schemas.microsoft.com/office/drawing/2014/chart" uri="{C3380CC4-5D6E-409C-BE32-E72D297353CC}">
              <c16:uniqueId val="{00000002-052A-4D2E-A181-5B0F5609B0D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0"/>
        <c:gapDepth val="234"/>
        <c:shape val="box"/>
        <c:axId val="144848856"/>
        <c:axId val="106024032"/>
        <c:axId val="0"/>
      </c:bar3DChart>
      <c:catAx>
        <c:axId val="144848856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6024032"/>
        <c:crosses val="autoZero"/>
        <c:auto val="1"/>
        <c:lblAlgn val="ctr"/>
        <c:lblOffset val="100"/>
        <c:noMultiLvlLbl val="0"/>
      </c:catAx>
      <c:valAx>
        <c:axId val="106024032"/>
        <c:scaling>
          <c:orientation val="minMax"/>
        </c:scaling>
        <c:delete val="1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crossAx val="1448488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rgbClr val="DAEDEF"/>
    </a:solidFill>
    <a:ln>
      <a:noFill/>
    </a:ln>
    <a:effectLst/>
  </c:spPr>
  <c:txPr>
    <a:bodyPr/>
    <a:lstStyle/>
    <a:p>
      <a:pPr>
        <a:defRPr sz="800" b="1">
          <a:solidFill>
            <a:srgbClr val="002060"/>
          </a:solidFill>
        </a:defRPr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30455914415634955"/>
          <c:y val="5.2501467560707407E-2"/>
          <c:w val="0.62988290219769438"/>
          <c:h val="0.89499706487858521"/>
        </c:manualLayout>
      </c:layout>
      <c:bar3DChart>
        <c:barDir val="bar"/>
        <c:grouping val="clustered"/>
        <c:varyColors val="0"/>
        <c:ser>
          <c:idx val="0"/>
          <c:order val="0"/>
          <c:spPr>
            <a:solidFill>
              <a:srgbClr val="2F5597"/>
            </a:solidFill>
            <a:ln>
              <a:noFill/>
            </a:ln>
            <a:effectLst/>
            <a:sp3d/>
          </c:spPr>
          <c:invertIfNegative val="0"/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1-05F8-439F-8868-EF2229FD3FCE}"/>
              </c:ext>
            </c:extLst>
          </c:dPt>
          <c:dPt>
            <c:idx val="3"/>
            <c:invertIfNegative val="0"/>
            <c:bubble3D val="0"/>
            <c:spPr>
              <a:solidFill>
                <a:srgbClr val="2F5597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3-05F8-439F-8868-EF2229FD3FCE}"/>
              </c:ext>
            </c:extLst>
          </c:dPt>
          <c:dLbls>
            <c:dLbl>
              <c:idx val="0"/>
              <c:layout>
                <c:manualLayout>
                  <c:x val="-1.8775798418863006E-3"/>
                  <c:y val="5.78847398877113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4-05F8-439F-8868-EF2229FD3FCE}"/>
                </c:ext>
              </c:extLst>
            </c:dLbl>
            <c:dLbl>
              <c:idx val="1"/>
              <c:layout>
                <c:manualLayout>
                  <c:x val="7.6111945410259878E-3"/>
                  <c:y val="5.7884739887711879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800" b="1" i="0" u="none" strike="noStrike" kern="1200" baseline="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05F8-439F-8868-EF2229FD3FCE}"/>
                </c:ext>
              </c:extLst>
            </c:dLbl>
            <c:dLbl>
              <c:idx val="3"/>
              <c:layout>
                <c:manualLayout>
                  <c:x val="-5.5307021958015548E-3"/>
                  <c:y val="5.788018382790122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05F8-439F-8868-EF2229FD3FCE}"/>
                </c:ext>
              </c:extLst>
            </c:dLbl>
            <c:dLbl>
              <c:idx val="4"/>
              <c:layout>
                <c:manualLayout>
                  <c:x val="-6.3253847260577156E-3"/>
                  <c:y val="5.787562776809108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5-05F8-439F-8868-EF2229FD3FC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'March 2026'!$C$17:$C$21</c:f>
              <c:strCache>
                <c:ptCount val="5"/>
                <c:pt idx="0">
                  <c:v>PHIL BUSINESS BANK</c:v>
                </c:pt>
                <c:pt idx="1">
                  <c:v>STERLING BANK OF ASIA</c:v>
                </c:pt>
                <c:pt idx="2">
                  <c:v>BANK OF MAKATI</c:v>
                </c:pt>
                <c:pt idx="3">
                  <c:v>PRODUCERS SAVINGS BANK</c:v>
                </c:pt>
                <c:pt idx="4">
                  <c:v>FIRST CONSOLIDATED BANK</c:v>
                </c:pt>
              </c:strCache>
            </c:strRef>
          </c:cat>
          <c:val>
            <c:numRef>
              <c:f>'March 2026'!$D$17:$D$21</c:f>
              <c:numCache>
                <c:formatCode>#,##0</c:formatCode>
                <c:ptCount val="5"/>
                <c:pt idx="0">
                  <c:v>164973.21</c:v>
                </c:pt>
                <c:pt idx="1">
                  <c:v>75573.179999999993</c:v>
                </c:pt>
                <c:pt idx="2">
                  <c:v>60825.53</c:v>
                </c:pt>
                <c:pt idx="3">
                  <c:v>46913.16</c:v>
                </c:pt>
                <c:pt idx="4">
                  <c:v>32864.5</c:v>
                </c:pt>
              </c:numCache>
            </c:numRef>
          </c:val>
          <c:shape val="cylinder"/>
          <c:extLst>
            <c:ext xmlns:c16="http://schemas.microsoft.com/office/drawing/2014/chart" uri="{C3380CC4-5D6E-409C-BE32-E72D297353CC}">
              <c16:uniqueId val="{00000006-05F8-439F-8868-EF2229FD3F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0"/>
        <c:gapDepth val="234"/>
        <c:shape val="box"/>
        <c:axId val="144848464"/>
        <c:axId val="144853168"/>
        <c:axId val="0"/>
      </c:bar3DChart>
      <c:catAx>
        <c:axId val="14484846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4853168"/>
        <c:crosses val="autoZero"/>
        <c:auto val="1"/>
        <c:lblAlgn val="ctr"/>
        <c:lblOffset val="100"/>
        <c:noMultiLvlLbl val="0"/>
      </c:catAx>
      <c:valAx>
        <c:axId val="144853168"/>
        <c:scaling>
          <c:orientation val="minMax"/>
        </c:scaling>
        <c:delete val="1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crossAx val="1448484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rgbClr val="FBE5D6"/>
    </a:solidFill>
    <a:ln>
      <a:noFill/>
    </a:ln>
    <a:effectLst/>
  </c:spPr>
  <c:txPr>
    <a:bodyPr/>
    <a:lstStyle/>
    <a:p>
      <a:pPr>
        <a:defRPr sz="800" b="1">
          <a:solidFill>
            <a:srgbClr val="002060"/>
          </a:solidFill>
        </a:defRPr>
      </a:pPr>
      <a:endParaRPr lang="en-US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bar"/>
        <c:grouping val="clustered"/>
        <c:varyColors val="0"/>
        <c:ser>
          <c:idx val="1"/>
          <c:order val="0"/>
          <c:tx>
            <c:v>Q3</c:v>
          </c:tx>
          <c:spPr>
            <a:solidFill>
              <a:srgbClr val="FFC000"/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-5.7570249870751312E-3"/>
                  <c:y val="5.563918929632171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2-2EA6-45F1-BDAB-35D95326EC28}"/>
                </c:ext>
              </c:extLst>
            </c:dLbl>
            <c:dLbl>
              <c:idx val="1"/>
              <c:layout>
                <c:manualLayout>
                  <c:x val="-8.6355374806126439E-3"/>
                  <c:y val="1.668912878656813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5-2EA6-45F1-BDAB-35D95326EC28}"/>
                </c:ext>
              </c:extLst>
            </c:dLbl>
            <c:dLbl>
              <c:idx val="2"/>
              <c:layout>
                <c:manualLayout>
                  <c:x val="-8.635537480612538E-3"/>
                  <c:y val="1.112520985693595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7-2EA6-45F1-BDAB-35D95326EC28}"/>
                </c:ext>
              </c:extLst>
            </c:dLbl>
            <c:dLbl>
              <c:idx val="3"/>
              <c:layout>
                <c:manualLayout>
                  <c:x val="-8.635537480612538E-3"/>
                  <c:y val="5.562604928468017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8-2EA6-45F1-BDAB-35D95326EC28}"/>
                </c:ext>
              </c:extLst>
            </c:dLbl>
            <c:dLbl>
              <c:idx val="4"/>
              <c:layout>
                <c:manualLayout>
                  <c:x val="-1.1514049974150051E-2"/>
                  <c:y val="1.112564785732405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9-2EA6-45F1-BDAB-35D95326EC28}"/>
                </c:ext>
              </c:extLst>
            </c:dLbl>
            <c:dLbl>
              <c:idx val="5"/>
              <c:layout>
                <c:manualLayout>
                  <c:x val="-8.635537480612538E-3"/>
                  <c:y val="1.112564785732400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B-2EA6-45F1-BDAB-35D95326EC28}"/>
                </c:ext>
              </c:extLst>
            </c:dLbl>
            <c:dLbl>
              <c:idx val="6"/>
              <c:layout>
                <c:manualLayout>
                  <c:x val="-2.8785124935374602E-3"/>
                  <c:y val="1.112696185848820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E-2EA6-45F1-BDAB-35D95326EC28}"/>
                </c:ext>
              </c:extLst>
            </c:dLbl>
            <c:dLbl>
              <c:idx val="7"/>
              <c:layout>
                <c:manualLayout>
                  <c:x val="-1.1514049974150104E-2"/>
                  <c:y val="1.668869078618003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10-2EA6-45F1-BDAB-35D95326EC28}"/>
                </c:ext>
              </c:extLst>
            </c:dLbl>
            <c:dLbl>
              <c:idx val="8"/>
              <c:layout>
                <c:manualLayout>
                  <c:x val="-5.7570249870750783E-3"/>
                  <c:y val="1.112564785732400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12-2EA6-45F1-BDAB-35D95326EC28}"/>
                </c:ext>
              </c:extLst>
            </c:dLbl>
            <c:dLbl>
              <c:idx val="9"/>
              <c:layout>
                <c:manualLayout>
                  <c:x val="-5.7570249870750783E-3"/>
                  <c:y val="1.112608585771207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14-2EA6-45F1-BDAB-35D95326EC2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'2025 Q1 vs Q3'!$I$8:$I$17</c:f>
              <c:strCache>
                <c:ptCount val="10"/>
                <c:pt idx="0">
                  <c:v>CHINA BANK SAVINGS</c:v>
                </c:pt>
                <c:pt idx="1">
                  <c:v>PHIL SAVINGS BANK</c:v>
                </c:pt>
                <c:pt idx="2">
                  <c:v>PHIL BUSINESS BANK</c:v>
                </c:pt>
                <c:pt idx="3">
                  <c:v>BDO NETWORK BANK INC</c:v>
                </c:pt>
                <c:pt idx="4">
                  <c:v>CITY SAVINGS BANK</c:v>
                </c:pt>
                <c:pt idx="5">
                  <c:v>STERLING BANK OF ASIA</c:v>
                </c:pt>
                <c:pt idx="6">
                  <c:v>BPI DIRECT BANKO</c:v>
                </c:pt>
                <c:pt idx="7">
                  <c:v>BANK OF MAKATI</c:v>
                </c:pt>
                <c:pt idx="8">
                  <c:v>PRODUCERS SAVINGS BANK</c:v>
                </c:pt>
                <c:pt idx="9">
                  <c:v>FIRST CONSOLIDATED BANK</c:v>
                </c:pt>
              </c:strCache>
            </c:strRef>
          </c:cat>
          <c:val>
            <c:numRef>
              <c:f>'2025 Q1 vs Q3'!$M$8:$M$17</c:f>
              <c:numCache>
                <c:formatCode>#,##0</c:formatCode>
                <c:ptCount val="10"/>
                <c:pt idx="0">
                  <c:v>186286.49</c:v>
                </c:pt>
                <c:pt idx="1">
                  <c:v>163651.54999999999</c:v>
                </c:pt>
                <c:pt idx="2">
                  <c:v>136356.04</c:v>
                </c:pt>
                <c:pt idx="3">
                  <c:v>106674.06</c:v>
                </c:pt>
                <c:pt idx="4">
                  <c:v>105228.99</c:v>
                </c:pt>
                <c:pt idx="5">
                  <c:v>59083.54</c:v>
                </c:pt>
                <c:pt idx="6">
                  <c:v>44629.22</c:v>
                </c:pt>
                <c:pt idx="7">
                  <c:v>37552.269999999997</c:v>
                </c:pt>
                <c:pt idx="8">
                  <c:v>26163.11</c:v>
                </c:pt>
                <c:pt idx="9">
                  <c:v>20926.21</c:v>
                </c:pt>
              </c:numCache>
            </c:numRef>
          </c:val>
          <c:shape val="cylinder"/>
          <c:extLst>
            <c:ext xmlns:c16="http://schemas.microsoft.com/office/drawing/2014/chart" uri="{C3380CC4-5D6E-409C-BE32-E72D297353CC}">
              <c16:uniqueId val="{00000000-2EA6-45F1-BDAB-35D95326EC28}"/>
            </c:ext>
          </c:extLst>
        </c:ser>
        <c:ser>
          <c:idx val="0"/>
          <c:order val="1"/>
          <c:tx>
            <c:v>Q1</c:v>
          </c:tx>
          <c:spPr>
            <a:solidFill>
              <a:srgbClr val="002060"/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-8.635537480612538E-3"/>
                  <c:y val="-1.2747489034324646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2EA6-45F1-BDAB-35D95326EC28}"/>
                </c:ext>
              </c:extLst>
            </c:dLbl>
            <c:dLbl>
              <c:idx val="1"/>
              <c:layout>
                <c:manualLayout>
                  <c:x val="-5.7570249870750254E-3"/>
                  <c:y val="1.3140011642305264E-6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4-2EA6-45F1-BDAB-35D95326EC28}"/>
                </c:ext>
              </c:extLst>
            </c:dLbl>
            <c:dLbl>
              <c:idx val="2"/>
              <c:layout>
                <c:manualLayout>
                  <c:x val="-8.635537480612538E-3"/>
                  <c:y val="-5.562604928467915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6-2EA6-45F1-BDAB-35D95326EC28}"/>
                </c:ext>
              </c:extLst>
            </c:dLbl>
            <c:dLbl>
              <c:idx val="4"/>
              <c:layout>
                <c:manualLayout>
                  <c:x val="-5.7570249870750254E-3"/>
                  <c:y val="-5.561728927691778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A-2EA6-45F1-BDAB-35D95326EC28}"/>
                </c:ext>
              </c:extLst>
            </c:dLbl>
            <c:dLbl>
              <c:idx val="5"/>
              <c:layout>
                <c:manualLayout>
                  <c:x val="-8.635537480612538E-3"/>
                  <c:y val="5.0989956137298585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C-2EA6-45F1-BDAB-35D95326EC28}"/>
                </c:ext>
              </c:extLst>
            </c:dLbl>
            <c:dLbl>
              <c:idx val="6"/>
              <c:layout>
                <c:manualLayout>
                  <c:x val="-2.8785124935374602E-3"/>
                  <c:y val="4.3800038806834382E-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D-2EA6-45F1-BDAB-35D95326EC28}"/>
                </c:ext>
              </c:extLst>
            </c:dLbl>
            <c:dLbl>
              <c:idx val="7"/>
              <c:layout>
                <c:manualLayout>
                  <c:x val="-1.4392562467687617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F-2EA6-45F1-BDAB-35D95326EC28}"/>
                </c:ext>
              </c:extLst>
            </c:dLbl>
            <c:dLbl>
              <c:idx val="8"/>
              <c:layout>
                <c:manualLayout>
                  <c:x val="-8.6355374806125918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11-2EA6-45F1-BDAB-35D95326EC28}"/>
                </c:ext>
              </c:extLst>
            </c:dLbl>
            <c:dLbl>
              <c:idx val="9"/>
              <c:layout>
                <c:manualLayout>
                  <c:x val="-1.4392562467687617E-2"/>
                  <c:y val="-5.561728927691829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13-2EA6-45F1-BDAB-35D95326EC2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'2025 Q1 vs Q3'!$I$8:$I$17</c:f>
              <c:strCache>
                <c:ptCount val="10"/>
                <c:pt idx="0">
                  <c:v>CHINA BANK SAVINGS</c:v>
                </c:pt>
                <c:pt idx="1">
                  <c:v>PHIL SAVINGS BANK</c:v>
                </c:pt>
                <c:pt idx="2">
                  <c:v>PHIL BUSINESS BANK</c:v>
                </c:pt>
                <c:pt idx="3">
                  <c:v>BDO NETWORK BANK INC</c:v>
                </c:pt>
                <c:pt idx="4">
                  <c:v>CITY SAVINGS BANK</c:v>
                </c:pt>
                <c:pt idx="5">
                  <c:v>STERLING BANK OF ASIA</c:v>
                </c:pt>
                <c:pt idx="6">
                  <c:v>BPI DIRECT BANKO</c:v>
                </c:pt>
                <c:pt idx="7">
                  <c:v>BANK OF MAKATI</c:v>
                </c:pt>
                <c:pt idx="8">
                  <c:v>PRODUCERS SAVINGS BANK</c:v>
                </c:pt>
                <c:pt idx="9">
                  <c:v>FIRST CONSOLIDATED BANK</c:v>
                </c:pt>
              </c:strCache>
            </c:strRef>
          </c:cat>
          <c:val>
            <c:numRef>
              <c:f>'2025 Q1 vs Q3'!$J$8:$J$17</c:f>
              <c:numCache>
                <c:formatCode>#,##0</c:formatCode>
                <c:ptCount val="10"/>
                <c:pt idx="0">
                  <c:v>170728.89</c:v>
                </c:pt>
                <c:pt idx="1">
                  <c:v>169678.92</c:v>
                </c:pt>
                <c:pt idx="2">
                  <c:v>130715.98</c:v>
                </c:pt>
                <c:pt idx="4">
                  <c:v>93441.09</c:v>
                </c:pt>
                <c:pt idx="5">
                  <c:v>52139.78</c:v>
                </c:pt>
                <c:pt idx="6">
                  <c:v>43904.480000000003</c:v>
                </c:pt>
                <c:pt idx="7">
                  <c:v>33138.82</c:v>
                </c:pt>
                <c:pt idx="8">
                  <c:v>25439.29</c:v>
                </c:pt>
                <c:pt idx="9">
                  <c:v>20120.66</c:v>
                </c:pt>
              </c:numCache>
            </c:numRef>
          </c:val>
          <c:shape val="cylinder"/>
          <c:extLst>
            <c:ext xmlns:c16="http://schemas.microsoft.com/office/drawing/2014/chart" uri="{C3380CC4-5D6E-409C-BE32-E72D297353CC}">
              <c16:uniqueId val="{00000001-2EA6-45F1-BDAB-35D95326EC2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1861576000"/>
        <c:axId val="1861576416"/>
        <c:axId val="0"/>
      </c:bar3DChart>
      <c:catAx>
        <c:axId val="186157600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61576416"/>
        <c:crosses val="autoZero"/>
        <c:auto val="1"/>
        <c:lblAlgn val="ctr"/>
        <c:lblOffset val="100"/>
        <c:noMultiLvlLbl val="0"/>
      </c:catAx>
      <c:valAx>
        <c:axId val="1861576416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crossAx val="1861576000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accent4">
        <a:lumMod val="20000"/>
        <a:lumOff val="80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33800304114886814"/>
          <c:y val="6.1734669076543035E-2"/>
          <c:w val="0.62939154850025614"/>
          <c:h val="0.74814994851761674"/>
        </c:manualLayout>
      </c:layout>
      <c:bar3DChart>
        <c:barDir val="bar"/>
        <c:grouping val="clustered"/>
        <c:varyColors val="0"/>
        <c:ser>
          <c:idx val="1"/>
          <c:order val="0"/>
          <c:tx>
            <c:v>Q3</c:v>
          </c:tx>
          <c:spPr>
            <a:solidFill>
              <a:srgbClr val="FFC000"/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0"/>
                  <c:y val="5.613126461061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2-B8E5-4DA9-97D1-BA4B88B0885B}"/>
                </c:ext>
              </c:extLst>
            </c:dLbl>
            <c:dLbl>
              <c:idx val="1"/>
              <c:layout>
                <c:manualLayout>
                  <c:x val="-5.9282564274320652E-3"/>
                  <c:y val="1.122448528664418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4-B8E5-4DA9-97D1-BA4B88B0885B}"/>
                </c:ext>
              </c:extLst>
            </c:dLbl>
            <c:dLbl>
              <c:idx val="2"/>
              <c:layout>
                <c:manualLayout>
                  <c:x val="-1.1856512854864021E-2"/>
                  <c:y val="5.612242643322145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7-B8E5-4DA9-97D1-BA4B88B0885B}"/>
                </c:ext>
              </c:extLst>
            </c:dLbl>
            <c:dLbl>
              <c:idx val="3"/>
              <c:layout>
                <c:manualLayout>
                  <c:x val="-5.9282564274320652E-3"/>
                  <c:y val="1.122581101325284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9-B8E5-4DA9-97D1-BA4B88B0885B}"/>
                </c:ext>
              </c:extLst>
            </c:dLbl>
            <c:dLbl>
              <c:idx val="4"/>
              <c:layout>
                <c:manualLayout>
                  <c:x val="-8.8923846411479348E-3"/>
                  <c:y val="5.612242643322145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A-B8E5-4DA9-97D1-BA4B88B0885B}"/>
                </c:ext>
              </c:extLst>
            </c:dLbl>
            <c:dLbl>
              <c:idx val="5"/>
              <c:layout>
                <c:manualLayout>
                  <c:x val="0"/>
                  <c:y val="1.122536910438329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B-B8E5-4DA9-97D1-BA4B88B0885B}"/>
                </c:ext>
              </c:extLst>
            </c:dLbl>
            <c:dLbl>
              <c:idx val="6"/>
              <c:layout>
                <c:manualLayout>
                  <c:x val="-1.1856512854863912E-2"/>
                  <c:y val="5.612684552191749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E-B8E5-4DA9-97D1-BA4B88B0885B}"/>
                </c:ext>
              </c:extLst>
            </c:dLbl>
            <c:dLbl>
              <c:idx val="7"/>
              <c:layout>
                <c:manualLayout>
                  <c:x val="-5.4341722824573704E-17"/>
                  <c:y val="1.122448528664418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10-B8E5-4DA9-97D1-BA4B88B0885B}"/>
                </c:ext>
              </c:extLst>
            </c:dLbl>
            <c:dLbl>
              <c:idx val="8"/>
              <c:layout>
                <c:manualLayout>
                  <c:x val="-2.9641282137160326E-3"/>
                  <c:y val="1.12258110132529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12-B8E5-4DA9-97D1-BA4B88B0885B}"/>
                </c:ext>
              </c:extLst>
            </c:dLbl>
            <c:dLbl>
              <c:idx val="9"/>
              <c:layout>
                <c:manualLayout>
                  <c:x val="-2.964128213715978E-3"/>
                  <c:y val="5.612684552191647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14-B8E5-4DA9-97D1-BA4B88B0885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'2025 Q1 vs Q3'!$I$40:$I$49</c:f>
              <c:strCache>
                <c:ptCount val="10"/>
                <c:pt idx="0">
                  <c:v>PHIL SAVINGS BANK</c:v>
                </c:pt>
                <c:pt idx="1">
                  <c:v>CHINA BANK SAVINGS</c:v>
                </c:pt>
                <c:pt idx="2">
                  <c:v>CITY SAVINGS BANK</c:v>
                </c:pt>
                <c:pt idx="3">
                  <c:v>PHIL BUSINESS BANK</c:v>
                </c:pt>
                <c:pt idx="4">
                  <c:v>BDO NETWORK BANK INC</c:v>
                </c:pt>
                <c:pt idx="5">
                  <c:v>STERLING BANK OF ASIA</c:v>
                </c:pt>
                <c:pt idx="6">
                  <c:v>BPI DIRECT BANKO</c:v>
                </c:pt>
                <c:pt idx="7">
                  <c:v>BANK OF MAKATI</c:v>
                </c:pt>
                <c:pt idx="8">
                  <c:v>PRODUCERS SAVINGS BANK</c:v>
                </c:pt>
                <c:pt idx="9">
                  <c:v>FIRST CONSOLIDATED BANK</c:v>
                </c:pt>
              </c:strCache>
            </c:strRef>
          </c:cat>
          <c:val>
            <c:numRef>
              <c:f>'2025 Q1 vs Q3'!$M$40:$M$49</c:f>
              <c:numCache>
                <c:formatCode>#,##0</c:formatCode>
                <c:ptCount val="10"/>
                <c:pt idx="0">
                  <c:v>154492.91</c:v>
                </c:pt>
                <c:pt idx="1">
                  <c:v>152502.18</c:v>
                </c:pt>
                <c:pt idx="2">
                  <c:v>123115.35</c:v>
                </c:pt>
                <c:pt idx="3">
                  <c:v>119996.33</c:v>
                </c:pt>
                <c:pt idx="4">
                  <c:v>116002.3</c:v>
                </c:pt>
                <c:pt idx="5">
                  <c:v>52933.17</c:v>
                </c:pt>
                <c:pt idx="6">
                  <c:v>41283.65</c:v>
                </c:pt>
                <c:pt idx="7">
                  <c:v>39041.57</c:v>
                </c:pt>
                <c:pt idx="8">
                  <c:v>32159.4</c:v>
                </c:pt>
                <c:pt idx="9">
                  <c:v>20193.04</c:v>
                </c:pt>
              </c:numCache>
            </c:numRef>
          </c:val>
          <c:shape val="cylinder"/>
          <c:extLst>
            <c:ext xmlns:c16="http://schemas.microsoft.com/office/drawing/2014/chart" uri="{C3380CC4-5D6E-409C-BE32-E72D297353CC}">
              <c16:uniqueId val="{00000000-B8E5-4DA9-97D1-BA4B88B0885B}"/>
            </c:ext>
          </c:extLst>
        </c:ser>
        <c:ser>
          <c:idx val="0"/>
          <c:order val="1"/>
          <c:tx>
            <c:v>Q1</c:v>
          </c:tx>
          <c:spPr>
            <a:solidFill>
              <a:srgbClr val="002060"/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-5.9282564274318475E-3"/>
                  <c:y val="1.2861240816795058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B8E5-4DA9-97D1-BA4B88B0885B}"/>
                </c:ext>
              </c:extLst>
            </c:dLbl>
            <c:dLbl>
              <c:idx val="1"/>
              <c:layout>
                <c:manualLayout>
                  <c:x val="-5.9282564274320652E-3"/>
                  <c:y val="2.5722481633590116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5-B8E5-4DA9-97D1-BA4B88B0885B}"/>
                </c:ext>
              </c:extLst>
            </c:dLbl>
            <c:dLbl>
              <c:idx val="2"/>
              <c:layout>
                <c:manualLayout>
                  <c:x val="-8.8923846411480423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6-B8E5-4DA9-97D1-BA4B88B0885B}"/>
                </c:ext>
              </c:extLst>
            </c:dLbl>
            <c:dLbl>
              <c:idx val="3"/>
              <c:layout>
                <c:manualLayout>
                  <c:x val="-1.1856512854863912E-2"/>
                  <c:y val="1.3257266086587623E-6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8-B8E5-4DA9-97D1-BA4B88B0885B}"/>
                </c:ext>
              </c:extLst>
            </c:dLbl>
            <c:dLbl>
              <c:idx val="5"/>
              <c:layout>
                <c:manualLayout>
                  <c:x val="-5.928256427431956E-3"/>
                  <c:y val="5.1444963267180232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C-B8E5-4DA9-97D1-BA4B88B0885B}"/>
                </c:ext>
              </c:extLst>
            </c:dLbl>
            <c:dLbl>
              <c:idx val="6"/>
              <c:layout>
                <c:manualLayout>
                  <c:x val="-5.4341722824573704E-17"/>
                  <c:y val="4.419088696558107E-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D-B8E5-4DA9-97D1-BA4B88B0885B}"/>
                </c:ext>
              </c:extLst>
            </c:dLbl>
            <c:dLbl>
              <c:idx val="7"/>
              <c:layout>
                <c:manualLayout>
                  <c:x val="-1.1856512854863858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F-B8E5-4DA9-97D1-BA4B88B0885B}"/>
                </c:ext>
              </c:extLst>
            </c:dLbl>
            <c:dLbl>
              <c:idx val="8"/>
              <c:layout>
                <c:manualLayout>
                  <c:x val="-1.1856512854863967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11-B8E5-4DA9-97D1-BA4B88B0885B}"/>
                </c:ext>
              </c:extLst>
            </c:dLbl>
            <c:dLbl>
              <c:idx val="9"/>
              <c:layout>
                <c:manualLayout>
                  <c:x val="-1.1856512854863912E-2"/>
                  <c:y val="-5.612242643322094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13-B8E5-4DA9-97D1-BA4B88B0885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'2025 Q1 vs Q3'!$I$40:$I$49</c:f>
              <c:strCache>
                <c:ptCount val="10"/>
                <c:pt idx="0">
                  <c:v>PHIL SAVINGS BANK</c:v>
                </c:pt>
                <c:pt idx="1">
                  <c:v>CHINA BANK SAVINGS</c:v>
                </c:pt>
                <c:pt idx="2">
                  <c:v>CITY SAVINGS BANK</c:v>
                </c:pt>
                <c:pt idx="3">
                  <c:v>PHIL BUSINESS BANK</c:v>
                </c:pt>
                <c:pt idx="4">
                  <c:v>BDO NETWORK BANK INC</c:v>
                </c:pt>
                <c:pt idx="5">
                  <c:v>STERLING BANK OF ASIA</c:v>
                </c:pt>
                <c:pt idx="6">
                  <c:v>BPI DIRECT BANKO</c:v>
                </c:pt>
                <c:pt idx="7">
                  <c:v>BANK OF MAKATI</c:v>
                </c:pt>
                <c:pt idx="8">
                  <c:v>PRODUCERS SAVINGS BANK</c:v>
                </c:pt>
                <c:pt idx="9">
                  <c:v>FIRST CONSOLIDATED BANK</c:v>
                </c:pt>
              </c:strCache>
            </c:strRef>
          </c:cat>
          <c:val>
            <c:numRef>
              <c:f>'2025 Q1 vs Q3'!$J$40:$J$49</c:f>
              <c:numCache>
                <c:formatCode>#,##0</c:formatCode>
                <c:ptCount val="10"/>
                <c:pt idx="0">
                  <c:v>154426.26</c:v>
                </c:pt>
                <c:pt idx="1">
                  <c:v>143611.69</c:v>
                </c:pt>
                <c:pt idx="2">
                  <c:v>105030.03</c:v>
                </c:pt>
                <c:pt idx="3">
                  <c:v>121748.11</c:v>
                </c:pt>
                <c:pt idx="5">
                  <c:v>46342.23</c:v>
                </c:pt>
                <c:pt idx="6">
                  <c:v>42385.88</c:v>
                </c:pt>
                <c:pt idx="7">
                  <c:v>36500.39</c:v>
                </c:pt>
                <c:pt idx="8">
                  <c:v>29263.21</c:v>
                </c:pt>
                <c:pt idx="9">
                  <c:v>19954.59</c:v>
                </c:pt>
              </c:numCache>
            </c:numRef>
          </c:val>
          <c:shape val="cylinder"/>
          <c:extLst>
            <c:ext xmlns:c16="http://schemas.microsoft.com/office/drawing/2014/chart" uri="{C3380CC4-5D6E-409C-BE32-E72D297353CC}">
              <c16:uniqueId val="{00000001-B8E5-4DA9-97D1-BA4B88B0885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1861566432"/>
        <c:axId val="1861556032"/>
        <c:axId val="0"/>
      </c:bar3DChart>
      <c:catAx>
        <c:axId val="1861566432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61556032"/>
        <c:crosses val="autoZero"/>
        <c:auto val="1"/>
        <c:lblAlgn val="ctr"/>
        <c:lblOffset val="100"/>
        <c:noMultiLvlLbl val="0"/>
      </c:catAx>
      <c:valAx>
        <c:axId val="1861556032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crossAx val="1861566432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DEEBF7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bar"/>
        <c:grouping val="clustered"/>
        <c:varyColors val="0"/>
        <c:ser>
          <c:idx val="0"/>
          <c:order val="0"/>
          <c:tx>
            <c:v>Q1</c:v>
          </c:tx>
          <c:spPr>
            <a:solidFill>
              <a:srgbClr val="002060"/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-8.7216109845600544E-3"/>
                  <c:y val="5.838438902575656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14-C37E-4FFF-BF9F-B0749A5EC69D}"/>
                </c:ext>
              </c:extLst>
            </c:dLbl>
            <c:dLbl>
              <c:idx val="1"/>
              <c:layout>
                <c:manualLayout>
                  <c:x val="-1.4536018307600056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12-C37E-4FFF-BF9F-B0749A5EC69D}"/>
                </c:ext>
              </c:extLst>
            </c:dLbl>
            <c:dLbl>
              <c:idx val="2"/>
              <c:layout>
                <c:manualLayout>
                  <c:x val="-8.7216109845600544E-3"/>
                  <c:y val="5.838438902575762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10-C37E-4FFF-BF9F-B0749A5EC69D}"/>
                </c:ext>
              </c:extLst>
            </c:dLbl>
            <c:dLbl>
              <c:idx val="3"/>
              <c:layout>
                <c:manualLayout>
                  <c:x val="-2.9072036615200004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E-C37E-4FFF-BF9F-B0749A5EC69D}"/>
                </c:ext>
              </c:extLst>
            </c:dLbl>
            <c:dLbl>
              <c:idx val="4"/>
              <c:layout>
                <c:manualLayout>
                  <c:x val="-2.9072036615200004E-3"/>
                  <c:y val="5.838438902575709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C-C37E-4FFF-BF9F-B0749A5EC69D}"/>
                </c:ext>
              </c:extLst>
            </c:dLbl>
            <c:dLbl>
              <c:idx val="6"/>
              <c:layout>
                <c:manualLayout>
                  <c:x val="-1.1628814646080001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9-C37E-4FFF-BF9F-B0749A5EC69D}"/>
                </c:ext>
              </c:extLst>
            </c:dLbl>
            <c:dLbl>
              <c:idx val="7"/>
              <c:layout>
                <c:manualLayout>
                  <c:x val="-8.7216109845600024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6-C37E-4FFF-BF9F-B0749A5EC69D}"/>
                </c:ext>
              </c:extLst>
            </c:dLbl>
            <c:dLbl>
              <c:idx val="8"/>
              <c:layout>
                <c:manualLayout>
                  <c:x val="-1.0659623618025012E-16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5-C37E-4FFF-BF9F-B0749A5EC69D}"/>
                </c:ext>
              </c:extLst>
            </c:dLbl>
            <c:dLbl>
              <c:idx val="9"/>
              <c:layout>
                <c:manualLayout>
                  <c:x val="-8.7216109845601082E-3"/>
                  <c:y val="5.838438902575762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C37E-4FFF-BF9F-B0749A5EC69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'2025 Q1 vs Q3'!$I$58:$I$67</c:f>
              <c:strCache>
                <c:ptCount val="10"/>
                <c:pt idx="0">
                  <c:v>STERLING BANK OF ASIA</c:v>
                </c:pt>
                <c:pt idx="1">
                  <c:v>PRODUCERS SAVINGS BANK</c:v>
                </c:pt>
                <c:pt idx="2">
                  <c:v>FIRST CONSOLIDATED BANK</c:v>
                </c:pt>
                <c:pt idx="3">
                  <c:v>BPI DIRECT BANKO</c:v>
                </c:pt>
                <c:pt idx="4">
                  <c:v>BANK OF MAKATI</c:v>
                </c:pt>
                <c:pt idx="5">
                  <c:v>BDO NETWORK BANK INC</c:v>
                </c:pt>
                <c:pt idx="6">
                  <c:v>PHIL BUSINESS BANK</c:v>
                </c:pt>
                <c:pt idx="7">
                  <c:v>CHINA BANK SAVINGS</c:v>
                </c:pt>
                <c:pt idx="8">
                  <c:v>CITY SAVINGS BANK</c:v>
                </c:pt>
                <c:pt idx="9">
                  <c:v>PHIL SAVINGS BANK</c:v>
                </c:pt>
              </c:strCache>
            </c:strRef>
          </c:cat>
          <c:val>
            <c:numRef>
              <c:f>'2025 Q1 vs Q3'!$J$58:$J$67</c:f>
              <c:numCache>
                <c:formatCode>#,##0</c:formatCode>
                <c:ptCount val="10"/>
                <c:pt idx="0">
                  <c:v>5144.34</c:v>
                </c:pt>
                <c:pt idx="1">
                  <c:v>6807.42</c:v>
                </c:pt>
                <c:pt idx="2">
                  <c:v>7760.45</c:v>
                </c:pt>
                <c:pt idx="3">
                  <c:v>8989.56</c:v>
                </c:pt>
                <c:pt idx="4">
                  <c:v>18034.79</c:v>
                </c:pt>
                <c:pt idx="6">
                  <c:v>20084.830000000002</c:v>
                </c:pt>
                <c:pt idx="7">
                  <c:v>19268.919999999998</c:v>
                </c:pt>
                <c:pt idx="8">
                  <c:v>21625.84</c:v>
                </c:pt>
                <c:pt idx="9">
                  <c:v>43676.29</c:v>
                </c:pt>
              </c:numCache>
            </c:numRef>
          </c:val>
          <c:shape val="cylinder"/>
          <c:extLst>
            <c:ext xmlns:c16="http://schemas.microsoft.com/office/drawing/2014/chart" uri="{C3380CC4-5D6E-409C-BE32-E72D297353CC}">
              <c16:uniqueId val="{00000000-C37E-4FFF-BF9F-B0749A5EC69D}"/>
            </c:ext>
          </c:extLst>
        </c:ser>
        <c:ser>
          <c:idx val="1"/>
          <c:order val="1"/>
          <c:tx>
            <c:v>Q3</c:v>
          </c:tx>
          <c:spPr>
            <a:solidFill>
              <a:srgbClr val="FFC000"/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-5.8144073230400545E-3"/>
                  <c:y val="-1.167687780515152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13-C37E-4FFF-BF9F-B0749A5EC69D}"/>
                </c:ext>
              </c:extLst>
            </c:dLbl>
            <c:dLbl>
              <c:idx val="1"/>
              <c:layout>
                <c:manualLayout>
                  <c:x val="-1.1628814646080001E-2"/>
                  <c:y val="-1.167687780515152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11-C37E-4FFF-BF9F-B0749A5EC69D}"/>
                </c:ext>
              </c:extLst>
            </c:dLbl>
            <c:dLbl>
              <c:idx val="2"/>
              <c:layout>
                <c:manualLayout>
                  <c:x val="-8.7216109845600544E-3"/>
                  <c:y val="-1.167687780515152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F-C37E-4FFF-BF9F-B0749A5EC69D}"/>
                </c:ext>
              </c:extLst>
            </c:dLbl>
            <c:dLbl>
              <c:idx val="3"/>
              <c:layout>
                <c:manualLayout>
                  <c:x val="-8.7216109845600544E-3"/>
                  <c:y val="-1.167687780515152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D-C37E-4FFF-BF9F-B0749A5EC69D}"/>
                </c:ext>
              </c:extLst>
            </c:dLbl>
            <c:dLbl>
              <c:idx val="4"/>
              <c:layout>
                <c:manualLayout>
                  <c:x val="-1.1628814646080001E-2"/>
                  <c:y val="-1.16768778051515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B-C37E-4FFF-BF9F-B0749A5EC69D}"/>
                </c:ext>
              </c:extLst>
            </c:dLbl>
            <c:dLbl>
              <c:idx val="5"/>
              <c:layout>
                <c:manualLayout>
                  <c:x val="-5.8144073230400007E-3"/>
                  <c:y val="-5.838438902575762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A-C37E-4FFF-BF9F-B0749A5EC69D}"/>
                </c:ext>
              </c:extLst>
            </c:dLbl>
            <c:dLbl>
              <c:idx val="6"/>
              <c:layout>
                <c:manualLayout>
                  <c:x val="-2.9072036615200004E-3"/>
                  <c:y val="-1.16768778051515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8-C37E-4FFF-BF9F-B0749A5EC69D}"/>
                </c:ext>
              </c:extLst>
            </c:dLbl>
            <c:dLbl>
              <c:idx val="7"/>
              <c:layout>
                <c:manualLayout>
                  <c:x val="-5.8144073230400007E-3"/>
                  <c:y val="-1.167687780515152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7-C37E-4FFF-BF9F-B0749A5EC69D}"/>
                </c:ext>
              </c:extLst>
            </c:dLbl>
            <c:dLbl>
              <c:idx val="8"/>
              <c:layout>
                <c:manualLayout>
                  <c:x val="-8.7216109845600024E-3"/>
                  <c:y val="-1.751531670772731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4-C37E-4FFF-BF9F-B0749A5EC69D}"/>
                </c:ext>
              </c:extLst>
            </c:dLbl>
            <c:dLbl>
              <c:idx val="9"/>
              <c:layout>
                <c:manualLayout>
                  <c:x val="-8.7216109845600024E-3"/>
                  <c:y val="-1.167687780515152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2-C37E-4FFF-BF9F-B0749A5EC69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'2025 Q1 vs Q3'!$I$58:$I$67</c:f>
              <c:strCache>
                <c:ptCount val="10"/>
                <c:pt idx="0">
                  <c:v>STERLING BANK OF ASIA</c:v>
                </c:pt>
                <c:pt idx="1">
                  <c:v>PRODUCERS SAVINGS BANK</c:v>
                </c:pt>
                <c:pt idx="2">
                  <c:v>FIRST CONSOLIDATED BANK</c:v>
                </c:pt>
                <c:pt idx="3">
                  <c:v>BPI DIRECT BANKO</c:v>
                </c:pt>
                <c:pt idx="4">
                  <c:v>BANK OF MAKATI</c:v>
                </c:pt>
                <c:pt idx="5">
                  <c:v>BDO NETWORK BANK INC</c:v>
                </c:pt>
                <c:pt idx="6">
                  <c:v>PHIL BUSINESS BANK</c:v>
                </c:pt>
                <c:pt idx="7">
                  <c:v>CHINA BANK SAVINGS</c:v>
                </c:pt>
                <c:pt idx="8">
                  <c:v>CITY SAVINGS BANK</c:v>
                </c:pt>
                <c:pt idx="9">
                  <c:v>PHIL SAVINGS BANK</c:v>
                </c:pt>
              </c:strCache>
            </c:strRef>
          </c:cat>
          <c:val>
            <c:numRef>
              <c:f>'2025 Q1 vs Q3'!$M$58:$M$67</c:f>
              <c:numCache>
                <c:formatCode>#,##0</c:formatCode>
                <c:ptCount val="10"/>
                <c:pt idx="0">
                  <c:v>5526.06</c:v>
                </c:pt>
                <c:pt idx="1">
                  <c:v>7563.36</c:v>
                </c:pt>
                <c:pt idx="2">
                  <c:v>8173.57</c:v>
                </c:pt>
                <c:pt idx="3">
                  <c:v>10342.33</c:v>
                </c:pt>
                <c:pt idx="4">
                  <c:v>16959.18</c:v>
                </c:pt>
                <c:pt idx="5">
                  <c:v>17901.400000000001</c:v>
                </c:pt>
                <c:pt idx="6">
                  <c:v>20794.189999999999</c:v>
                </c:pt>
                <c:pt idx="7">
                  <c:v>21095.84</c:v>
                </c:pt>
                <c:pt idx="8">
                  <c:v>21316.81</c:v>
                </c:pt>
                <c:pt idx="9">
                  <c:v>44729.74</c:v>
                </c:pt>
              </c:numCache>
            </c:numRef>
          </c:val>
          <c:shape val="cylinder"/>
          <c:extLst>
            <c:ext xmlns:c16="http://schemas.microsoft.com/office/drawing/2014/chart" uri="{C3380CC4-5D6E-409C-BE32-E72D297353CC}">
              <c16:uniqueId val="{00000001-C37E-4FFF-BF9F-B0749A5EC69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1861565600"/>
        <c:axId val="1861559776"/>
        <c:axId val="0"/>
      </c:bar3DChart>
      <c:catAx>
        <c:axId val="186156560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61559776"/>
        <c:crosses val="autoZero"/>
        <c:auto val="1"/>
        <c:lblAlgn val="ctr"/>
        <c:lblOffset val="100"/>
        <c:noMultiLvlLbl val="0"/>
      </c:catAx>
      <c:valAx>
        <c:axId val="1861559776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crossAx val="18615656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accent4">
        <a:lumMod val="20000"/>
        <a:lumOff val="80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bar"/>
        <c:grouping val="clustered"/>
        <c:varyColors val="0"/>
        <c:ser>
          <c:idx val="1"/>
          <c:order val="0"/>
          <c:tx>
            <c:v>Q3</c:v>
          </c:tx>
          <c:spPr>
            <a:solidFill>
              <a:srgbClr val="FFC000"/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-8.9247774778906785E-3"/>
                  <c:y val="2.313143358791070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1377-4005-AEF5-DBF5FF9A56FB}"/>
                </c:ext>
              </c:extLst>
            </c:dLbl>
            <c:dLbl>
              <c:idx val="1"/>
              <c:layout>
                <c:manualLayout>
                  <c:x val="-2.9749258259635599E-3"/>
                  <c:y val="5.783199897640894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6-1377-4005-AEF5-DBF5FF9A56FB}"/>
                </c:ext>
              </c:extLst>
            </c:dLbl>
            <c:dLbl>
              <c:idx val="2"/>
              <c:layout>
                <c:manualLayout>
                  <c:x val="-5.9498516519271199E-3"/>
                  <c:y val="1.734868902448744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8-1377-4005-AEF5-DBF5FF9A56FB}"/>
                </c:ext>
              </c:extLst>
            </c:dLbl>
            <c:dLbl>
              <c:idx val="3"/>
              <c:layout>
                <c:manualLayout>
                  <c:x val="-8.9247774778906785E-3"/>
                  <c:y val="1.734823369026982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A-1377-4005-AEF5-DBF5FF9A56FB}"/>
                </c:ext>
              </c:extLst>
            </c:dLbl>
            <c:dLbl>
              <c:idx val="5"/>
              <c:layout>
                <c:manualLayout>
                  <c:x val="0"/>
                  <c:y val="1.156548912684665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B-1377-4005-AEF5-DBF5FF9A56FB}"/>
                </c:ext>
              </c:extLst>
            </c:dLbl>
            <c:dLbl>
              <c:idx val="6"/>
              <c:layout>
                <c:manualLayout>
                  <c:x val="-2.9749258259635599E-3"/>
                  <c:y val="1.156548912684665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E-1377-4005-AEF5-DBF5FF9A56FB}"/>
                </c:ext>
              </c:extLst>
            </c:dLbl>
            <c:dLbl>
              <c:idx val="7"/>
              <c:layout>
                <c:manualLayout>
                  <c:x val="-2.9749258259636141E-3"/>
                  <c:y val="1.156594446106424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10-1377-4005-AEF5-DBF5FF9A56FB}"/>
                </c:ext>
              </c:extLst>
            </c:dLbl>
            <c:dLbl>
              <c:idx val="8"/>
              <c:layout>
                <c:manualLayout>
                  <c:x val="-5.4539676762331919E-17"/>
                  <c:y val="1.15654891268465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12-1377-4005-AEF5-DBF5FF9A56FB}"/>
                </c:ext>
              </c:extLst>
            </c:dLbl>
            <c:dLbl>
              <c:idx val="9"/>
              <c:layout>
                <c:manualLayout>
                  <c:x val="-2.9749258259636141E-3"/>
                  <c:y val="1.156639979528173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13-1377-4005-AEF5-DBF5FF9A56F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'2025 Q1 vs Q3'!$I$23:$I$32</c:f>
              <c:strCache>
                <c:ptCount val="10"/>
                <c:pt idx="0">
                  <c:v>PHIL SAVINGS BANK</c:v>
                </c:pt>
                <c:pt idx="1">
                  <c:v>CHINA BANK SAVINGS</c:v>
                </c:pt>
                <c:pt idx="2">
                  <c:v>CITY SAVINGS BANK</c:v>
                </c:pt>
                <c:pt idx="3">
                  <c:v>PHIL BUSINESS BANK</c:v>
                </c:pt>
                <c:pt idx="4">
                  <c:v>BDO NETWORK BANK INC</c:v>
                </c:pt>
                <c:pt idx="5">
                  <c:v>STERLING BANK OF ASIA</c:v>
                </c:pt>
                <c:pt idx="6">
                  <c:v>BPI DIRECT BANKO</c:v>
                </c:pt>
                <c:pt idx="7">
                  <c:v>BANK OF MAKATI</c:v>
                </c:pt>
                <c:pt idx="8">
                  <c:v>PRODUCERS SAVINGS BANK</c:v>
                </c:pt>
                <c:pt idx="9">
                  <c:v>FIRST CONSOLIDATED BANK</c:v>
                </c:pt>
              </c:strCache>
            </c:strRef>
          </c:cat>
          <c:val>
            <c:numRef>
              <c:f>'2025 Q1 vs Q3'!$M$23:$M$32</c:f>
              <c:numCache>
                <c:formatCode>#,##0</c:formatCode>
                <c:ptCount val="10"/>
                <c:pt idx="0">
                  <c:v>220919.27</c:v>
                </c:pt>
                <c:pt idx="1">
                  <c:v>212063.44</c:v>
                </c:pt>
                <c:pt idx="2">
                  <c:v>167867.51</c:v>
                </c:pt>
                <c:pt idx="3">
                  <c:v>164937.5</c:v>
                </c:pt>
                <c:pt idx="4">
                  <c:v>144360.10999999999</c:v>
                </c:pt>
                <c:pt idx="5">
                  <c:v>67468.97</c:v>
                </c:pt>
                <c:pt idx="6">
                  <c:v>59123.29</c:v>
                </c:pt>
                <c:pt idx="7">
                  <c:v>57466.75</c:v>
                </c:pt>
                <c:pt idx="8">
                  <c:v>42366.84</c:v>
                </c:pt>
                <c:pt idx="9">
                  <c:v>30453.37</c:v>
                </c:pt>
              </c:numCache>
            </c:numRef>
          </c:val>
          <c:shape val="cylinder"/>
          <c:extLst>
            <c:ext xmlns:c16="http://schemas.microsoft.com/office/drawing/2014/chart" uri="{C3380CC4-5D6E-409C-BE32-E72D297353CC}">
              <c16:uniqueId val="{00000000-1377-4005-AEF5-DBF5FF9A56FB}"/>
            </c:ext>
          </c:extLst>
        </c:ser>
        <c:ser>
          <c:idx val="0"/>
          <c:order val="1"/>
          <c:tx>
            <c:v>Q1</c:v>
          </c:tx>
          <c:spPr>
            <a:solidFill>
              <a:srgbClr val="002060"/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-8.9247774778908971E-3"/>
                  <c:y val="2.6503939739916469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4-1377-4005-AEF5-DBF5FF9A56FB}"/>
                </c:ext>
              </c:extLst>
            </c:dLbl>
            <c:dLbl>
              <c:idx val="1"/>
              <c:layout>
                <c:manualLayout>
                  <c:x val="-8.9247774778906785E-3"/>
                  <c:y val="4.5533421759238391E-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5-1377-4005-AEF5-DBF5FF9A56FB}"/>
                </c:ext>
              </c:extLst>
            </c:dLbl>
            <c:dLbl>
              <c:idx val="2"/>
              <c:layout>
                <c:manualLayout>
                  <c:x val="-8.9247774778906785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7-1377-4005-AEF5-DBF5FF9A56FB}"/>
                </c:ext>
              </c:extLst>
            </c:dLbl>
            <c:dLbl>
              <c:idx val="3"/>
              <c:layout>
                <c:manualLayout>
                  <c:x val="-1.189970330385424E-2"/>
                  <c:y val="4.5533421764539176E-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9-1377-4005-AEF5-DBF5FF9A56FB}"/>
                </c:ext>
              </c:extLst>
            </c:dLbl>
            <c:dLbl>
              <c:idx val="5"/>
              <c:layout>
                <c:manualLayout>
                  <c:x val="-5.9498516519271736E-3"/>
                  <c:y val="5.3007879479832937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C-1377-4005-AEF5-DBF5FF9A56FB}"/>
                </c:ext>
              </c:extLst>
            </c:dLbl>
            <c:dLbl>
              <c:idx val="6"/>
              <c:layout>
                <c:manualLayout>
                  <c:x val="-1.1899703303854293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D-1377-4005-AEF5-DBF5FF9A56FB}"/>
                </c:ext>
              </c:extLst>
            </c:dLbl>
            <c:dLbl>
              <c:idx val="7"/>
              <c:layout>
                <c:manualLayout>
                  <c:x val="-1.1899703303854184E-2"/>
                  <c:y val="4.5533421759238391E-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F-1377-4005-AEF5-DBF5FF9A56FB}"/>
                </c:ext>
              </c:extLst>
            </c:dLbl>
            <c:dLbl>
              <c:idx val="8"/>
              <c:layout>
                <c:manualLayout>
                  <c:x val="-1.1899703303854293E-2"/>
                  <c:y val="4.5533421769839967E-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11-1377-4005-AEF5-DBF5FF9A56FB}"/>
                </c:ext>
              </c:extLst>
            </c:dLbl>
            <c:dLbl>
              <c:idx val="9"/>
              <c:layout>
                <c:manualLayout>
                  <c:x val="-1.189970330385424E-2"/>
                  <c:y val="-5.781833894987984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2-1377-4005-AEF5-DBF5FF9A56F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'2025 Q1 vs Q3'!$I$23:$I$32</c:f>
              <c:strCache>
                <c:ptCount val="10"/>
                <c:pt idx="0">
                  <c:v>PHIL SAVINGS BANK</c:v>
                </c:pt>
                <c:pt idx="1">
                  <c:v>CHINA BANK SAVINGS</c:v>
                </c:pt>
                <c:pt idx="2">
                  <c:v>CITY SAVINGS BANK</c:v>
                </c:pt>
                <c:pt idx="3">
                  <c:v>PHIL BUSINESS BANK</c:v>
                </c:pt>
                <c:pt idx="4">
                  <c:v>BDO NETWORK BANK INC</c:v>
                </c:pt>
                <c:pt idx="5">
                  <c:v>STERLING BANK OF ASIA</c:v>
                </c:pt>
                <c:pt idx="6">
                  <c:v>BPI DIRECT BANKO</c:v>
                </c:pt>
                <c:pt idx="7">
                  <c:v>BANK OF MAKATI</c:v>
                </c:pt>
                <c:pt idx="8">
                  <c:v>PRODUCERS SAVINGS BANK</c:v>
                </c:pt>
                <c:pt idx="9">
                  <c:v>FIRST CONSOLIDATED BANK</c:v>
                </c:pt>
              </c:strCache>
            </c:strRef>
          </c:cat>
          <c:val>
            <c:numRef>
              <c:f>'2025 Q1 vs Q3'!$J$23:$J$32</c:f>
              <c:numCache>
                <c:formatCode>#,##0</c:formatCode>
                <c:ptCount val="10"/>
                <c:pt idx="0">
                  <c:v>220559.48</c:v>
                </c:pt>
                <c:pt idx="1">
                  <c:v>194961.41</c:v>
                </c:pt>
                <c:pt idx="2">
                  <c:v>153876.9</c:v>
                </c:pt>
                <c:pt idx="3">
                  <c:v>161185.26999999999</c:v>
                </c:pt>
                <c:pt idx="5">
                  <c:v>60564.5</c:v>
                </c:pt>
                <c:pt idx="6">
                  <c:v>57361.64</c:v>
                </c:pt>
                <c:pt idx="7">
                  <c:v>53657.06</c:v>
                </c:pt>
                <c:pt idx="8">
                  <c:v>39142.28</c:v>
                </c:pt>
                <c:pt idx="9">
                  <c:v>29536.880000000001</c:v>
                </c:pt>
              </c:numCache>
            </c:numRef>
          </c:val>
          <c:shape val="cylinder"/>
          <c:extLst>
            <c:ext xmlns:c16="http://schemas.microsoft.com/office/drawing/2014/chart" uri="{C3380CC4-5D6E-409C-BE32-E72D297353CC}">
              <c16:uniqueId val="{00000001-1377-4005-AEF5-DBF5FF9A56F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1861570176"/>
        <c:axId val="1861573504"/>
        <c:axId val="0"/>
      </c:bar3DChart>
      <c:catAx>
        <c:axId val="1861570176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61573504"/>
        <c:crosses val="autoZero"/>
        <c:auto val="1"/>
        <c:lblAlgn val="ctr"/>
        <c:lblOffset val="100"/>
        <c:noMultiLvlLbl val="0"/>
      </c:catAx>
      <c:valAx>
        <c:axId val="1861573504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crossAx val="1861570176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DEEBF7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32438626078417948"/>
          <c:y val="6.1244584654746255E-2"/>
          <c:w val="0.65497682699930249"/>
          <c:h val="0.75014927545508192"/>
        </c:manualLayout>
      </c:layout>
      <c:bar3DChart>
        <c:barDir val="bar"/>
        <c:grouping val="clustered"/>
        <c:varyColors val="0"/>
        <c:ser>
          <c:idx val="1"/>
          <c:order val="0"/>
          <c:tx>
            <c:v>Q3</c:v>
          </c:tx>
          <c:spPr>
            <a:solidFill>
              <a:srgbClr val="FFC000"/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0"/>
                  <c:y val="1.113537902813569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2-E0C0-415F-BC36-3C9E2F80E6C6}"/>
                </c:ext>
              </c:extLst>
            </c:dLbl>
            <c:dLbl>
              <c:idx val="1"/>
              <c:layout>
                <c:manualLayout>
                  <c:x val="0"/>
                  <c:y val="5.567689514067841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E0C0-415F-BC36-3C9E2F80E6C6}"/>
                </c:ext>
              </c:extLst>
            </c:dLbl>
            <c:dLbl>
              <c:idx val="2"/>
              <c:layout>
                <c:manualLayout>
                  <c:x val="0"/>
                  <c:y val="1.113537902813568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4-E0C0-415F-BC36-3C9E2F80E6C6}"/>
                </c:ext>
              </c:extLst>
            </c:dLbl>
            <c:dLbl>
              <c:idx val="3"/>
              <c:layout>
                <c:manualLayout>
                  <c:x val="-5.4048431433074454E-17"/>
                  <c:y val="1.113537902813578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7-E0C0-415F-BC36-3C9E2F80E6C6}"/>
                </c:ext>
              </c:extLst>
            </c:dLbl>
            <c:dLbl>
              <c:idx val="4"/>
              <c:layout>
                <c:manualLayout>
                  <c:x val="-2.9481303166454995E-3"/>
                  <c:y val="5.567689514067841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9-E0C0-415F-BC36-3C9E2F80E6C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'2025 Q1 vs Q3'!$B$76:$B$80</c:f>
              <c:strCache>
                <c:ptCount val="5"/>
                <c:pt idx="0">
                  <c:v>PHIL BUSINESS BANK</c:v>
                </c:pt>
                <c:pt idx="1">
                  <c:v>STERLING BANK OF ASIA</c:v>
                </c:pt>
                <c:pt idx="2">
                  <c:v>BANK OF MAKATI</c:v>
                </c:pt>
                <c:pt idx="3">
                  <c:v>PRODUCERS SAVINGS BANK</c:v>
                </c:pt>
                <c:pt idx="4">
                  <c:v>FIRST CONSOLIDATED BANK</c:v>
                </c:pt>
              </c:strCache>
            </c:strRef>
          </c:cat>
          <c:val>
            <c:numRef>
              <c:f>'2025 Q1 vs Q3'!$G$76:$G$80</c:f>
              <c:numCache>
                <c:formatCode>#,##0</c:formatCode>
                <c:ptCount val="5"/>
                <c:pt idx="0">
                  <c:v>136356.04</c:v>
                </c:pt>
                <c:pt idx="1">
                  <c:v>59083.54</c:v>
                </c:pt>
                <c:pt idx="2">
                  <c:v>37522.269999999997</c:v>
                </c:pt>
                <c:pt idx="3">
                  <c:v>26163.11</c:v>
                </c:pt>
                <c:pt idx="4">
                  <c:v>20926.21</c:v>
                </c:pt>
              </c:numCache>
            </c:numRef>
          </c:val>
          <c:shape val="cylinder"/>
          <c:extLst>
            <c:ext xmlns:c16="http://schemas.microsoft.com/office/drawing/2014/chart" uri="{C3380CC4-5D6E-409C-BE32-E72D297353CC}">
              <c16:uniqueId val="{00000000-E0C0-415F-BC36-3C9E2F80E6C6}"/>
            </c:ext>
          </c:extLst>
        </c:ser>
        <c:ser>
          <c:idx val="0"/>
          <c:order val="1"/>
          <c:tx>
            <c:v>Q1</c:v>
          </c:tx>
          <c:spPr>
            <a:solidFill>
              <a:srgbClr val="002060"/>
            </a:solidFill>
            <a:ln>
              <a:noFill/>
            </a:ln>
            <a:effectLst/>
            <a:sp3d/>
          </c:spPr>
          <c:invertIfNegative val="0"/>
          <c:dLbls>
            <c:dLbl>
              <c:idx val="2"/>
              <c:layout>
                <c:manualLayout>
                  <c:x val="-2.9481303166454995E-3"/>
                  <c:y val="1.3152022474176003E-6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5-E0C0-415F-BC36-3C9E2F80E6C6}"/>
                </c:ext>
              </c:extLst>
            </c:dLbl>
            <c:dLbl>
              <c:idx val="3"/>
              <c:layout>
                <c:manualLayout>
                  <c:x val="-2.9481303166454457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6-E0C0-415F-BC36-3C9E2F80E6C6}"/>
                </c:ext>
              </c:extLst>
            </c:dLbl>
            <c:dLbl>
              <c:idx val="4"/>
              <c:layout>
                <c:manualLayout>
                  <c:x val="-8.8443909499363368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8-E0C0-415F-BC36-3C9E2F80E6C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'2025 Q1 vs Q3'!$B$76:$B$80</c:f>
              <c:strCache>
                <c:ptCount val="5"/>
                <c:pt idx="0">
                  <c:v>PHIL BUSINESS BANK</c:v>
                </c:pt>
                <c:pt idx="1">
                  <c:v>STERLING BANK OF ASIA</c:v>
                </c:pt>
                <c:pt idx="2">
                  <c:v>BANK OF MAKATI</c:v>
                </c:pt>
                <c:pt idx="3">
                  <c:v>PRODUCERS SAVINGS BANK</c:v>
                </c:pt>
                <c:pt idx="4">
                  <c:v>FIRST CONSOLIDATED BANK</c:v>
                </c:pt>
              </c:strCache>
            </c:strRef>
          </c:cat>
          <c:val>
            <c:numRef>
              <c:f>'2025 Q1 vs Q3'!$C$76:$C$80</c:f>
              <c:numCache>
                <c:formatCode>#,##0</c:formatCode>
                <c:ptCount val="5"/>
                <c:pt idx="0">
                  <c:v>130715.98</c:v>
                </c:pt>
                <c:pt idx="1">
                  <c:v>52139.78</c:v>
                </c:pt>
                <c:pt idx="2">
                  <c:v>33138.82</c:v>
                </c:pt>
                <c:pt idx="3">
                  <c:v>25439.29</c:v>
                </c:pt>
                <c:pt idx="4">
                  <c:v>20120.66</c:v>
                </c:pt>
              </c:numCache>
            </c:numRef>
          </c:val>
          <c:shape val="cylinder"/>
          <c:extLst>
            <c:ext xmlns:c16="http://schemas.microsoft.com/office/drawing/2014/chart" uri="{C3380CC4-5D6E-409C-BE32-E72D297353CC}">
              <c16:uniqueId val="{00000001-E0C0-415F-BC36-3C9E2F80E6C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1861561440"/>
        <c:axId val="1861564352"/>
        <c:axId val="0"/>
      </c:bar3DChart>
      <c:catAx>
        <c:axId val="186156144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61564352"/>
        <c:crosses val="autoZero"/>
        <c:auto val="1"/>
        <c:lblAlgn val="ctr"/>
        <c:lblOffset val="100"/>
        <c:noMultiLvlLbl val="0"/>
      </c:catAx>
      <c:valAx>
        <c:axId val="1861564352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crossAx val="1861561440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accent4">
        <a:lumMod val="20000"/>
        <a:lumOff val="80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bar"/>
        <c:grouping val="clustered"/>
        <c:varyColors val="0"/>
        <c:ser>
          <c:idx val="1"/>
          <c:order val="0"/>
          <c:tx>
            <c:v>Q3</c:v>
          </c:tx>
          <c:spPr>
            <a:solidFill>
              <a:srgbClr val="FFC000"/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-1.0157520916214737E-16"/>
                  <c:y val="1.112869990934929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2-1E04-472E-9264-F14E03198707}"/>
                </c:ext>
              </c:extLst>
            </c:dLbl>
            <c:dLbl>
              <c:idx val="1"/>
              <c:layout>
                <c:manualLayout>
                  <c:x val="5.5405299582344377E-3"/>
                  <c:y val="5.565226230258058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1E04-472E-9264-F14E03198707}"/>
                </c:ext>
              </c:extLst>
            </c:dLbl>
            <c:dLbl>
              <c:idx val="2"/>
              <c:layout>
                <c:manualLayout>
                  <c:x val="0"/>
                  <c:y val="5.564349954674645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4-1E04-472E-9264-F14E03198707}"/>
                </c:ext>
              </c:extLst>
            </c:dLbl>
            <c:dLbl>
              <c:idx val="3"/>
              <c:layout>
                <c:manualLayout>
                  <c:x val="0"/>
                  <c:y val="5.564349954674747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6-1E04-472E-9264-F14E03198707}"/>
                </c:ext>
              </c:extLst>
            </c:dLbl>
            <c:dLbl>
              <c:idx val="4"/>
              <c:layout>
                <c:manualLayout>
                  <c:x val="2.7702649791171681E-3"/>
                  <c:y val="5.564349954674747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8-1E04-472E-9264-F14E0319870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'2025 Q1 vs Q3'!$B$97:$B$101</c:f>
              <c:strCache>
                <c:ptCount val="5"/>
                <c:pt idx="0">
                  <c:v>PHIL BUSINESS BANK</c:v>
                </c:pt>
                <c:pt idx="1">
                  <c:v>STERLING BANK OF ASIA</c:v>
                </c:pt>
                <c:pt idx="2">
                  <c:v>BANK OF MAKATI</c:v>
                </c:pt>
                <c:pt idx="3">
                  <c:v>PRODUCERS SAVINGS BANK</c:v>
                </c:pt>
                <c:pt idx="4">
                  <c:v>FIRST CONSOLIDATED BANK</c:v>
                </c:pt>
              </c:strCache>
            </c:strRef>
          </c:cat>
          <c:val>
            <c:numRef>
              <c:f>'2025 Q1 vs Q3'!$G$97:$G$101</c:f>
              <c:numCache>
                <c:formatCode>#,##0</c:formatCode>
                <c:ptCount val="5"/>
                <c:pt idx="0">
                  <c:v>119996.33</c:v>
                </c:pt>
                <c:pt idx="1">
                  <c:v>52933.17</c:v>
                </c:pt>
                <c:pt idx="2">
                  <c:v>39041.57</c:v>
                </c:pt>
                <c:pt idx="3">
                  <c:v>32159.4</c:v>
                </c:pt>
                <c:pt idx="4">
                  <c:v>20193.04</c:v>
                </c:pt>
              </c:numCache>
            </c:numRef>
          </c:val>
          <c:shape val="cylinder"/>
          <c:extLst>
            <c:ext xmlns:c16="http://schemas.microsoft.com/office/drawing/2014/chart" uri="{C3380CC4-5D6E-409C-BE32-E72D297353CC}">
              <c16:uniqueId val="{00000000-1E04-472E-9264-F14E03198707}"/>
            </c:ext>
          </c:extLst>
        </c:ser>
        <c:ser>
          <c:idx val="0"/>
          <c:order val="1"/>
          <c:tx>
            <c:v>Q1</c:v>
          </c:tx>
          <c:spPr>
            <a:solidFill>
              <a:srgbClr val="002060"/>
            </a:solidFill>
            <a:ln>
              <a:noFill/>
            </a:ln>
            <a:effectLst/>
            <a:sp3d/>
          </c:spPr>
          <c:invertIfNegative val="0"/>
          <c:dLbls>
            <c:dLbl>
              <c:idx val="2"/>
              <c:layout>
                <c:manualLayout>
                  <c:x val="-5.5405299582344377E-3"/>
                  <c:y val="4.3813779175767093E-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5-1E04-472E-9264-F14E03198707}"/>
                </c:ext>
              </c:extLst>
            </c:dLbl>
            <c:dLbl>
              <c:idx val="3"/>
              <c:layout>
                <c:manualLayout>
                  <c:x val="-5.5405299582345401E-3"/>
                  <c:y val="4.3813779170666499E-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7-1E04-472E-9264-F14E0319870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'2025 Q1 vs Q3'!$B$97:$B$101</c:f>
              <c:strCache>
                <c:ptCount val="5"/>
                <c:pt idx="0">
                  <c:v>PHIL BUSINESS BANK</c:v>
                </c:pt>
                <c:pt idx="1">
                  <c:v>STERLING BANK OF ASIA</c:v>
                </c:pt>
                <c:pt idx="2">
                  <c:v>BANK OF MAKATI</c:v>
                </c:pt>
                <c:pt idx="3">
                  <c:v>PRODUCERS SAVINGS BANK</c:v>
                </c:pt>
                <c:pt idx="4">
                  <c:v>FIRST CONSOLIDATED BANK</c:v>
                </c:pt>
              </c:strCache>
            </c:strRef>
          </c:cat>
          <c:val>
            <c:numRef>
              <c:f>'2025 Q1 vs Q3'!$C$97:$C$101</c:f>
              <c:numCache>
                <c:formatCode>#,##0</c:formatCode>
                <c:ptCount val="5"/>
                <c:pt idx="0">
                  <c:v>121748.11</c:v>
                </c:pt>
                <c:pt idx="1">
                  <c:v>46342.23</c:v>
                </c:pt>
                <c:pt idx="2">
                  <c:v>36500.39</c:v>
                </c:pt>
                <c:pt idx="3">
                  <c:v>29263.21</c:v>
                </c:pt>
                <c:pt idx="4">
                  <c:v>19954.59</c:v>
                </c:pt>
              </c:numCache>
            </c:numRef>
          </c:val>
          <c:shape val="cylinder"/>
          <c:extLst>
            <c:ext xmlns:c16="http://schemas.microsoft.com/office/drawing/2014/chart" uri="{C3380CC4-5D6E-409C-BE32-E72D297353CC}">
              <c16:uniqueId val="{00000001-1E04-472E-9264-F14E0319870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1861582240"/>
        <c:axId val="1861588896"/>
        <c:axId val="0"/>
      </c:bar3DChart>
      <c:catAx>
        <c:axId val="186158224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61588896"/>
        <c:crosses val="autoZero"/>
        <c:auto val="1"/>
        <c:lblAlgn val="ctr"/>
        <c:lblOffset val="100"/>
        <c:noMultiLvlLbl val="0"/>
      </c:catAx>
      <c:valAx>
        <c:axId val="1861588896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crossAx val="1861582240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DEEBF7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bar"/>
        <c:grouping val="clustered"/>
        <c:varyColors val="0"/>
        <c:ser>
          <c:idx val="0"/>
          <c:order val="0"/>
          <c:tx>
            <c:v>Q1</c:v>
          </c:tx>
          <c:spPr>
            <a:solidFill>
              <a:srgbClr val="002060"/>
            </a:solidFill>
            <a:ln>
              <a:noFill/>
            </a:ln>
            <a:effectLst/>
            <a:sp3d/>
          </c:spPr>
          <c:invertIfNegative val="0"/>
          <c:dLbls>
            <c:dLbl>
              <c:idx val="1"/>
              <c:layout>
                <c:manualLayout>
                  <c:x val="-5.845922204584829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9-A265-4245-8468-BE3B4D30AE71}"/>
                </c:ext>
              </c:extLst>
            </c:dLbl>
            <c:dLbl>
              <c:idx val="2"/>
              <c:layout>
                <c:manualLayout>
                  <c:x val="-5.8459222045847224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7-A265-4245-8468-BE3B4D30AE71}"/>
                </c:ext>
              </c:extLst>
            </c:dLbl>
            <c:dLbl>
              <c:idx val="3"/>
              <c:layout>
                <c:manualLayout>
                  <c:x val="-5.845922204584829E-3"/>
                  <c:y val="-5.553585320343482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5-A265-4245-8468-BE3B4D30AE71}"/>
                </c:ext>
              </c:extLst>
            </c:dLbl>
            <c:dLbl>
              <c:idx val="4"/>
              <c:layout>
                <c:manualLayout>
                  <c:x val="0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A265-4245-8468-BE3B4D30AE7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'2025 Q1 vs Q3'!$I$108:$I$112</c:f>
              <c:strCache>
                <c:ptCount val="5"/>
                <c:pt idx="0">
                  <c:v>STERLING BANK OF ASIA</c:v>
                </c:pt>
                <c:pt idx="1">
                  <c:v>PRODUCERS SAVINGS BANK</c:v>
                </c:pt>
                <c:pt idx="2">
                  <c:v>FIRST CONSOLIDATED BANK</c:v>
                </c:pt>
                <c:pt idx="3">
                  <c:v>BANK OF MAKATI</c:v>
                </c:pt>
                <c:pt idx="4">
                  <c:v>PHIL BUSINESS BANK</c:v>
                </c:pt>
              </c:strCache>
            </c:strRef>
          </c:cat>
          <c:val>
            <c:numRef>
              <c:f>'2025 Q1 vs Q3'!$J$108:$J$112</c:f>
              <c:numCache>
                <c:formatCode>#,##0</c:formatCode>
                <c:ptCount val="5"/>
                <c:pt idx="0">
                  <c:v>5144.34</c:v>
                </c:pt>
                <c:pt idx="1">
                  <c:v>6807.42</c:v>
                </c:pt>
                <c:pt idx="2">
                  <c:v>7760.45</c:v>
                </c:pt>
                <c:pt idx="3">
                  <c:v>18034.79</c:v>
                </c:pt>
                <c:pt idx="4">
                  <c:v>20084.830000000002</c:v>
                </c:pt>
              </c:numCache>
            </c:numRef>
          </c:val>
          <c:shape val="cylinder"/>
          <c:extLst>
            <c:ext xmlns:c16="http://schemas.microsoft.com/office/drawing/2014/chart" uri="{C3380CC4-5D6E-409C-BE32-E72D297353CC}">
              <c16:uniqueId val="{00000000-A265-4245-8468-BE3B4D30AE71}"/>
            </c:ext>
          </c:extLst>
        </c:ser>
        <c:ser>
          <c:idx val="1"/>
          <c:order val="1"/>
          <c:tx>
            <c:v>Q3</c:v>
          </c:tx>
          <c:spPr>
            <a:solidFill>
              <a:srgbClr val="FFC000"/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-5.3587001167083043E-17"/>
                  <c:y val="-1.110717064068696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A-A265-4245-8468-BE3B4D30AE71}"/>
                </c:ext>
              </c:extLst>
            </c:dLbl>
            <c:dLbl>
              <c:idx val="1"/>
              <c:layout>
                <c:manualLayout>
                  <c:x val="-2.9229611022923612E-3"/>
                  <c:y val="-1.110717064068696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8-A265-4245-8468-BE3B4D30AE71}"/>
                </c:ext>
              </c:extLst>
            </c:dLbl>
            <c:dLbl>
              <c:idx val="2"/>
              <c:layout>
                <c:manualLayout>
                  <c:x val="0"/>
                  <c:y val="-1.110717064068696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6-A265-4245-8468-BE3B4D30AE71}"/>
                </c:ext>
              </c:extLst>
            </c:dLbl>
            <c:dLbl>
              <c:idx val="3"/>
              <c:layout>
                <c:manualLayout>
                  <c:x val="-5.8459222045847224E-3"/>
                  <c:y val="-1.666075596103049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4-A265-4245-8468-BE3B4D30AE71}"/>
                </c:ext>
              </c:extLst>
            </c:dLbl>
            <c:dLbl>
              <c:idx val="4"/>
              <c:layout>
                <c:manualLayout>
                  <c:x val="-2.9229611022922541E-3"/>
                  <c:y val="-1.666075596103044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2-A265-4245-8468-BE3B4D30AE7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'2025 Q1 vs Q3'!$I$108:$I$112</c:f>
              <c:strCache>
                <c:ptCount val="5"/>
                <c:pt idx="0">
                  <c:v>STERLING BANK OF ASIA</c:v>
                </c:pt>
                <c:pt idx="1">
                  <c:v>PRODUCERS SAVINGS BANK</c:v>
                </c:pt>
                <c:pt idx="2">
                  <c:v>FIRST CONSOLIDATED BANK</c:v>
                </c:pt>
                <c:pt idx="3">
                  <c:v>BANK OF MAKATI</c:v>
                </c:pt>
                <c:pt idx="4">
                  <c:v>PHIL BUSINESS BANK</c:v>
                </c:pt>
              </c:strCache>
            </c:strRef>
          </c:cat>
          <c:val>
            <c:numRef>
              <c:f>'2025 Q1 vs Q3'!$M$108:$M$112</c:f>
              <c:numCache>
                <c:formatCode>#,##0</c:formatCode>
                <c:ptCount val="5"/>
                <c:pt idx="0">
                  <c:v>5526.06</c:v>
                </c:pt>
                <c:pt idx="1">
                  <c:v>7563.36</c:v>
                </c:pt>
                <c:pt idx="2">
                  <c:v>8173.57</c:v>
                </c:pt>
                <c:pt idx="3">
                  <c:v>16959.18</c:v>
                </c:pt>
                <c:pt idx="4">
                  <c:v>20794.189999999999</c:v>
                </c:pt>
              </c:numCache>
            </c:numRef>
          </c:val>
          <c:shape val="cylinder"/>
          <c:extLst>
            <c:ext xmlns:c16="http://schemas.microsoft.com/office/drawing/2014/chart" uri="{C3380CC4-5D6E-409C-BE32-E72D297353CC}">
              <c16:uniqueId val="{00000001-A265-4245-8468-BE3B4D30AE7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1861602624"/>
        <c:axId val="1861596384"/>
        <c:axId val="0"/>
      </c:bar3DChart>
      <c:catAx>
        <c:axId val="186160262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61596384"/>
        <c:crosses val="autoZero"/>
        <c:auto val="1"/>
        <c:lblAlgn val="ctr"/>
        <c:lblOffset val="100"/>
        <c:noMultiLvlLbl val="0"/>
      </c:catAx>
      <c:valAx>
        <c:axId val="1861596384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crossAx val="18616026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accent4">
        <a:lumMod val="20000"/>
        <a:lumOff val="80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bar"/>
        <c:grouping val="clustered"/>
        <c:varyColors val="0"/>
        <c:ser>
          <c:idx val="1"/>
          <c:order val="0"/>
          <c:tx>
            <c:v>Q3</c:v>
          </c:tx>
          <c:spPr>
            <a:solidFill>
              <a:srgbClr val="FFC000"/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0"/>
                  <c:y val="1.108281855522385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2-9C03-4D73-9C7E-1BDCE6E4343E}"/>
                </c:ext>
              </c:extLst>
            </c:dLbl>
            <c:dLbl>
              <c:idx val="1"/>
              <c:layout>
                <c:manualLayout>
                  <c:x val="-2.7685215179521108E-3"/>
                  <c:y val="1.108238224096240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9C03-4D73-9C7E-1BDCE6E4343E}"/>
                </c:ext>
              </c:extLst>
            </c:dLbl>
            <c:dLbl>
              <c:idx val="2"/>
              <c:layout>
                <c:manualLayout>
                  <c:x val="-1.0151128299123692E-16"/>
                  <c:y val="5.541191120481202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4-9C03-4D73-9C7E-1BDCE6E4343E}"/>
                </c:ext>
              </c:extLst>
            </c:dLbl>
            <c:dLbl>
              <c:idx val="3"/>
              <c:layout>
                <c:manualLayout>
                  <c:x val="-5.0755641495618462E-17"/>
                  <c:y val="5.541191120481202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5-9C03-4D73-9C7E-1BDCE6E4343E}"/>
                </c:ext>
              </c:extLst>
            </c:dLbl>
            <c:dLbl>
              <c:idx val="4"/>
              <c:layout>
                <c:manualLayout>
                  <c:x val="0"/>
                  <c:y val="5.541191120481202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6-9C03-4D73-9C7E-1BDCE6E4343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'2025 Q1 vs Q3'!$B$87:$B$91</c:f>
              <c:strCache>
                <c:ptCount val="5"/>
                <c:pt idx="0">
                  <c:v>PHIL BUSINESS BANK</c:v>
                </c:pt>
                <c:pt idx="1">
                  <c:v>STERLING BANK OF ASIA</c:v>
                </c:pt>
                <c:pt idx="2">
                  <c:v>BANK OF MAKATI</c:v>
                </c:pt>
                <c:pt idx="3">
                  <c:v>PRODUCERS SAVINGS BANK</c:v>
                </c:pt>
                <c:pt idx="4">
                  <c:v>FIRST CONSOLIDATED BANK</c:v>
                </c:pt>
              </c:strCache>
            </c:strRef>
          </c:cat>
          <c:val>
            <c:numRef>
              <c:f>'2025 Q1 vs Q3'!$G$87:$G$91</c:f>
              <c:numCache>
                <c:formatCode>#,##0</c:formatCode>
                <c:ptCount val="5"/>
                <c:pt idx="0">
                  <c:v>164937.5</c:v>
                </c:pt>
                <c:pt idx="1">
                  <c:v>67468.97</c:v>
                </c:pt>
                <c:pt idx="2">
                  <c:v>57466.75</c:v>
                </c:pt>
                <c:pt idx="3">
                  <c:v>42366.84</c:v>
                </c:pt>
                <c:pt idx="4">
                  <c:v>30453.37</c:v>
                </c:pt>
              </c:numCache>
            </c:numRef>
          </c:val>
          <c:shape val="cylinder"/>
          <c:extLst>
            <c:ext xmlns:c16="http://schemas.microsoft.com/office/drawing/2014/chart" uri="{C3380CC4-5D6E-409C-BE32-E72D297353CC}">
              <c16:uniqueId val="{00000000-9C03-4D73-9C7E-1BDCE6E4343E}"/>
            </c:ext>
          </c:extLst>
        </c:ser>
        <c:ser>
          <c:idx val="0"/>
          <c:order val="1"/>
          <c:tx>
            <c:v>Q1</c:v>
          </c:tx>
          <c:spPr>
            <a:solidFill>
              <a:srgbClr val="002060"/>
            </a:solidFill>
            <a:ln>
              <a:noFill/>
            </a:ln>
            <a:effectLst/>
            <a:sp3d/>
          </c:spPr>
          <c:invertIfNegative val="0"/>
          <c:dLbls>
            <c:dLbl>
              <c:idx val="4"/>
              <c:layout>
                <c:manualLayout>
                  <c:x val="-2.7685215179520601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7-9C03-4D73-9C7E-1BDCE6E4343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'2025 Q1 vs Q3'!$B$87:$B$91</c:f>
              <c:strCache>
                <c:ptCount val="5"/>
                <c:pt idx="0">
                  <c:v>PHIL BUSINESS BANK</c:v>
                </c:pt>
                <c:pt idx="1">
                  <c:v>STERLING BANK OF ASIA</c:v>
                </c:pt>
                <c:pt idx="2">
                  <c:v>BANK OF MAKATI</c:v>
                </c:pt>
                <c:pt idx="3">
                  <c:v>PRODUCERS SAVINGS BANK</c:v>
                </c:pt>
                <c:pt idx="4">
                  <c:v>FIRST CONSOLIDATED BANK</c:v>
                </c:pt>
              </c:strCache>
            </c:strRef>
          </c:cat>
          <c:val>
            <c:numRef>
              <c:f>'2025 Q1 vs Q3'!$C$87:$C$91</c:f>
              <c:numCache>
                <c:formatCode>#,##0</c:formatCode>
                <c:ptCount val="5"/>
                <c:pt idx="0">
                  <c:v>161185.26999999999</c:v>
                </c:pt>
                <c:pt idx="1">
                  <c:v>60564.5</c:v>
                </c:pt>
                <c:pt idx="2">
                  <c:v>53657.06</c:v>
                </c:pt>
                <c:pt idx="3">
                  <c:v>39142.28</c:v>
                </c:pt>
                <c:pt idx="4">
                  <c:v>29536.880000000001</c:v>
                </c:pt>
              </c:numCache>
            </c:numRef>
          </c:val>
          <c:shape val="cylinder"/>
          <c:extLst>
            <c:ext xmlns:c16="http://schemas.microsoft.com/office/drawing/2014/chart" uri="{C3380CC4-5D6E-409C-BE32-E72D297353CC}">
              <c16:uniqueId val="{00000001-9C03-4D73-9C7E-1BDCE6E4343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1861594304"/>
        <c:axId val="1861586400"/>
        <c:axId val="0"/>
      </c:bar3DChart>
      <c:catAx>
        <c:axId val="186159430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61586400"/>
        <c:crosses val="autoZero"/>
        <c:auto val="1"/>
        <c:lblAlgn val="ctr"/>
        <c:lblOffset val="100"/>
        <c:noMultiLvlLbl val="0"/>
      </c:catAx>
      <c:valAx>
        <c:axId val="1861586400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crossAx val="1861594304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DEEBF7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30455914415634955"/>
          <c:y val="5.2501467560707407E-2"/>
          <c:w val="0.5661106552949805"/>
          <c:h val="0.89499706487858521"/>
        </c:manualLayout>
      </c:layout>
      <c:bar3DChart>
        <c:barDir val="bar"/>
        <c:grouping val="stacked"/>
        <c:varyColors val="0"/>
        <c:ser>
          <c:idx val="0"/>
          <c:order val="0"/>
          <c:spPr>
            <a:solidFill>
              <a:schemeClr val="accent5">
                <a:lumMod val="75000"/>
              </a:schemeClr>
            </a:solidFill>
            <a:ln>
              <a:noFill/>
            </a:ln>
            <a:effectLst/>
            <a:sp3d/>
          </c:spPr>
          <c:invertIfNegative val="0"/>
          <c:dPt>
            <c:idx val="4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1-1E8B-481A-A870-72ED4AEECDB4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5">
                  <a:lumMod val="75000"/>
                </a:schemeClr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3-1E8B-481A-A870-72ED4AEECDB4}"/>
              </c:ext>
            </c:extLst>
          </c:dPt>
          <c:dLbls>
            <c:dLbl>
              <c:idx val="0"/>
              <c:layout>
                <c:manualLayout>
                  <c:x val="0.29719230712653427"/>
                  <c:y val="9.768617092165997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4-1E8B-481A-A870-72ED4AEECDB4}"/>
                </c:ext>
              </c:extLst>
            </c:dLbl>
            <c:dLbl>
              <c:idx val="1"/>
              <c:layout>
                <c:manualLayout>
                  <c:x val="0.2608200515900192"/>
                  <c:y val="8.1096752480546913E-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5-1E8B-481A-A870-72ED4AEECDB4}"/>
                </c:ext>
              </c:extLst>
            </c:dLbl>
            <c:dLbl>
              <c:idx val="2"/>
              <c:layout>
                <c:manualLayout>
                  <c:x val="0.22504283997329458"/>
                  <c:y val="5.150454750039534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6-1E8B-481A-A870-72ED4AEECDB4}"/>
                </c:ext>
              </c:extLst>
            </c:dLbl>
            <c:dLbl>
              <c:idx val="3"/>
              <c:layout>
                <c:manualLayout>
                  <c:x val="0.21065102526308882"/>
                  <c:y val="9.16920431921308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7-1E8B-481A-A870-72ED4AEECDB4}"/>
                </c:ext>
              </c:extLst>
            </c:dLbl>
            <c:dLbl>
              <c:idx val="4"/>
              <c:layout>
                <c:manualLayout>
                  <c:x val="0.10209703114970706"/>
                  <c:y val="9.0353948043607318E-7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800" b="1" i="0" u="none" strike="noStrike" kern="1200" baseline="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1E8B-481A-A870-72ED4AEECDB4}"/>
                </c:ext>
              </c:extLst>
            </c:dLbl>
            <c:dLbl>
              <c:idx val="5"/>
              <c:layout>
                <c:manualLayout>
                  <c:x val="0.10018308248705457"/>
                  <c:y val="1.8070789607669605E-6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1E8B-481A-A870-72ED4AEECDB4}"/>
                </c:ext>
              </c:extLst>
            </c:dLbl>
            <c:dLbl>
              <c:idx val="6"/>
              <c:layout>
                <c:manualLayout>
                  <c:x val="9.3782717509062016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8-1E8B-481A-A870-72ED4AEECDB4}"/>
                </c:ext>
              </c:extLst>
            </c:dLbl>
            <c:dLbl>
              <c:idx val="7"/>
              <c:layout>
                <c:manualLayout>
                  <c:x val="7.9890603485735512E-2"/>
                  <c:y val="5.741089858356633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9-1E8B-481A-A870-72ED4AEECDB4}"/>
                </c:ext>
              </c:extLst>
            </c:dLbl>
            <c:dLbl>
              <c:idx val="8"/>
              <c:layout>
                <c:manualLayout>
                  <c:x val="7.2187007874015691E-2"/>
                  <c:y val="9.259623797025372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A-1E8B-481A-A870-72ED4AEECDB4}"/>
                </c:ext>
              </c:extLst>
            </c:dLbl>
            <c:dLbl>
              <c:idx val="9"/>
              <c:layout>
                <c:manualLayout>
                  <c:x val="5.6721947879981388E-2"/>
                  <c:y val="4.630639836965441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B-1E8B-481A-A870-72ED4AEECDB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'2025 March'!$C$22:$C$31</c:f>
              <c:strCache>
                <c:ptCount val="10"/>
                <c:pt idx="0">
                  <c:v>PHIL SAVINGS BANK</c:v>
                </c:pt>
                <c:pt idx="1">
                  <c:v>CHINA BANK SAVINGS</c:v>
                </c:pt>
                <c:pt idx="2">
                  <c:v>PHIL BUSINESS BANK</c:v>
                </c:pt>
                <c:pt idx="3">
                  <c:v>CITY SAVINGS BANK</c:v>
                </c:pt>
                <c:pt idx="4">
                  <c:v>STERLING BANK OF ASIA</c:v>
                </c:pt>
                <c:pt idx="5">
                  <c:v>BPI DIRECT BANKO</c:v>
                </c:pt>
                <c:pt idx="6">
                  <c:v>BANK OF MAKATI</c:v>
                </c:pt>
                <c:pt idx="7">
                  <c:v>PRODUCERS SAVINGS BANK</c:v>
                </c:pt>
                <c:pt idx="8">
                  <c:v>FIRST CONSOLIDATED BANK</c:v>
                </c:pt>
                <c:pt idx="9">
                  <c:v>UCPB SAVINGS BANK</c:v>
                </c:pt>
              </c:strCache>
            </c:strRef>
          </c:cat>
          <c:val>
            <c:numRef>
              <c:f>'2025 March'!$D$22:$D$31</c:f>
              <c:numCache>
                <c:formatCode>#,##0</c:formatCode>
                <c:ptCount val="10"/>
                <c:pt idx="0">
                  <c:v>220559.48</c:v>
                </c:pt>
                <c:pt idx="1">
                  <c:v>194961.41</c:v>
                </c:pt>
                <c:pt idx="2">
                  <c:v>161185.26999999999</c:v>
                </c:pt>
                <c:pt idx="3">
                  <c:v>153876.9</c:v>
                </c:pt>
                <c:pt idx="4">
                  <c:v>60564.5</c:v>
                </c:pt>
                <c:pt idx="5">
                  <c:v>57361.64</c:v>
                </c:pt>
                <c:pt idx="6">
                  <c:v>53657.06</c:v>
                </c:pt>
                <c:pt idx="7">
                  <c:v>39142.28</c:v>
                </c:pt>
                <c:pt idx="8">
                  <c:v>29536.880000000001</c:v>
                </c:pt>
                <c:pt idx="9">
                  <c:v>17399.07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1E8B-481A-A870-72ED4AEECD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0"/>
        <c:gapDepth val="246"/>
        <c:shape val="cylinder"/>
        <c:axId val="486738344"/>
        <c:axId val="486737168"/>
        <c:axId val="0"/>
      </c:bar3DChart>
      <c:catAx>
        <c:axId val="48673834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6737168"/>
        <c:crosses val="autoZero"/>
        <c:auto val="1"/>
        <c:lblAlgn val="ctr"/>
        <c:lblOffset val="100"/>
        <c:noMultiLvlLbl val="0"/>
      </c:catAx>
      <c:valAx>
        <c:axId val="486737168"/>
        <c:scaling>
          <c:orientation val="minMax"/>
        </c:scaling>
        <c:delete val="1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crossAx val="4867383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accent4">
        <a:lumMod val="20000"/>
        <a:lumOff val="80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chemeClr val="accent5">
                <a:lumMod val="75000"/>
              </a:schemeClr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31A-4084-B18F-BF398059EE70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5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31A-4084-B18F-BF398059EE70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5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31A-4084-B18F-BF398059EE70}"/>
              </c:ext>
            </c:extLst>
          </c:dPt>
          <c:dLbls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531A-4084-B18F-BF398059EE7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'2025 March'!$C$57:$C$66</c:f>
              <c:strCache>
                <c:ptCount val="10"/>
                <c:pt idx="0">
                  <c:v>CARD SME BANK</c:v>
                </c:pt>
                <c:pt idx="1">
                  <c:v>STERLING BANK OF ASIA</c:v>
                </c:pt>
                <c:pt idx="2">
                  <c:v>PRODUCERS SAVINGS BANK</c:v>
                </c:pt>
                <c:pt idx="3">
                  <c:v>FIRST CONSOLIDATED BANK</c:v>
                </c:pt>
                <c:pt idx="4">
                  <c:v>BPI DIRECT BANKO</c:v>
                </c:pt>
                <c:pt idx="5">
                  <c:v>BANK OF MAKATI</c:v>
                </c:pt>
                <c:pt idx="6">
                  <c:v>CHINA BANK SAVINGS</c:v>
                </c:pt>
                <c:pt idx="7">
                  <c:v>PHIL BUSINESS BANK</c:v>
                </c:pt>
                <c:pt idx="8">
                  <c:v>CITY SAVINGS BANK</c:v>
                </c:pt>
                <c:pt idx="9">
                  <c:v>PHIL SAVINGS BANK</c:v>
                </c:pt>
              </c:strCache>
            </c:strRef>
          </c:cat>
          <c:val>
            <c:numRef>
              <c:f>'2025 March'!$D$57:$D$66</c:f>
              <c:numCache>
                <c:formatCode>#,##0</c:formatCode>
                <c:ptCount val="10"/>
                <c:pt idx="0">
                  <c:v>3422.32</c:v>
                </c:pt>
                <c:pt idx="1">
                  <c:v>5144.34</c:v>
                </c:pt>
                <c:pt idx="2">
                  <c:v>6807.42</c:v>
                </c:pt>
                <c:pt idx="3">
                  <c:v>7760.45</c:v>
                </c:pt>
                <c:pt idx="4">
                  <c:v>8989.56</c:v>
                </c:pt>
                <c:pt idx="5">
                  <c:v>18034.79</c:v>
                </c:pt>
                <c:pt idx="6">
                  <c:v>19268.919999999998</c:v>
                </c:pt>
                <c:pt idx="7">
                  <c:v>20084.830000000002</c:v>
                </c:pt>
                <c:pt idx="8">
                  <c:v>21625.84</c:v>
                </c:pt>
                <c:pt idx="9">
                  <c:v>43676.29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31A-4084-B18F-BF398059EE7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486739128"/>
        <c:axId val="486740304"/>
      </c:barChart>
      <c:catAx>
        <c:axId val="48673912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6740304"/>
        <c:crosses val="autoZero"/>
        <c:auto val="1"/>
        <c:lblAlgn val="ctr"/>
        <c:lblOffset val="100"/>
        <c:noMultiLvlLbl val="0"/>
      </c:catAx>
      <c:valAx>
        <c:axId val="486740304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crossAx val="4867391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rgbClr val="DAEDEF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rgbClr val="2F5597"/>
            </a:solidFill>
            <a:ln>
              <a:noFill/>
            </a:ln>
            <a:effectLst/>
          </c:spPr>
          <c:invertIfNegative val="0"/>
          <c:dPt>
            <c:idx val="4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DFD-419D-8174-00C172E06753}"/>
              </c:ext>
            </c:extLst>
          </c:dPt>
          <c:dPt>
            <c:idx val="5"/>
            <c:invertIfNegative val="0"/>
            <c:bubble3D val="0"/>
            <c:spPr>
              <a:solidFill>
                <a:srgbClr val="2F559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DFD-419D-8174-00C172E06753}"/>
              </c:ext>
            </c:extLst>
          </c:dPt>
          <c:dPt>
            <c:idx val="6"/>
            <c:invertIfNegative val="0"/>
            <c:bubble3D val="0"/>
            <c:spPr>
              <a:solidFill>
                <a:srgbClr val="2F559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DFD-419D-8174-00C172E06753}"/>
              </c:ext>
            </c:extLst>
          </c:dPt>
          <c:dLbls>
            <c:dLbl>
              <c:idx val="0"/>
              <c:layout>
                <c:manualLayout>
                  <c:x val="0"/>
                  <c:y val="4.623893587824669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6-8DFD-419D-8174-00C172E06753}"/>
                </c:ext>
              </c:extLst>
            </c:dLbl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8DFD-419D-8174-00C172E0675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'2025 March'!$C$39:$C$48</c:f>
              <c:strCache>
                <c:ptCount val="10"/>
                <c:pt idx="0">
                  <c:v>PHIL SAVINGS BANK</c:v>
                </c:pt>
                <c:pt idx="1">
                  <c:v>CHINA BANK SAVINGS</c:v>
                </c:pt>
                <c:pt idx="2">
                  <c:v>PHIL BUSINESS BANK</c:v>
                </c:pt>
                <c:pt idx="3">
                  <c:v>CITY SAVINGS BANK</c:v>
                </c:pt>
                <c:pt idx="4">
                  <c:v>STERLING BANK OF ASIA</c:v>
                </c:pt>
                <c:pt idx="5">
                  <c:v>BPI DIRECT BANKO</c:v>
                </c:pt>
                <c:pt idx="6">
                  <c:v>BANK OF MAKATI</c:v>
                </c:pt>
                <c:pt idx="7">
                  <c:v>PRODUCERS SAVINGS BANK</c:v>
                </c:pt>
                <c:pt idx="8">
                  <c:v>FIRST CONSOLIDATED BANK</c:v>
                </c:pt>
                <c:pt idx="9">
                  <c:v>1st VALLEY BANK</c:v>
                </c:pt>
              </c:strCache>
            </c:strRef>
          </c:cat>
          <c:val>
            <c:numRef>
              <c:f>'2025 March'!$D$39:$D$48</c:f>
              <c:numCache>
                <c:formatCode>#,##0</c:formatCode>
                <c:ptCount val="10"/>
                <c:pt idx="0">
                  <c:v>154426.26</c:v>
                </c:pt>
                <c:pt idx="1">
                  <c:v>143611.69</c:v>
                </c:pt>
                <c:pt idx="2">
                  <c:v>121748.11</c:v>
                </c:pt>
                <c:pt idx="3">
                  <c:v>105030.03</c:v>
                </c:pt>
                <c:pt idx="4">
                  <c:v>46342.23</c:v>
                </c:pt>
                <c:pt idx="5">
                  <c:v>42385.88</c:v>
                </c:pt>
                <c:pt idx="6">
                  <c:v>36500.39</c:v>
                </c:pt>
                <c:pt idx="7">
                  <c:v>29263.21</c:v>
                </c:pt>
                <c:pt idx="8">
                  <c:v>19954.59</c:v>
                </c:pt>
                <c:pt idx="9">
                  <c:v>11284.7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8DFD-419D-8174-00C172E067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86727760"/>
        <c:axId val="486728152"/>
      </c:barChart>
      <c:catAx>
        <c:axId val="48672776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6728152"/>
        <c:crosses val="autoZero"/>
        <c:auto val="0"/>
        <c:lblAlgn val="ctr"/>
        <c:lblOffset val="100"/>
        <c:noMultiLvlLbl val="0"/>
      </c:catAx>
      <c:valAx>
        <c:axId val="486728152"/>
        <c:scaling>
          <c:orientation val="minMax"/>
        </c:scaling>
        <c:delete val="1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crossAx val="4867277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accent2">
        <a:lumMod val="20000"/>
        <a:lumOff val="80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0455914415634955"/>
          <c:y val="5.2501467560707407E-2"/>
          <c:w val="0.5661106552949805"/>
          <c:h val="0.89499706487858521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rgbClr val="2F5597"/>
            </a:solidFill>
            <a:ln>
              <a:noFill/>
            </a:ln>
            <a:effectLst/>
          </c:spPr>
          <c:invertIfNegative val="0"/>
          <c:dPt>
            <c:idx val="4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DD5-4BB3-9543-E396CE23E644}"/>
              </c:ext>
            </c:extLst>
          </c:dPt>
          <c:dPt>
            <c:idx val="5"/>
            <c:invertIfNegative val="0"/>
            <c:bubble3D val="0"/>
            <c:spPr>
              <a:solidFill>
                <a:srgbClr val="2F559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DD5-4BB3-9543-E396CE23E644}"/>
              </c:ext>
            </c:extLst>
          </c:dPt>
          <c:dLbls>
            <c:dLbl>
              <c:idx val="0"/>
              <c:layout>
                <c:manualLayout>
                  <c:x val="0.29630180934301853"/>
                  <c:y val="3.4699894144300052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2325685273349575"/>
                      <c:h val="8.584008736965767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5DD5-4BB3-9543-E396CE23E644}"/>
                </c:ext>
              </c:extLst>
            </c:dLbl>
            <c:dLbl>
              <c:idx val="1"/>
              <c:layout>
                <c:manualLayout>
                  <c:x val="0.27268146550013195"/>
                  <c:y val="5.7123405081972965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5-5DD5-4BB3-9543-E396CE23E644}"/>
                </c:ext>
              </c:extLst>
            </c:dLbl>
            <c:dLbl>
              <c:idx val="2"/>
              <c:layout>
                <c:manualLayout>
                  <c:x val="0.2309736455611672"/>
                  <c:y val="5.1506847343849617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6-5DD5-4BB3-9543-E396CE23E644}"/>
                </c:ext>
              </c:extLst>
            </c:dLbl>
            <c:dLbl>
              <c:idx val="3"/>
              <c:layout>
                <c:manualLayout>
                  <c:x val="0.22844327386247684"/>
                  <c:y val="9.1699636025474249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7-5DD5-4BB3-9543-E396CE23E644}"/>
                </c:ext>
              </c:extLst>
            </c:dLbl>
            <c:dLbl>
              <c:idx val="4"/>
              <c:layout>
                <c:manualLayout>
                  <c:x val="0.11395848948227422"/>
                  <c:y val="5.7114411394642624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5DD5-4BB3-9543-E396CE23E644}"/>
                </c:ext>
              </c:extLst>
            </c:dLbl>
            <c:dLbl>
              <c:idx val="5"/>
              <c:layout>
                <c:manualLayout>
                  <c:x val="0.10907917072362035"/>
                  <c:y val="6.7452654970998473E-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9.2060045251087491E-2"/>
                      <c:h val="7.986844034172413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5DD5-4BB3-9543-E396CE23E644}"/>
                </c:ext>
              </c:extLst>
            </c:dLbl>
            <c:dLbl>
              <c:idx val="6"/>
              <c:layout>
                <c:manualLayout>
                  <c:x val="0.10564424426247498"/>
                  <c:y val="4.496843665431234E-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8-5DD5-4BB3-9543-E396CE23E644}"/>
                </c:ext>
              </c:extLst>
            </c:dLbl>
            <c:dLbl>
              <c:idx val="7"/>
              <c:layout>
                <c:manualLayout>
                  <c:x val="8.5821559411315571E-2"/>
                  <c:y val="1.3490530997340705E-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9-5DD5-4BB3-9543-E396CE23E644}"/>
                </c:ext>
              </c:extLst>
            </c:dLbl>
            <c:dLbl>
              <c:idx val="8"/>
              <c:layout>
                <c:manualLayout>
                  <c:x val="8.4048407922909657E-2"/>
                  <c:y val="-2.1620824343393371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A-5DD5-4BB3-9543-E396CE23E644}"/>
                </c:ext>
              </c:extLst>
            </c:dLbl>
            <c:dLbl>
              <c:idx val="9"/>
              <c:layout>
                <c:manualLayout>
                  <c:x val="7.7479440069991204E-2"/>
                  <c:y val="4.6296296296297994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B-5DD5-4BB3-9543-E396CE23E64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'2025 March'!$C$22:$C$31</c:f>
              <c:strCache>
                <c:ptCount val="10"/>
                <c:pt idx="0">
                  <c:v>PHIL SAVINGS BANK</c:v>
                </c:pt>
                <c:pt idx="1">
                  <c:v>CHINA BANK SAVINGS</c:v>
                </c:pt>
                <c:pt idx="2">
                  <c:v>PHIL BUSINESS BANK</c:v>
                </c:pt>
                <c:pt idx="3">
                  <c:v>CITY SAVINGS BANK</c:v>
                </c:pt>
                <c:pt idx="4">
                  <c:v>STERLING BANK OF ASIA</c:v>
                </c:pt>
                <c:pt idx="5">
                  <c:v>BPI DIRECT BANKO</c:v>
                </c:pt>
                <c:pt idx="6">
                  <c:v>BANK OF MAKATI</c:v>
                </c:pt>
                <c:pt idx="7">
                  <c:v>PRODUCERS SAVINGS BANK</c:v>
                </c:pt>
                <c:pt idx="8">
                  <c:v>FIRST CONSOLIDATED BANK</c:v>
                </c:pt>
                <c:pt idx="9">
                  <c:v>UCPB SAVINGS BANK</c:v>
                </c:pt>
              </c:strCache>
            </c:strRef>
          </c:cat>
          <c:val>
            <c:numRef>
              <c:f>'2025 March'!$D$22:$D$31</c:f>
              <c:numCache>
                <c:formatCode>#,##0</c:formatCode>
                <c:ptCount val="10"/>
                <c:pt idx="0">
                  <c:v>220559.48</c:v>
                </c:pt>
                <c:pt idx="1">
                  <c:v>194961.41</c:v>
                </c:pt>
                <c:pt idx="2">
                  <c:v>161185.26999999999</c:v>
                </c:pt>
                <c:pt idx="3">
                  <c:v>153876.9</c:v>
                </c:pt>
                <c:pt idx="4">
                  <c:v>60564.5</c:v>
                </c:pt>
                <c:pt idx="5">
                  <c:v>57361.64</c:v>
                </c:pt>
                <c:pt idx="6">
                  <c:v>53657.06</c:v>
                </c:pt>
                <c:pt idx="7">
                  <c:v>39142.28</c:v>
                </c:pt>
                <c:pt idx="8">
                  <c:v>29536.880000000001</c:v>
                </c:pt>
                <c:pt idx="9">
                  <c:v>17399.07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5DD5-4BB3-9543-E396CE23E6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486738344"/>
        <c:axId val="486737168"/>
      </c:barChart>
      <c:catAx>
        <c:axId val="48673834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6737168"/>
        <c:crosses val="autoZero"/>
        <c:auto val="1"/>
        <c:lblAlgn val="ctr"/>
        <c:lblOffset val="100"/>
        <c:noMultiLvlLbl val="0"/>
      </c:catAx>
      <c:valAx>
        <c:axId val="486737168"/>
        <c:scaling>
          <c:orientation val="minMax"/>
        </c:scaling>
        <c:delete val="1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crossAx val="4867383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accent2">
        <a:lumMod val="20000"/>
        <a:lumOff val="80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rgbClr val="2F5597"/>
            </a:solidFill>
            <a:ln>
              <a:noFill/>
            </a:ln>
            <a:effectLst/>
          </c:spPr>
          <c:invertIfNegative val="0"/>
          <c:dPt>
            <c:idx val="4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D99-4E90-B679-9825106B1F9D}"/>
              </c:ext>
            </c:extLst>
          </c:dPt>
          <c:dPt>
            <c:idx val="5"/>
            <c:invertIfNegative val="0"/>
            <c:bubble3D val="0"/>
            <c:spPr>
              <a:solidFill>
                <a:srgbClr val="2F559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D99-4E90-B679-9825106B1F9D}"/>
              </c:ext>
            </c:extLst>
          </c:dPt>
          <c:dPt>
            <c:idx val="6"/>
            <c:invertIfNegative val="0"/>
            <c:bubble3D val="0"/>
            <c:spPr>
              <a:solidFill>
                <a:srgbClr val="2F559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DD99-4E90-B679-9825106B1F9D}"/>
              </c:ext>
            </c:extLst>
          </c:dPt>
          <c:dLbls>
            <c:dLbl>
              <c:idx val="0"/>
              <c:layout>
                <c:manualLayout>
                  <c:x val="0"/>
                  <c:y val="3.530214606471411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A-DD99-4E90-B679-9825106B1F9D}"/>
                </c:ext>
              </c:extLst>
            </c:dLbl>
            <c:dLbl>
              <c:idx val="1"/>
              <c:layout>
                <c:manualLayout>
                  <c:x val="0"/>
                  <c:y val="3.530260934747088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9-DD99-4E90-B679-9825106B1F9D}"/>
                </c:ext>
              </c:extLst>
            </c:dLbl>
            <c:dLbl>
              <c:idx val="2"/>
              <c:layout>
                <c:manualLayout>
                  <c:x val="-9.0512163433133491E-3"/>
                  <c:y val="5.3933211224477086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8-DD99-4E90-B679-9825106B1F9D}"/>
                </c:ext>
              </c:extLst>
            </c:dLbl>
            <c:dLbl>
              <c:idx val="3"/>
              <c:layout>
                <c:manualLayout>
                  <c:x val="-9.0512163433133491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7-DD99-4E90-B679-9825106B1F9D}"/>
                </c:ext>
              </c:extLst>
            </c:dLbl>
            <c:dLbl>
              <c:idx val="4"/>
              <c:layout>
                <c:manualLayout>
                  <c:x val="-9.0512163433133491E-3"/>
                  <c:y val="4.632827567547784E-7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1" i="0" u="none" strike="noStrike" kern="1200" baseline="0">
                      <a:ln>
                        <a:noFill/>
                      </a:ln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DD99-4E90-B679-9825106B1F9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ln>
                      <a:noFill/>
                    </a:ln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'2025 March'!$C$7:$C$16</c:f>
              <c:strCache>
                <c:ptCount val="10"/>
                <c:pt idx="0">
                  <c:v>CHINA BANK SAVINGS</c:v>
                </c:pt>
                <c:pt idx="1">
                  <c:v>PHIL SAVINGS BANK</c:v>
                </c:pt>
                <c:pt idx="2">
                  <c:v>PHIL BUSINESS BANK</c:v>
                </c:pt>
                <c:pt idx="3">
                  <c:v>CITY SAVINGS BANK</c:v>
                </c:pt>
                <c:pt idx="4">
                  <c:v>STERLING BANK OF ASIA</c:v>
                </c:pt>
                <c:pt idx="5">
                  <c:v>BPI DIRECT BANKO</c:v>
                </c:pt>
                <c:pt idx="6">
                  <c:v>BANK OF MAKATI</c:v>
                </c:pt>
                <c:pt idx="7">
                  <c:v>PRODUCERS SAVINGS BANK</c:v>
                </c:pt>
                <c:pt idx="8">
                  <c:v>FIRST CONSOLIDATED BANK</c:v>
                </c:pt>
                <c:pt idx="9">
                  <c:v>UCPB SAVINGS BANK</c:v>
                </c:pt>
              </c:strCache>
            </c:strRef>
          </c:cat>
          <c:val>
            <c:numRef>
              <c:f>'2025 March'!$D$7:$D$16</c:f>
              <c:numCache>
                <c:formatCode>#,##0</c:formatCode>
                <c:ptCount val="10"/>
                <c:pt idx="0">
                  <c:v>170728.89</c:v>
                </c:pt>
                <c:pt idx="1">
                  <c:v>169678.92</c:v>
                </c:pt>
                <c:pt idx="2">
                  <c:v>130715.98</c:v>
                </c:pt>
                <c:pt idx="3">
                  <c:v>93441.09</c:v>
                </c:pt>
                <c:pt idx="4">
                  <c:v>52139.78</c:v>
                </c:pt>
                <c:pt idx="5">
                  <c:v>43904.480000000003</c:v>
                </c:pt>
                <c:pt idx="6">
                  <c:v>33138.82</c:v>
                </c:pt>
                <c:pt idx="7">
                  <c:v>25439.29</c:v>
                </c:pt>
                <c:pt idx="8">
                  <c:v>20120.66</c:v>
                </c:pt>
                <c:pt idx="9">
                  <c:v>14491.47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D99-4E90-B679-9825106B1F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486739912"/>
        <c:axId val="486739520"/>
      </c:barChart>
      <c:catAx>
        <c:axId val="486739912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noFill/>
                </a:ln>
                <a:solidFill>
                  <a:srgbClr val="00206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6739520"/>
        <c:crosses val="autoZero"/>
        <c:auto val="1"/>
        <c:lblAlgn val="ctr"/>
        <c:lblOffset val="100"/>
        <c:noMultiLvlLbl val="0"/>
      </c:catAx>
      <c:valAx>
        <c:axId val="486739520"/>
        <c:scaling>
          <c:orientation val="minMax"/>
        </c:scaling>
        <c:delete val="1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crossAx val="4867399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rgbClr val="DAEDEF"/>
    </a:solidFill>
    <a:ln>
      <a:noFill/>
    </a:ln>
    <a:effectLst/>
  </c:spPr>
  <c:txPr>
    <a:bodyPr/>
    <a:lstStyle/>
    <a:p>
      <a:pPr>
        <a:defRPr>
          <a:ln>
            <a:noFill/>
          </a:ln>
        </a:defRPr>
      </a:pPr>
      <a:endParaRPr lang="en-US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bar"/>
        <c:grouping val="stacked"/>
        <c:varyColors val="0"/>
        <c:ser>
          <c:idx val="0"/>
          <c:order val="0"/>
          <c:spPr>
            <a:solidFill>
              <a:schemeClr val="accent5">
                <a:lumMod val="75000"/>
              </a:schemeClr>
            </a:solidFill>
            <a:ln>
              <a:noFill/>
            </a:ln>
            <a:effectLst/>
            <a:sp3d/>
          </c:spPr>
          <c:invertIfNegative val="0"/>
          <c:dPt>
            <c:idx val="1"/>
            <c:invertIfNegative val="0"/>
            <c:bubble3D val="0"/>
            <c:spPr>
              <a:solidFill>
                <a:srgbClr val="FFCC66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1-74D9-4345-A568-0DC8E7833811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5">
                  <a:lumMod val="75000"/>
                </a:schemeClr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3-74D9-4345-A568-0DC8E7833811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5">
                  <a:lumMod val="75000"/>
                </a:schemeClr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5-74D9-4345-A568-0DC8E7833811}"/>
              </c:ext>
            </c:extLst>
          </c:dPt>
          <c:dLbls>
            <c:dLbl>
              <c:idx val="0"/>
              <c:layout>
                <c:manualLayout>
                  <c:x val="5.3566959636850639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D-74D9-4345-A568-0DC8E7833811}"/>
                </c:ext>
              </c:extLst>
            </c:dLbl>
            <c:dLbl>
              <c:idx val="1"/>
              <c:layout>
                <c:manualLayout>
                  <c:x val="6.2494786242992421E-2"/>
                  <c:y val="-5.7250428702030152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800" b="1" i="0" u="none" strike="noStrike" kern="1200" baseline="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74D9-4345-A568-0DC8E7833811}"/>
                </c:ext>
              </c:extLst>
            </c:dLbl>
            <c:dLbl>
              <c:idx val="2"/>
              <c:layout>
                <c:manualLayout>
                  <c:x val="7.737449725322873E-2"/>
                  <c:y val="-5.725042870203015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74D9-4345-A568-0DC8E7833811}"/>
                </c:ext>
              </c:extLst>
            </c:dLbl>
            <c:dLbl>
              <c:idx val="3"/>
              <c:layout>
                <c:manualLayout>
                  <c:x val="8.0350439455275993E-2"/>
                  <c:y val="-5.725042870203015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5-74D9-4345-A568-0DC8E7833811}"/>
                </c:ext>
              </c:extLst>
            </c:dLbl>
            <c:dLbl>
              <c:idx val="4"/>
              <c:layout>
                <c:manualLayout>
                  <c:x val="9.2254208263464976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C-74D9-4345-A568-0DC8E7833811}"/>
                </c:ext>
              </c:extLst>
            </c:dLbl>
            <c:dLbl>
              <c:idx val="5"/>
              <c:layout>
                <c:manualLayout>
                  <c:x val="0.15772493670850482"/>
                  <c:y val="-5.725042870202962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B-74D9-4345-A568-0DC8E7833811}"/>
                </c:ext>
              </c:extLst>
            </c:dLbl>
            <c:dLbl>
              <c:idx val="6"/>
              <c:layout>
                <c:manualLayout>
                  <c:x val="0.16367682111259935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A-74D9-4345-A568-0DC8E7833811}"/>
                </c:ext>
              </c:extLst>
            </c:dLbl>
            <c:dLbl>
              <c:idx val="7"/>
              <c:layout>
                <c:manualLayout>
                  <c:x val="0.1755805899207884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9-74D9-4345-A568-0DC8E7833811}"/>
                </c:ext>
              </c:extLst>
            </c:dLbl>
            <c:dLbl>
              <c:idx val="8"/>
              <c:layout>
                <c:manualLayout>
                  <c:x val="0.1815324743248829"/>
                  <c:y val="-5.725042870202910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8-74D9-4345-A568-0DC8E7833811}"/>
                </c:ext>
              </c:extLst>
            </c:dLbl>
            <c:dLbl>
              <c:idx val="9"/>
              <c:layout>
                <c:manualLayout>
                  <c:x val="0.30949798901291514"/>
                  <c:y val="-5.725042870202910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7-74D9-4345-A568-0DC8E783381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'2025 March'!$C$57:$C$66</c:f>
              <c:strCache>
                <c:ptCount val="10"/>
                <c:pt idx="0">
                  <c:v>CARD SME BANK</c:v>
                </c:pt>
                <c:pt idx="1">
                  <c:v>STERLING BANK OF ASIA</c:v>
                </c:pt>
                <c:pt idx="2">
                  <c:v>PRODUCERS SAVINGS BANK</c:v>
                </c:pt>
                <c:pt idx="3">
                  <c:v>FIRST CONSOLIDATED BANK</c:v>
                </c:pt>
                <c:pt idx="4">
                  <c:v>BPI DIRECT BANKO</c:v>
                </c:pt>
                <c:pt idx="5">
                  <c:v>BANK OF MAKATI</c:v>
                </c:pt>
                <c:pt idx="6">
                  <c:v>CHINA BANK SAVINGS</c:v>
                </c:pt>
                <c:pt idx="7">
                  <c:v>PHIL BUSINESS BANK</c:v>
                </c:pt>
                <c:pt idx="8">
                  <c:v>CITY SAVINGS BANK</c:v>
                </c:pt>
                <c:pt idx="9">
                  <c:v>PHIL SAVINGS BANK</c:v>
                </c:pt>
              </c:strCache>
            </c:strRef>
          </c:cat>
          <c:val>
            <c:numRef>
              <c:f>'2025 March'!$D$57:$D$66</c:f>
              <c:numCache>
                <c:formatCode>#,##0</c:formatCode>
                <c:ptCount val="10"/>
                <c:pt idx="0">
                  <c:v>3422.32</c:v>
                </c:pt>
                <c:pt idx="1">
                  <c:v>5144.34</c:v>
                </c:pt>
                <c:pt idx="2">
                  <c:v>6807.42</c:v>
                </c:pt>
                <c:pt idx="3">
                  <c:v>7760.45</c:v>
                </c:pt>
                <c:pt idx="4">
                  <c:v>8989.56</c:v>
                </c:pt>
                <c:pt idx="5">
                  <c:v>18034.79</c:v>
                </c:pt>
                <c:pt idx="6">
                  <c:v>19268.919999999998</c:v>
                </c:pt>
                <c:pt idx="7">
                  <c:v>20084.830000000002</c:v>
                </c:pt>
                <c:pt idx="8">
                  <c:v>21625.84</c:v>
                </c:pt>
                <c:pt idx="9">
                  <c:v>43676.29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4D9-4345-A568-0DC8E78338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0"/>
        <c:gapDepth val="246"/>
        <c:shape val="cylinder"/>
        <c:axId val="486739128"/>
        <c:axId val="486740304"/>
        <c:axId val="0"/>
      </c:bar3DChart>
      <c:catAx>
        <c:axId val="48673912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6740304"/>
        <c:crosses val="autoZero"/>
        <c:auto val="1"/>
        <c:lblAlgn val="ctr"/>
        <c:lblOffset val="100"/>
        <c:noMultiLvlLbl val="0"/>
      </c:catAx>
      <c:valAx>
        <c:axId val="486740304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crossAx val="4867391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rgbClr val="DAEDEF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27566169951654801"/>
          <c:y val="6.4629757538943247E-2"/>
          <c:w val="0.69156388395369728"/>
          <c:h val="0.8374425121313801"/>
        </c:manualLayout>
      </c:layout>
      <c:bar3DChart>
        <c:barDir val="bar"/>
        <c:grouping val="stacked"/>
        <c:varyColors val="0"/>
        <c:ser>
          <c:idx val="0"/>
          <c:order val="0"/>
          <c:tx>
            <c:v>2024</c:v>
          </c:tx>
          <c:spPr>
            <a:solidFill>
              <a:schemeClr val="accent5">
                <a:lumMod val="75000"/>
              </a:schemeClr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-3.086238006076757E-3"/>
                  <c:y val="3.141135753487207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217E-4128-9FF0-125FC2D27DF4}"/>
                </c:ext>
              </c:extLst>
            </c:dLbl>
            <c:dLbl>
              <c:idx val="1"/>
              <c:layout>
                <c:manualLayout>
                  <c:x val="-5.4623396535453176E-17"/>
                  <c:y val="2.937808778266266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217E-4128-9FF0-125FC2D27DF4}"/>
                </c:ext>
              </c:extLst>
            </c:dLbl>
            <c:dLbl>
              <c:idx val="2"/>
              <c:layout>
                <c:manualLayout>
                  <c:x val="-4.9992128978707424E-3"/>
                  <c:y val="2.451443251418084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17E-4128-9FF0-125FC2D27DF4}"/>
                </c:ext>
              </c:extLst>
            </c:dLbl>
            <c:dLbl>
              <c:idx val="3"/>
              <c:layout>
                <c:manualLayout>
                  <c:x val="0"/>
                  <c:y val="2.552435921931694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217E-4128-9FF0-125FC2D27DF4}"/>
                </c:ext>
              </c:extLst>
            </c:dLbl>
            <c:dLbl>
              <c:idx val="4"/>
              <c:layout>
                <c:manualLayout>
                  <c:x val="-5.4623396535453176E-17"/>
                  <c:y val="2.350219264664177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217E-4128-9FF0-125FC2D27DF4}"/>
                </c:ext>
              </c:extLst>
            </c:dLbl>
            <c:dLbl>
              <c:idx val="5"/>
              <c:layout>
                <c:manualLayout>
                  <c:x val="1.9195438514420392E-3"/>
                  <c:y val="2.552482185179764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17E-4128-9FF0-125FC2D27DF4}"/>
                </c:ext>
              </c:extLst>
            </c:dLbl>
            <c:dLbl>
              <c:idx val="6"/>
              <c:layout>
                <c:manualLayout>
                  <c:x val="9.5977192572096494E-4"/>
                  <c:y val="2.451304461673916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217E-4128-9FF0-125FC2D27DF4}"/>
                </c:ext>
              </c:extLst>
            </c:dLbl>
            <c:dLbl>
              <c:idx val="7"/>
              <c:layout>
                <c:manualLayout>
                  <c:x val="5.8588081889589397E-3"/>
                  <c:y val="2.451489514666143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17E-4128-9FF0-125FC2D27DF4}"/>
                </c:ext>
              </c:extLst>
            </c:dLbl>
            <c:dLbl>
              <c:idx val="8"/>
              <c:layout>
                <c:manualLayout>
                  <c:x val="1.5740752253798271E-2"/>
                  <c:y val="2.6546545685188883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6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6.7619462982856648E-2"/>
                      <c:h val="4.891320690821324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217E-4128-9FF0-125FC2D27DF4}"/>
                </c:ext>
              </c:extLst>
            </c:dLbl>
            <c:dLbl>
              <c:idx val="9"/>
              <c:layout>
                <c:manualLayout>
                  <c:x val="1.2775453486956275E-2"/>
                  <c:y val="2.65352111894142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217E-4128-9FF0-125FC2D27DF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'2024 vs 2025'!$C$40:$C$50</c:f>
              <c:strCache>
                <c:ptCount val="10"/>
                <c:pt idx="0">
                  <c:v>PHIL SAVINGS BANK</c:v>
                </c:pt>
                <c:pt idx="1">
                  <c:v>CHINA BANK SAVINGS</c:v>
                </c:pt>
                <c:pt idx="2">
                  <c:v>PHIL BUSINESS BANK</c:v>
                </c:pt>
                <c:pt idx="3">
                  <c:v>CITY SAVINGS BANK</c:v>
                </c:pt>
                <c:pt idx="4">
                  <c:v>STERLING BANK OF ASIA</c:v>
                </c:pt>
                <c:pt idx="5">
                  <c:v>BANK OF MAKATI</c:v>
                </c:pt>
                <c:pt idx="6">
                  <c:v>BPI DIRECT BANKO</c:v>
                </c:pt>
                <c:pt idx="7">
                  <c:v>PRODUCERS SAVINGS BANK</c:v>
                </c:pt>
                <c:pt idx="8">
                  <c:v>FIRST CONSOLIDATED BANK</c:v>
                </c:pt>
                <c:pt idx="9">
                  <c:v>1st VALLEY BANK</c:v>
                </c:pt>
              </c:strCache>
            </c:strRef>
          </c:cat>
          <c:val>
            <c:numRef>
              <c:f>'2024 vs 2025'!$D$40:$D$50</c:f>
              <c:numCache>
                <c:formatCode>#,##0</c:formatCode>
                <c:ptCount val="11"/>
                <c:pt idx="0">
                  <c:v>124391.45</c:v>
                </c:pt>
                <c:pt idx="1">
                  <c:v>116349.5</c:v>
                </c:pt>
                <c:pt idx="2">
                  <c:v>111261.48</c:v>
                </c:pt>
                <c:pt idx="3">
                  <c:v>96681.99</c:v>
                </c:pt>
                <c:pt idx="4">
                  <c:v>35906.69</c:v>
                </c:pt>
                <c:pt idx="5">
                  <c:v>31700.03</c:v>
                </c:pt>
                <c:pt idx="6">
                  <c:v>30041.18</c:v>
                </c:pt>
                <c:pt idx="7">
                  <c:v>24702.14</c:v>
                </c:pt>
                <c:pt idx="8">
                  <c:v>19442.52</c:v>
                </c:pt>
                <c:pt idx="9">
                  <c:v>11193.58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17E-4128-9FF0-125FC2D27DF4}"/>
            </c:ext>
          </c:extLst>
        </c:ser>
        <c:ser>
          <c:idx val="1"/>
          <c:order val="1"/>
          <c:tx>
            <c:v>2025</c:v>
          </c:tx>
          <c:spPr>
            <a:solidFill>
              <a:srgbClr val="FFC000"/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-4.0460099317977767E-3"/>
                  <c:y val="3.221587541862456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217E-4128-9FF0-125FC2D27DF4}"/>
                </c:ext>
              </c:extLst>
            </c:dLbl>
            <c:dLbl>
              <c:idx val="1"/>
              <c:layout>
                <c:manualLayout>
                  <c:x val="-1.0924679307090635E-16"/>
                  <c:y val="2.937808778266266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217E-4128-9FF0-125FC2D27DF4}"/>
                </c:ext>
              </c:extLst>
            </c:dLbl>
            <c:dLbl>
              <c:idx val="2"/>
              <c:layout>
                <c:manualLayout>
                  <c:x val="-1.0924679307090635E-16"/>
                  <c:y val="2.350219264664180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217E-4128-9FF0-125FC2D27DF4}"/>
                </c:ext>
              </c:extLst>
            </c:dLbl>
            <c:dLbl>
              <c:idx val="3"/>
              <c:layout>
                <c:manualLayout>
                  <c:x val="-1.0924679307090635E-16"/>
                  <c:y val="2.35031179116029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217E-4128-9FF0-125FC2D27DF4}"/>
                </c:ext>
              </c:extLst>
            </c:dLbl>
            <c:dLbl>
              <c:idx val="4"/>
              <c:layout>
                <c:manualLayout>
                  <c:x val="-5.4623396535453176E-17"/>
                  <c:y val="2.350173001416123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217E-4128-9FF0-125FC2D27DF4}"/>
                </c:ext>
              </c:extLst>
            </c:dLbl>
            <c:dLbl>
              <c:idx val="5"/>
              <c:layout>
                <c:manualLayout>
                  <c:x val="1.4897462058979349E-2"/>
                  <c:y val="2.350219264664182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217E-4128-9FF0-125FC2D27DF4}"/>
                </c:ext>
              </c:extLst>
            </c:dLbl>
            <c:dLbl>
              <c:idx val="6"/>
              <c:layout>
                <c:manualLayout>
                  <c:x val="5.9589848235917613E-3"/>
                  <c:y val="2.836723581256537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217E-4128-9FF0-125FC2D27DF4}"/>
                </c:ext>
              </c:extLst>
            </c:dLbl>
            <c:dLbl>
              <c:idx val="7"/>
              <c:layout>
                <c:manualLayout>
                  <c:x val="5.9589848235917075E-3"/>
                  <c:y val="2.350311791160306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217E-4128-9FF0-125FC2D27DF4}"/>
                </c:ext>
              </c:extLst>
            </c:dLbl>
            <c:dLbl>
              <c:idx val="8"/>
              <c:layout>
                <c:manualLayout>
                  <c:x val="5.0541106320723353E-2"/>
                  <c:y val="4.863192636001334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217E-4128-9FF0-125FC2D27DF4}"/>
                </c:ext>
              </c:extLst>
            </c:dLbl>
            <c:dLbl>
              <c:idx val="9"/>
              <c:layout>
                <c:manualLayout>
                  <c:x val="4.363243761658437E-2"/>
                  <c:y val="4.865043165923709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217E-4128-9FF0-125FC2D27DF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600" b="1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'2024 vs 2025'!$C$40:$C$50</c:f>
              <c:strCache>
                <c:ptCount val="10"/>
                <c:pt idx="0">
                  <c:v>PHIL SAVINGS BANK</c:v>
                </c:pt>
                <c:pt idx="1">
                  <c:v>CHINA BANK SAVINGS</c:v>
                </c:pt>
                <c:pt idx="2">
                  <c:v>PHIL BUSINESS BANK</c:v>
                </c:pt>
                <c:pt idx="3">
                  <c:v>CITY SAVINGS BANK</c:v>
                </c:pt>
                <c:pt idx="4">
                  <c:v>STERLING BANK OF ASIA</c:v>
                </c:pt>
                <c:pt idx="5">
                  <c:v>BANK OF MAKATI</c:v>
                </c:pt>
                <c:pt idx="6">
                  <c:v>BPI DIRECT BANKO</c:v>
                </c:pt>
                <c:pt idx="7">
                  <c:v>PRODUCERS SAVINGS BANK</c:v>
                </c:pt>
                <c:pt idx="8">
                  <c:v>FIRST CONSOLIDATED BANK</c:v>
                </c:pt>
                <c:pt idx="9">
                  <c:v>1st VALLEY BANK</c:v>
                </c:pt>
              </c:strCache>
            </c:strRef>
          </c:cat>
          <c:val>
            <c:numRef>
              <c:f>'2024 vs 2025'!$H$40:$H$49</c:f>
              <c:numCache>
                <c:formatCode>#,##0</c:formatCode>
                <c:ptCount val="10"/>
                <c:pt idx="0">
                  <c:v>154426.26</c:v>
                </c:pt>
                <c:pt idx="1">
                  <c:v>143611.69</c:v>
                </c:pt>
                <c:pt idx="2">
                  <c:v>121748.11</c:v>
                </c:pt>
                <c:pt idx="3">
                  <c:v>105030.03</c:v>
                </c:pt>
                <c:pt idx="4">
                  <c:v>46342.23</c:v>
                </c:pt>
                <c:pt idx="5">
                  <c:v>42385.88</c:v>
                </c:pt>
                <c:pt idx="6">
                  <c:v>36500.39</c:v>
                </c:pt>
                <c:pt idx="7">
                  <c:v>29263.21</c:v>
                </c:pt>
                <c:pt idx="8">
                  <c:v>19954.59</c:v>
                </c:pt>
                <c:pt idx="9">
                  <c:v>11284.7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217E-4128-9FF0-125FC2D27DF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0"/>
        <c:gapDepth val="50"/>
        <c:shape val="box"/>
        <c:axId val="166434719"/>
        <c:axId val="166442623"/>
        <c:axId val="0"/>
      </c:bar3DChart>
      <c:catAx>
        <c:axId val="166434719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6442623"/>
        <c:crosses val="autoZero"/>
        <c:auto val="1"/>
        <c:lblAlgn val="ctr"/>
        <c:lblOffset val="100"/>
        <c:noMultiLvlLbl val="0"/>
      </c:catAx>
      <c:valAx>
        <c:axId val="166442623"/>
        <c:scaling>
          <c:orientation val="minMax"/>
        </c:scaling>
        <c:delete val="1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crossAx val="16643471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41058414239064617"/>
          <c:y val="0.89619683716678311"/>
          <c:w val="0.17883148061300594"/>
          <c:h val="9.205229782613623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accent2">
        <a:lumMod val="20000"/>
        <a:lumOff val="80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27490479520528605"/>
          <c:y val="6.3553645054029703E-2"/>
          <c:w val="0.69241077935626416"/>
          <c:h val="0.83894860343480826"/>
        </c:manualLayout>
      </c:layout>
      <c:bar3DChart>
        <c:barDir val="bar"/>
        <c:grouping val="stacked"/>
        <c:varyColors val="0"/>
        <c:ser>
          <c:idx val="0"/>
          <c:order val="0"/>
          <c:tx>
            <c:v>2024</c:v>
          </c:tx>
          <c:spPr>
            <a:solidFill>
              <a:schemeClr val="accent5">
                <a:lumMod val="75000"/>
              </a:schemeClr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1.5796146513259599E-2"/>
                  <c:y val="-2.669025627541065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72D-4BD2-9DA8-52C107EAAE20}"/>
                </c:ext>
              </c:extLst>
            </c:dLbl>
            <c:dLbl>
              <c:idx val="1"/>
              <c:layout>
                <c:manualLayout>
                  <c:x val="1.4856557017477106E-2"/>
                  <c:y val="-3.008130044314678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72D-4BD2-9DA8-52C107EAAE20}"/>
                </c:ext>
              </c:extLst>
            </c:dLbl>
            <c:dLbl>
              <c:idx val="2"/>
              <c:layout>
                <c:manualLayout>
                  <c:x val="1.485655701747716E-2"/>
                  <c:y val="-2.4303696347325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A72D-4BD2-9DA8-52C107EAAE20}"/>
                </c:ext>
              </c:extLst>
            </c:dLbl>
            <c:dLbl>
              <c:idx val="3"/>
              <c:layout>
                <c:manualLayout>
                  <c:x val="2.9713114034954319E-3"/>
                  <c:y val="-2.888802047910451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A72D-4BD2-9DA8-52C107EAAE20}"/>
                </c:ext>
              </c:extLst>
            </c:dLbl>
            <c:dLbl>
              <c:idx val="4"/>
              <c:layout>
                <c:manualLayout>
                  <c:x val="-2.0317219077129393E-3"/>
                  <c:y val="-2.31104163832835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72D-4BD2-9DA8-52C107EAAE20}"/>
                </c:ext>
              </c:extLst>
            </c:dLbl>
            <c:dLbl>
              <c:idx val="5"/>
              <c:layout>
                <c:manualLayout>
                  <c:x val="-4.0634438154258786E-3"/>
                  <c:y val="-2.669025627541070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A72D-4BD2-9DA8-52C107EAAE20}"/>
                </c:ext>
              </c:extLst>
            </c:dLbl>
            <c:dLbl>
              <c:idx val="6"/>
              <c:layout>
                <c:manualLayout>
                  <c:x val="-5.0030333112083712E-3"/>
                  <c:y val="-2.549697631136827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72D-4BD2-9DA8-52C107EAAE20}"/>
                </c:ext>
              </c:extLst>
            </c:dLbl>
            <c:dLbl>
              <c:idx val="7"/>
              <c:layout>
                <c:manualLayout>
                  <c:x val="9.3958949578249254E-4"/>
                  <c:y val="-2.4303696347325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A72D-4BD2-9DA8-52C107EAAE20}"/>
                </c:ext>
              </c:extLst>
            </c:dLbl>
            <c:dLbl>
              <c:idx val="8"/>
              <c:layout>
                <c:manualLayout>
                  <c:x val="-4.0634438154259333E-3"/>
                  <c:y val="-2.4303696347325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A72D-4BD2-9DA8-52C107EAAE20}"/>
                </c:ext>
              </c:extLst>
            </c:dLbl>
            <c:dLbl>
              <c:idx val="9"/>
              <c:layout>
                <c:manualLayout>
                  <c:x val="-2.9713114034954319E-3"/>
                  <c:y val="-2.897604904640963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A72D-4BD2-9DA8-52C107EAAE2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'2024 vs 2025'!$C$58:$C$67</c:f>
              <c:strCache>
                <c:ptCount val="10"/>
                <c:pt idx="0">
                  <c:v>CARD SME BANK</c:v>
                </c:pt>
                <c:pt idx="1">
                  <c:v>STERLING BANK OF ASIA</c:v>
                </c:pt>
                <c:pt idx="2">
                  <c:v>PRODUCERS SAVINGS BANK</c:v>
                </c:pt>
                <c:pt idx="3">
                  <c:v>BPI DIRECT BANKO</c:v>
                </c:pt>
                <c:pt idx="4">
                  <c:v>FIRST CONSOLIDATED BANK</c:v>
                </c:pt>
                <c:pt idx="5">
                  <c:v>CHINA BANK SAVINGS</c:v>
                </c:pt>
                <c:pt idx="6">
                  <c:v>BANK OF MAKATI</c:v>
                </c:pt>
                <c:pt idx="7">
                  <c:v>PHIL BUSINESS BANK</c:v>
                </c:pt>
                <c:pt idx="8">
                  <c:v>CITY SAVINGS BANK</c:v>
                </c:pt>
                <c:pt idx="9">
                  <c:v>PHIL SAVINGS BANK</c:v>
                </c:pt>
              </c:strCache>
            </c:strRef>
          </c:cat>
          <c:val>
            <c:numRef>
              <c:f>'2024 vs 2025'!$D$58:$D$67</c:f>
              <c:numCache>
                <c:formatCode>#,##0</c:formatCode>
                <c:ptCount val="10"/>
                <c:pt idx="0">
                  <c:v>2612.02</c:v>
                </c:pt>
                <c:pt idx="1">
                  <c:v>4413.8500000000004</c:v>
                </c:pt>
                <c:pt idx="2">
                  <c:v>5505.75</c:v>
                </c:pt>
                <c:pt idx="3">
                  <c:v>5931.63</c:v>
                </c:pt>
                <c:pt idx="4">
                  <c:v>6751.09</c:v>
                </c:pt>
                <c:pt idx="5">
                  <c:v>17032.150000000001</c:v>
                </c:pt>
                <c:pt idx="6">
                  <c:v>17315.62</c:v>
                </c:pt>
                <c:pt idx="7">
                  <c:v>18415.72</c:v>
                </c:pt>
                <c:pt idx="8">
                  <c:v>20638.25</c:v>
                </c:pt>
                <c:pt idx="9">
                  <c:v>39461.370000000003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72D-4BD2-9DA8-52C107EAAE20}"/>
            </c:ext>
          </c:extLst>
        </c:ser>
        <c:ser>
          <c:idx val="1"/>
          <c:order val="1"/>
          <c:tx>
            <c:v>2025</c:v>
          </c:tx>
          <c:spPr>
            <a:solidFill>
              <a:srgbClr val="FFC000"/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3.9566637741223057E-2"/>
                  <c:y val="-4.584324131778505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A72D-4BD2-9DA8-52C107EAAE20}"/>
                </c:ext>
              </c:extLst>
            </c:dLbl>
            <c:dLbl>
              <c:idx val="1"/>
              <c:layout>
                <c:manualLayout>
                  <c:x val="4.1598359648936045E-2"/>
                  <c:y val="-4.584324131778505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A72D-4BD2-9DA8-52C107EAAE20}"/>
                </c:ext>
              </c:extLst>
            </c:dLbl>
            <c:dLbl>
              <c:idx val="2"/>
              <c:layout>
                <c:manualLayout>
                  <c:x val="4.754098245592691E-2"/>
                  <c:y val="-4.584324131778611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A72D-4BD2-9DA8-52C107EAAE20}"/>
                </c:ext>
              </c:extLst>
            </c:dLbl>
            <c:dLbl>
              <c:idx val="3"/>
              <c:layout>
                <c:manualLayout>
                  <c:x val="8.9139342104862969E-3"/>
                  <c:y val="-2.311041638328352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A72D-4BD2-9DA8-52C107EAAE20}"/>
                </c:ext>
              </c:extLst>
            </c:dLbl>
            <c:dLbl>
              <c:idx val="4"/>
              <c:layout>
                <c:manualLayout>
                  <c:x val="0"/>
                  <c:y val="-2.31104163832835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A72D-4BD2-9DA8-52C107EAAE20}"/>
                </c:ext>
              </c:extLst>
            </c:dLbl>
            <c:dLbl>
              <c:idx val="5"/>
              <c:layout>
                <c:manualLayout>
                  <c:x val="-5.4473413115899543E-17"/>
                  <c:y val="-2.888802047910446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A72D-4BD2-9DA8-52C107EAAE20}"/>
                </c:ext>
              </c:extLst>
            </c:dLbl>
            <c:dLbl>
              <c:idx val="6"/>
              <c:layout>
                <c:manualLayout>
                  <c:x val="-4.0634438154258786E-3"/>
                  <c:y val="-2.311041638328352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A72D-4BD2-9DA8-52C107EAAE20}"/>
                </c:ext>
              </c:extLst>
            </c:dLbl>
            <c:dLbl>
              <c:idx val="7"/>
              <c:layout>
                <c:manualLayout>
                  <c:x val="-2.9713114034954319E-3"/>
                  <c:y val="-2.888802047910443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A72D-4BD2-9DA8-52C107EAAE20}"/>
                </c:ext>
              </c:extLst>
            </c:dLbl>
            <c:dLbl>
              <c:idx val="8"/>
              <c:layout>
                <c:manualLayout>
                  <c:x val="-5.4473413115899543E-17"/>
                  <c:y val="-2.650146055101968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A72D-4BD2-9DA8-52C107EAAE20}"/>
                </c:ext>
              </c:extLst>
            </c:dLbl>
            <c:dLbl>
              <c:idx val="9"/>
              <c:layout>
                <c:manualLayout>
                  <c:x val="0"/>
                  <c:y val="-2.88880204791044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A72D-4BD2-9DA8-52C107EAAE2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600" b="1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'2024 vs 2025'!$C$58:$C$67</c:f>
              <c:strCache>
                <c:ptCount val="10"/>
                <c:pt idx="0">
                  <c:v>CARD SME BANK</c:v>
                </c:pt>
                <c:pt idx="1">
                  <c:v>STERLING BANK OF ASIA</c:v>
                </c:pt>
                <c:pt idx="2">
                  <c:v>PRODUCERS SAVINGS BANK</c:v>
                </c:pt>
                <c:pt idx="3">
                  <c:v>BPI DIRECT BANKO</c:v>
                </c:pt>
                <c:pt idx="4">
                  <c:v>FIRST CONSOLIDATED BANK</c:v>
                </c:pt>
                <c:pt idx="5">
                  <c:v>CHINA BANK SAVINGS</c:v>
                </c:pt>
                <c:pt idx="6">
                  <c:v>BANK OF MAKATI</c:v>
                </c:pt>
                <c:pt idx="7">
                  <c:v>PHIL BUSINESS BANK</c:v>
                </c:pt>
                <c:pt idx="8">
                  <c:v>CITY SAVINGS BANK</c:v>
                </c:pt>
                <c:pt idx="9">
                  <c:v>PHIL SAVINGS BANK</c:v>
                </c:pt>
              </c:strCache>
            </c:strRef>
          </c:cat>
          <c:val>
            <c:numRef>
              <c:f>'2024 vs 2025'!$H$58:$H$67</c:f>
              <c:numCache>
                <c:formatCode>#,##0</c:formatCode>
                <c:ptCount val="10"/>
                <c:pt idx="0">
                  <c:v>3422.32</c:v>
                </c:pt>
                <c:pt idx="1">
                  <c:v>5144.34</c:v>
                </c:pt>
                <c:pt idx="2">
                  <c:v>6807.42</c:v>
                </c:pt>
                <c:pt idx="3">
                  <c:v>7760.45</c:v>
                </c:pt>
                <c:pt idx="4">
                  <c:v>8989.56</c:v>
                </c:pt>
                <c:pt idx="5">
                  <c:v>18034.79</c:v>
                </c:pt>
                <c:pt idx="6">
                  <c:v>19268.919999999998</c:v>
                </c:pt>
                <c:pt idx="7">
                  <c:v>20084.830000000002</c:v>
                </c:pt>
                <c:pt idx="8">
                  <c:v>21625.84</c:v>
                </c:pt>
                <c:pt idx="9">
                  <c:v>43676.29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A72D-4BD2-9DA8-52C107EAAE2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0"/>
        <c:gapDepth val="50"/>
        <c:shape val="box"/>
        <c:axId val="239417903"/>
        <c:axId val="239437039"/>
        <c:axId val="0"/>
      </c:bar3DChart>
      <c:catAx>
        <c:axId val="23941790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39437039"/>
        <c:crosses val="autoZero"/>
        <c:auto val="1"/>
        <c:lblAlgn val="ctr"/>
        <c:lblOffset val="100"/>
        <c:noMultiLvlLbl val="0"/>
      </c:catAx>
      <c:valAx>
        <c:axId val="239437039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crossAx val="2394179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9971274203612506"/>
          <c:y val="0.90250224848883798"/>
          <c:w val="0.20057428196622204"/>
          <c:h val="9.749775151116192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DAEDEF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 w="25400"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28001230560666035"/>
          <c:y val="6.4975807325568791E-2"/>
          <c:w val="0.70516588060480467"/>
          <c:h val="0.80581024180581573"/>
        </c:manualLayout>
      </c:layout>
      <c:bar3DChart>
        <c:barDir val="bar"/>
        <c:grouping val="stacked"/>
        <c:varyColors val="0"/>
        <c:ser>
          <c:idx val="0"/>
          <c:order val="0"/>
          <c:tx>
            <c:v>2024</c:v>
          </c:tx>
          <c:spPr>
            <a:solidFill>
              <a:schemeClr val="accent5">
                <a:lumMod val="75000"/>
                <a:alpha val="99000"/>
              </a:schemeClr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-5.4346022748069224E-17"/>
                  <c:y val="2.362756630020683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2FD8-4174-AFB5-E7128E8D40EA}"/>
                </c:ext>
              </c:extLst>
            </c:dLbl>
            <c:dLbl>
              <c:idx val="1"/>
              <c:layout>
                <c:manualLayout>
                  <c:x val="0"/>
                  <c:y val="2.36289616289253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2FD8-4174-AFB5-E7128E8D40EA}"/>
                </c:ext>
              </c:extLst>
            </c:dLbl>
            <c:dLbl>
              <c:idx val="2"/>
              <c:layout>
                <c:manualLayout>
                  <c:x val="-1.1034198475990763E-2"/>
                  <c:y val="2.59721836568868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2FD8-4174-AFB5-E7128E8D40EA}"/>
                </c:ext>
              </c:extLst>
            </c:dLbl>
            <c:dLbl>
              <c:idx val="3"/>
              <c:layout>
                <c:manualLayout>
                  <c:x val="-4.0348011519466993E-3"/>
                  <c:y val="2.480103775247897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FD8-4174-AFB5-E7128E8D40EA}"/>
                </c:ext>
              </c:extLst>
            </c:dLbl>
            <c:dLbl>
              <c:idx val="4"/>
              <c:layout>
                <c:manualLayout>
                  <c:x val="-5.4346022748069224E-17"/>
                  <c:y val="2.362849651935251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2FD8-4174-AFB5-E7128E8D40EA}"/>
                </c:ext>
              </c:extLst>
            </c:dLbl>
            <c:dLbl>
              <c:idx val="5"/>
              <c:layout>
                <c:manualLayout>
                  <c:x val="-3.0880723846034267E-3"/>
                  <c:y val="2.597357898560537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2FD8-4174-AFB5-E7128E8D40EA}"/>
                </c:ext>
              </c:extLst>
            </c:dLbl>
            <c:dLbl>
              <c:idx val="6"/>
              <c:layout>
                <c:manualLayout>
                  <c:x val="-2.1681862721528306E-3"/>
                  <c:y val="2.595171883568190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FD8-4174-AFB5-E7128E8D40EA}"/>
                </c:ext>
              </c:extLst>
            </c:dLbl>
            <c:dLbl>
              <c:idx val="7"/>
              <c:layout>
                <c:manualLayout>
                  <c:x val="9.4019316441289517E-4"/>
                  <c:y val="2.47898751227307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2FD8-4174-AFB5-E7128E8D40EA}"/>
                </c:ext>
              </c:extLst>
            </c:dLbl>
            <c:dLbl>
              <c:idx val="8"/>
              <c:layout>
                <c:manualLayout>
                  <c:x val="1.4677797109676287E-2"/>
                  <c:y val="2.595171883568190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FD8-4174-AFB5-E7128E8D40EA}"/>
                </c:ext>
              </c:extLst>
            </c:dLbl>
            <c:dLbl>
              <c:idx val="9"/>
              <c:layout>
                <c:manualLayout>
                  <c:x val="1.4821813788534964E-2"/>
                  <c:y val="2.595264905482758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2FD8-4174-AFB5-E7128E8D40E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'2024 vs 2025'!$C$23:$C$32</c:f>
              <c:strCache>
                <c:ptCount val="10"/>
                <c:pt idx="0">
                  <c:v>PHIL SAVINGS BANK</c:v>
                </c:pt>
                <c:pt idx="1">
                  <c:v>CHINA BANK SAVINGS</c:v>
                </c:pt>
                <c:pt idx="2">
                  <c:v>CITY SAVINGS BANK</c:v>
                </c:pt>
                <c:pt idx="3">
                  <c:v>PHIL BUSINESS BANK</c:v>
                </c:pt>
                <c:pt idx="4">
                  <c:v>BANK OF MAKATI</c:v>
                </c:pt>
                <c:pt idx="5">
                  <c:v>BPI DIRECT BANKO</c:v>
                </c:pt>
                <c:pt idx="6">
                  <c:v>STERLING BANK OF ASIA</c:v>
                </c:pt>
                <c:pt idx="7">
                  <c:v>PRODUCERS SAVINGS BANK</c:v>
                </c:pt>
                <c:pt idx="8">
                  <c:v>FIRST CONSOLIDATED BANK</c:v>
                </c:pt>
                <c:pt idx="9">
                  <c:v>UCPB SAVINGS BANK</c:v>
                </c:pt>
              </c:strCache>
            </c:strRef>
          </c:cat>
          <c:val>
            <c:numRef>
              <c:f>'2024 vs 2025'!$D$23:$D$32</c:f>
              <c:numCache>
                <c:formatCode>#,##0</c:formatCode>
                <c:ptCount val="10"/>
                <c:pt idx="0">
                  <c:v>232077.99</c:v>
                </c:pt>
                <c:pt idx="1">
                  <c:v>164134.01</c:v>
                </c:pt>
                <c:pt idx="2">
                  <c:v>160790.35999999999</c:v>
                </c:pt>
                <c:pt idx="3">
                  <c:v>148143.24</c:v>
                </c:pt>
                <c:pt idx="4">
                  <c:v>54454.69</c:v>
                </c:pt>
                <c:pt idx="5">
                  <c:v>50436.98</c:v>
                </c:pt>
                <c:pt idx="6">
                  <c:v>47484.08</c:v>
                </c:pt>
                <c:pt idx="7">
                  <c:v>34070.660000000003</c:v>
                </c:pt>
                <c:pt idx="8">
                  <c:v>26363.599999999999</c:v>
                </c:pt>
                <c:pt idx="9">
                  <c:v>16714.97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2FD8-4174-AFB5-E7128E8D40EA}"/>
            </c:ext>
          </c:extLst>
        </c:ser>
        <c:ser>
          <c:idx val="1"/>
          <c:order val="1"/>
          <c:tx>
            <c:v>2025</c:v>
          </c:tx>
          <c:spPr>
            <a:solidFill>
              <a:srgbClr val="FFC000"/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-1.0869204549613845E-16"/>
                  <c:y val="2.484754870976280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2FD8-4174-AFB5-E7128E8D40EA}"/>
                </c:ext>
              </c:extLst>
            </c:dLbl>
            <c:dLbl>
              <c:idx val="1"/>
              <c:layout>
                <c:manualLayout>
                  <c:x val="0"/>
                  <c:y val="2.95353880944042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2FD8-4174-AFB5-E7128E8D40EA}"/>
                </c:ext>
              </c:extLst>
            </c:dLbl>
            <c:dLbl>
              <c:idx val="2"/>
              <c:layout>
                <c:manualLayout>
                  <c:x val="-4.0348011519466993E-3"/>
                  <c:y val="2.71917009568699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2FD8-4174-AFB5-E7128E8D40EA}"/>
                </c:ext>
              </c:extLst>
            </c:dLbl>
            <c:dLbl>
              <c:idx val="3"/>
              <c:layout>
                <c:manualLayout>
                  <c:x val="-2.964362757706993E-3"/>
                  <c:y val="2.953445787525854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2FD8-4174-AFB5-E7128E8D40EA}"/>
                </c:ext>
              </c:extLst>
            </c:dLbl>
            <c:dLbl>
              <c:idx val="4"/>
              <c:layout>
                <c:manualLayout>
                  <c:x val="-1.2370962689643356E-4"/>
                  <c:y val="2.719263117601560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2FD8-4174-AFB5-E7128E8D40EA}"/>
                </c:ext>
              </c:extLst>
            </c:dLbl>
            <c:dLbl>
              <c:idx val="5"/>
              <c:layout>
                <c:manualLayout>
                  <c:x val="0"/>
                  <c:y val="2.362803140977967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2FD8-4174-AFB5-E7128E8D40EA}"/>
                </c:ext>
              </c:extLst>
            </c:dLbl>
            <c:dLbl>
              <c:idx val="6"/>
              <c:layout>
                <c:manualLayout>
                  <c:x val="2.964362757706993E-3"/>
                  <c:y val="2.362756630020694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2FD8-4174-AFB5-E7128E8D40EA}"/>
                </c:ext>
              </c:extLst>
            </c:dLbl>
            <c:dLbl>
              <c:idx val="7"/>
              <c:layout>
                <c:manualLayout>
                  <c:x val="8.8930882731209256E-3"/>
                  <c:y val="2.362849651935261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2FD8-4174-AFB5-E7128E8D40EA}"/>
                </c:ext>
              </c:extLst>
            </c:dLbl>
            <c:dLbl>
              <c:idx val="8"/>
              <c:layout>
                <c:manualLayout>
                  <c:x val="5.0394166881018825E-2"/>
                  <c:y val="5.907821794197386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2FD8-4174-AFB5-E7128E8D40EA}"/>
                </c:ext>
              </c:extLst>
            </c:dLbl>
            <c:dLbl>
              <c:idx val="9"/>
              <c:layout>
                <c:manualLayout>
                  <c:x val="5.039416688101888E-2"/>
                  <c:y val="9.492886381638218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2FD8-4174-AFB5-E7128E8D40E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600" b="1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'2024 vs 2025'!$C$23:$C$32</c:f>
              <c:strCache>
                <c:ptCount val="10"/>
                <c:pt idx="0">
                  <c:v>PHIL SAVINGS BANK</c:v>
                </c:pt>
                <c:pt idx="1">
                  <c:v>CHINA BANK SAVINGS</c:v>
                </c:pt>
                <c:pt idx="2">
                  <c:v>CITY SAVINGS BANK</c:v>
                </c:pt>
                <c:pt idx="3">
                  <c:v>PHIL BUSINESS BANK</c:v>
                </c:pt>
                <c:pt idx="4">
                  <c:v>BANK OF MAKATI</c:v>
                </c:pt>
                <c:pt idx="5">
                  <c:v>BPI DIRECT BANKO</c:v>
                </c:pt>
                <c:pt idx="6">
                  <c:v>STERLING BANK OF ASIA</c:v>
                </c:pt>
                <c:pt idx="7">
                  <c:v>PRODUCERS SAVINGS BANK</c:v>
                </c:pt>
                <c:pt idx="8">
                  <c:v>FIRST CONSOLIDATED BANK</c:v>
                </c:pt>
                <c:pt idx="9">
                  <c:v>UCPB SAVINGS BANK</c:v>
                </c:pt>
              </c:strCache>
            </c:strRef>
          </c:cat>
          <c:val>
            <c:numRef>
              <c:f>'2024 vs 2025'!$H$23:$H$32</c:f>
              <c:numCache>
                <c:formatCode>#,##0</c:formatCode>
                <c:ptCount val="10"/>
                <c:pt idx="0">
                  <c:v>220559.48</c:v>
                </c:pt>
                <c:pt idx="1">
                  <c:v>194961.41</c:v>
                </c:pt>
                <c:pt idx="2">
                  <c:v>161185.26999999999</c:v>
                </c:pt>
                <c:pt idx="3">
                  <c:v>153876.9</c:v>
                </c:pt>
                <c:pt idx="4">
                  <c:v>60564.5</c:v>
                </c:pt>
                <c:pt idx="5">
                  <c:v>57361.64</c:v>
                </c:pt>
                <c:pt idx="6">
                  <c:v>53657.06</c:v>
                </c:pt>
                <c:pt idx="7">
                  <c:v>39142.28</c:v>
                </c:pt>
                <c:pt idx="8">
                  <c:v>29536.880000000001</c:v>
                </c:pt>
                <c:pt idx="9">
                  <c:v>17399.07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2FD8-4174-AFB5-E7128E8D40E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0"/>
        <c:gapDepth val="50"/>
        <c:shape val="box"/>
        <c:axId val="27947615"/>
        <c:axId val="27949279"/>
        <c:axId val="0"/>
      </c:bar3DChart>
      <c:catAx>
        <c:axId val="27947615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7949279"/>
        <c:crosses val="autoZero"/>
        <c:auto val="1"/>
        <c:lblAlgn val="ctr"/>
        <c:lblOffset val="100"/>
        <c:noMultiLvlLbl val="0"/>
      </c:catAx>
      <c:valAx>
        <c:axId val="27949279"/>
        <c:scaling>
          <c:orientation val="minMax"/>
        </c:scaling>
        <c:delete val="1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crossAx val="279476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41103830656926127"/>
          <c:y val="0.90154793116936449"/>
          <c:w val="0.17792338686147743"/>
          <c:h val="9.2545177255583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accent2">
        <a:lumMod val="20000"/>
        <a:lumOff val="80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31139771924890847"/>
          <c:y val="6.4553125558832761E-2"/>
          <c:w val="0.6559178476657419"/>
          <c:h val="0.84937218966327477"/>
        </c:manualLayout>
      </c:layout>
      <c:bar3DChart>
        <c:barDir val="bar"/>
        <c:grouping val="clustered"/>
        <c:varyColors val="0"/>
        <c:ser>
          <c:idx val="1"/>
          <c:order val="0"/>
          <c:tx>
            <c:v>2025</c:v>
          </c:tx>
          <c:spPr>
            <a:solidFill>
              <a:srgbClr val="2F5597"/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-8.9139362960043416E-3"/>
                  <c:y val="2.477370594549535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3470-4D10-8D3A-CDD98EB05CBF}"/>
                </c:ext>
              </c:extLst>
            </c:dLbl>
            <c:dLbl>
              <c:idx val="1"/>
              <c:layout>
                <c:manualLayout>
                  <c:x val="-1.188524839467271E-2"/>
                  <c:y val="5.869390127761587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3470-4D10-8D3A-CDD98EB05CBF}"/>
                </c:ext>
              </c:extLst>
            </c:dLbl>
            <c:dLbl>
              <c:idx val="3"/>
              <c:layout>
                <c:manualLayout>
                  <c:x val="-8.9139362960044509E-3"/>
                  <c:y val="1.415594131349206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470-4D10-8D3A-CDD98EB05CBF}"/>
                </c:ext>
              </c:extLst>
            </c:dLbl>
            <c:dLbl>
              <c:idx val="4"/>
              <c:layout>
                <c:manualLayout>
                  <c:x val="-8.9139362960045047E-3"/>
                  <c:y val="1.173693191978782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3470-4D10-8D3A-CDD98EB05CBF}"/>
                </c:ext>
              </c:extLst>
            </c:dLbl>
            <c:dLbl>
              <c:idx val="5"/>
              <c:layout>
                <c:manualLayout>
                  <c:x val="-8.9139362960045602E-3"/>
                  <c:y val="5.8684659598939948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700" b="1" i="0" u="none" strike="noStrike" kern="1200" baseline="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3470-4D10-8D3A-CDD98EB05CBF}"/>
                </c:ext>
              </c:extLst>
            </c:dLbl>
            <c:dLbl>
              <c:idx val="6"/>
              <c:layout>
                <c:manualLayout>
                  <c:x val="-8.9139362960045047E-3"/>
                  <c:y val="1.41564033974259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470-4D10-8D3A-CDD98EB05CBF}"/>
                </c:ext>
              </c:extLst>
            </c:dLbl>
            <c:dLbl>
              <c:idx val="7"/>
              <c:layout>
                <c:manualLayout>
                  <c:x val="-1.9872823319490684E-3"/>
                  <c:y val="9.437050230743308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3470-4D10-8D3A-CDD98EB05CBF}"/>
                </c:ext>
              </c:extLst>
            </c:dLbl>
            <c:dLbl>
              <c:idx val="8"/>
              <c:layout>
                <c:manualLayout>
                  <c:x val="-1.4856560493340751E-2"/>
                  <c:y val="3.570984640792122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470-4D10-8D3A-CDD98EB05CBF}"/>
                </c:ext>
              </c:extLst>
            </c:dLbl>
            <c:dLbl>
              <c:idx val="9"/>
              <c:layout>
                <c:manualLayout>
                  <c:x val="-1.9872823319490684E-3"/>
                  <c:y val="4.718525115371654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3470-4D10-8D3A-CDD98EB05CB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'2024 vs 2025'!$C$8:$C$17</c:f>
              <c:strCache>
                <c:ptCount val="10"/>
                <c:pt idx="0">
                  <c:v>PHIL SAVINGS BANK</c:v>
                </c:pt>
                <c:pt idx="1">
                  <c:v>CHINA BANK SAVINGS</c:v>
                </c:pt>
                <c:pt idx="2">
                  <c:v>PHIL BUSINESS BANK</c:v>
                </c:pt>
                <c:pt idx="3">
                  <c:v>CITY SAVINGS BANK</c:v>
                </c:pt>
                <c:pt idx="4">
                  <c:v>BPI DIRECT BANKO</c:v>
                </c:pt>
                <c:pt idx="5">
                  <c:v>STERLING BANK OF ASIA</c:v>
                </c:pt>
                <c:pt idx="6">
                  <c:v>BANK OF MAKATI</c:v>
                </c:pt>
                <c:pt idx="7">
                  <c:v>PRODUCERS SAVINGS BANK</c:v>
                </c:pt>
                <c:pt idx="8">
                  <c:v>FIRST CONSOLIDATED BANK</c:v>
                </c:pt>
                <c:pt idx="9">
                  <c:v>UCPB SAVINGS BANK</c:v>
                </c:pt>
              </c:strCache>
            </c:strRef>
          </c:cat>
          <c:val>
            <c:numRef>
              <c:f>'2024 vs 2025'!$H$8:$H$17</c:f>
              <c:numCache>
                <c:formatCode>#,##0</c:formatCode>
                <c:ptCount val="10"/>
                <c:pt idx="0">
                  <c:v>170728.89</c:v>
                </c:pt>
                <c:pt idx="1">
                  <c:v>169678.92</c:v>
                </c:pt>
                <c:pt idx="2">
                  <c:v>130715.98</c:v>
                </c:pt>
                <c:pt idx="3">
                  <c:v>93441.09</c:v>
                </c:pt>
                <c:pt idx="4">
                  <c:v>52139.78</c:v>
                </c:pt>
                <c:pt idx="5">
                  <c:v>43904.480000000003</c:v>
                </c:pt>
                <c:pt idx="6">
                  <c:v>33138.82</c:v>
                </c:pt>
                <c:pt idx="7">
                  <c:v>25439.29</c:v>
                </c:pt>
                <c:pt idx="8">
                  <c:v>20120.66</c:v>
                </c:pt>
                <c:pt idx="9">
                  <c:v>14491.47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3470-4D10-8D3A-CDD98EB05CBF}"/>
            </c:ext>
          </c:extLst>
        </c:ser>
        <c:ser>
          <c:idx val="0"/>
          <c:order val="1"/>
          <c:tx>
            <c:v>2024</c:v>
          </c:tx>
          <c:spPr>
            <a:solidFill>
              <a:srgbClr val="FFC000"/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-8.9139362960044509E-3"/>
                  <c:y val="1.3448412467548402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3470-4D10-8D3A-CDD98EB05CBF}"/>
                </c:ext>
              </c:extLst>
            </c:dLbl>
            <c:dLbl>
              <c:idx val="1"/>
              <c:layout>
                <c:manualLayout>
                  <c:x val="0"/>
                  <c:y val="-4.718525115371654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3470-4D10-8D3A-CDD98EB05CBF}"/>
                </c:ext>
              </c:extLst>
            </c:dLbl>
            <c:dLbl>
              <c:idx val="2"/>
              <c:layout>
                <c:manualLayout>
                  <c:x val="-8.9139362960044509E-3"/>
                  <c:y val="-4.717876964607604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3470-4D10-8D3A-CDD98EB05CBF}"/>
                </c:ext>
              </c:extLst>
            </c:dLbl>
            <c:dLbl>
              <c:idx val="4"/>
              <c:layout>
                <c:manualLayout>
                  <c:x val="0"/>
                  <c:y val="-4.718525115371654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3470-4D10-8D3A-CDD98EB05CBF}"/>
                </c:ext>
              </c:extLst>
            </c:dLbl>
            <c:dLbl>
              <c:idx val="5"/>
              <c:layout>
                <c:manualLayout>
                  <c:x val="-8.9139362960044509E-3"/>
                  <c:y val="-4.717414880673647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3470-4D10-8D3A-CDD98EB05CBF}"/>
                </c:ext>
              </c:extLst>
            </c:dLbl>
            <c:dLbl>
              <c:idx val="6"/>
              <c:layout>
                <c:manualLayout>
                  <c:x val="-8.9139362960045047E-3"/>
                  <c:y val="2.301177990572563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3470-4D10-8D3A-CDD98EB05CBF}"/>
                </c:ext>
              </c:extLst>
            </c:dLbl>
            <c:dLbl>
              <c:idx val="7"/>
              <c:layout>
                <c:manualLayout>
                  <c:x val="-5.9618469958472422E-3"/>
                  <c:y val="-4.718525115371654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3470-4D10-8D3A-CDD98EB05CBF}"/>
                </c:ext>
              </c:extLst>
            </c:dLbl>
            <c:dLbl>
              <c:idx val="8"/>
              <c:layout>
                <c:manualLayout>
                  <c:x val="-1.0901205978373527E-2"/>
                  <c:y val="-4.717876964607497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3470-4D10-8D3A-CDD98EB05CBF}"/>
                </c:ext>
              </c:extLst>
            </c:dLbl>
            <c:dLbl>
              <c:idx val="9"/>
              <c:layout>
                <c:manualLayout>
                  <c:x val="-3.9745646638981369E-3"/>
                  <c:y val="-4.718525115371567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3470-4D10-8D3A-CDD98EB05CB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t" anchorCtr="0">
                <a:spAutoFit/>
              </a:bodyPr>
              <a:lstStyle/>
              <a:p>
                <a:pPr>
                  <a:defRPr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'2024 vs 2025'!$C$8:$C$17</c:f>
              <c:strCache>
                <c:ptCount val="10"/>
                <c:pt idx="0">
                  <c:v>PHIL SAVINGS BANK</c:v>
                </c:pt>
                <c:pt idx="1">
                  <c:v>CHINA BANK SAVINGS</c:v>
                </c:pt>
                <c:pt idx="2">
                  <c:v>PHIL BUSINESS BANK</c:v>
                </c:pt>
                <c:pt idx="3">
                  <c:v>CITY SAVINGS BANK</c:v>
                </c:pt>
                <c:pt idx="4">
                  <c:v>BPI DIRECT BANKO</c:v>
                </c:pt>
                <c:pt idx="5">
                  <c:v>STERLING BANK OF ASIA</c:v>
                </c:pt>
                <c:pt idx="6">
                  <c:v>BANK OF MAKATI</c:v>
                </c:pt>
                <c:pt idx="7">
                  <c:v>PRODUCERS SAVINGS BANK</c:v>
                </c:pt>
                <c:pt idx="8">
                  <c:v>FIRST CONSOLIDATED BANK</c:v>
                </c:pt>
                <c:pt idx="9">
                  <c:v>UCPB SAVINGS BANK</c:v>
                </c:pt>
              </c:strCache>
            </c:strRef>
          </c:cat>
          <c:val>
            <c:numRef>
              <c:f>'2024 vs 2025'!$D$8:$D$17</c:f>
              <c:numCache>
                <c:formatCode>#,##0</c:formatCode>
                <c:ptCount val="10"/>
                <c:pt idx="0">
                  <c:v>185084.74</c:v>
                </c:pt>
                <c:pt idx="1">
                  <c:v>142464.72</c:v>
                </c:pt>
                <c:pt idx="2">
                  <c:v>119116.05</c:v>
                </c:pt>
                <c:pt idx="3">
                  <c:v>104628.3</c:v>
                </c:pt>
                <c:pt idx="4">
                  <c:v>40818.5</c:v>
                </c:pt>
                <c:pt idx="5">
                  <c:v>40050.080000000002</c:v>
                </c:pt>
                <c:pt idx="6">
                  <c:v>34494.78</c:v>
                </c:pt>
                <c:pt idx="7">
                  <c:v>21474.28</c:v>
                </c:pt>
                <c:pt idx="8">
                  <c:v>17859.150000000001</c:v>
                </c:pt>
                <c:pt idx="9">
                  <c:v>13905.66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3470-4D10-8D3A-CDD98EB05CB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82"/>
        <c:gapDepth val="53"/>
        <c:shape val="box"/>
        <c:axId val="239400847"/>
        <c:axId val="239394607"/>
        <c:axId val="0"/>
      </c:bar3DChart>
      <c:catAx>
        <c:axId val="239400847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t" anchorCtr="0"/>
          <a:lstStyle/>
          <a:p>
            <a:pPr>
              <a:defRPr sz="800" b="0" i="0" u="none" strike="noStrike" kern="1200" baseline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39394607"/>
        <c:crosses val="autoZero"/>
        <c:auto val="1"/>
        <c:lblAlgn val="ctr"/>
        <c:lblOffset val="100"/>
        <c:noMultiLvlLbl val="0"/>
      </c:catAx>
      <c:valAx>
        <c:axId val="239394607"/>
        <c:scaling>
          <c:orientation val="minMax"/>
        </c:scaling>
        <c:delete val="1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crossAx val="23940084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41082975411105599"/>
          <c:y val="0.90218838330231976"/>
          <c:w val="0.1783404917778881"/>
          <c:h val="9.194315073778631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DAEDEF"/>
    </a:solidFill>
    <a:ln w="9525" cap="rnd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29951240077984059"/>
          <c:y val="6.4376248528263111E-2"/>
          <c:w val="0.64997530536073711"/>
          <c:h val="0.81930688392690509"/>
        </c:manualLayout>
      </c:layout>
      <c:bar3DChart>
        <c:barDir val="bar"/>
        <c:grouping val="stacked"/>
        <c:varyColors val="0"/>
        <c:ser>
          <c:idx val="0"/>
          <c:order val="0"/>
          <c:tx>
            <c:v>2024</c:v>
          </c:tx>
          <c:spPr>
            <a:solidFill>
              <a:schemeClr val="accent5">
                <a:lumMod val="75000"/>
              </a:schemeClr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0"/>
                  <c:y val="2.926239196702387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B7E4-475A-B3DB-F2C8CDEF1F25}"/>
                </c:ext>
              </c:extLst>
            </c:dLbl>
            <c:dLbl>
              <c:idx val="1"/>
              <c:layout>
                <c:manualLayout>
                  <c:x val="-2.9713114034954865E-3"/>
                  <c:y val="2.454407837589369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B7E4-475A-B3DB-F2C8CDEF1F25}"/>
                </c:ext>
              </c:extLst>
            </c:dLbl>
            <c:dLbl>
              <c:idx val="2"/>
              <c:layout>
                <c:manualLayout>
                  <c:x val="-2.9713114034954319E-3"/>
                  <c:y val="2.454453919370707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7E4-475A-B3DB-F2C8CDEF1F25}"/>
                </c:ext>
              </c:extLst>
            </c:dLbl>
            <c:dLbl>
              <c:idx val="3"/>
              <c:layout>
                <c:manualLayout>
                  <c:x val="0"/>
                  <c:y val="2.340954491936840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B7E4-475A-B3DB-F2C8CDEF1F25}"/>
                </c:ext>
              </c:extLst>
            </c:dLbl>
            <c:dLbl>
              <c:idx val="4"/>
              <c:layout>
                <c:manualLayout>
                  <c:x val="-5.4473413115899543E-17"/>
                  <c:y val="2.454453919370712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B7E4-475A-B3DB-F2C8CDEF1F25}"/>
                </c:ext>
              </c:extLst>
            </c:dLbl>
            <c:dLbl>
              <c:idx val="5"/>
              <c:layout>
                <c:manualLayout>
                  <c:x val="-5.4473413115899543E-17"/>
                  <c:y val="2.454407837589369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7E4-475A-B3DB-F2C8CDEF1F25}"/>
                </c:ext>
              </c:extLst>
            </c:dLbl>
            <c:dLbl>
              <c:idx val="6"/>
              <c:layout>
                <c:manualLayout>
                  <c:x val="-2.9713114034954319E-3"/>
                  <c:y val="2.567907265023236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B7E4-475A-B3DB-F2C8CDEF1F25}"/>
                </c:ext>
              </c:extLst>
            </c:dLbl>
            <c:dLbl>
              <c:idx val="7"/>
              <c:layout>
                <c:manualLayout>
                  <c:x val="1.4837489152958665E-2"/>
                  <c:y val="2.4545460829333818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t" anchorCtr="0">
                  <a:noAutofit/>
                </a:bodyPr>
                <a:lstStyle/>
                <a:p>
                  <a:pPr>
                    <a:defRPr sz="6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6.7433795321564904E-2"/>
                      <c:h val="6.042611823202637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B7E4-475A-B3DB-F2C8CDEF1F25}"/>
                </c:ext>
              </c:extLst>
            </c:dLbl>
            <c:dLbl>
              <c:idx val="8"/>
              <c:layout>
                <c:manualLayout>
                  <c:x val="1.5840599203548168E-2"/>
                  <c:y val="3.625115492464476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B7E4-475A-B3DB-F2C8CDEF1F25}"/>
                </c:ext>
              </c:extLst>
            </c:dLbl>
            <c:dLbl>
              <c:idx val="9"/>
              <c:layout>
                <c:manualLayout>
                  <c:x val="1.088201858262831E-2"/>
                  <c:y val="2.454407837589380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7E4-475A-B3DB-F2C8CDEF1F2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t" anchorCtr="0">
                <a:spAutoFit/>
              </a:bodyPr>
              <a:lstStyle/>
              <a:p>
                <a:pPr>
                  <a:defRPr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'2024 vs 2025'!$C$8:$C$17</c:f>
              <c:strCache>
                <c:ptCount val="10"/>
                <c:pt idx="0">
                  <c:v>PHIL SAVINGS BANK</c:v>
                </c:pt>
                <c:pt idx="1">
                  <c:v>CHINA BANK SAVINGS</c:v>
                </c:pt>
                <c:pt idx="2">
                  <c:v>PHIL BUSINESS BANK</c:v>
                </c:pt>
                <c:pt idx="3">
                  <c:v>CITY SAVINGS BANK</c:v>
                </c:pt>
                <c:pt idx="4">
                  <c:v>BPI DIRECT BANKO</c:v>
                </c:pt>
                <c:pt idx="5">
                  <c:v>STERLING BANK OF ASIA</c:v>
                </c:pt>
                <c:pt idx="6">
                  <c:v>BANK OF MAKATI</c:v>
                </c:pt>
                <c:pt idx="7">
                  <c:v>PRODUCERS SAVINGS BANK</c:v>
                </c:pt>
                <c:pt idx="8">
                  <c:v>FIRST CONSOLIDATED BANK</c:v>
                </c:pt>
                <c:pt idx="9">
                  <c:v>UCPB SAVINGS BANK</c:v>
                </c:pt>
              </c:strCache>
            </c:strRef>
          </c:cat>
          <c:val>
            <c:numRef>
              <c:f>'2024 vs 2025'!$D$8:$D$17</c:f>
              <c:numCache>
                <c:formatCode>#,##0</c:formatCode>
                <c:ptCount val="10"/>
                <c:pt idx="0">
                  <c:v>185084.74</c:v>
                </c:pt>
                <c:pt idx="1">
                  <c:v>142464.72</c:v>
                </c:pt>
                <c:pt idx="2">
                  <c:v>119116.05</c:v>
                </c:pt>
                <c:pt idx="3">
                  <c:v>104628.3</c:v>
                </c:pt>
                <c:pt idx="4">
                  <c:v>40818.5</c:v>
                </c:pt>
                <c:pt idx="5">
                  <c:v>40050.080000000002</c:v>
                </c:pt>
                <c:pt idx="6">
                  <c:v>34494.78</c:v>
                </c:pt>
                <c:pt idx="7">
                  <c:v>21474.28</c:v>
                </c:pt>
                <c:pt idx="8">
                  <c:v>17859.150000000001</c:v>
                </c:pt>
                <c:pt idx="9">
                  <c:v>13905.66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7E4-475A-B3DB-F2C8CDEF1F25}"/>
            </c:ext>
          </c:extLst>
        </c:ser>
        <c:ser>
          <c:idx val="1"/>
          <c:order val="1"/>
          <c:tx>
            <c:v>2025</c:v>
          </c:tx>
          <c:spPr>
            <a:solidFill>
              <a:srgbClr val="FFC000"/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0"/>
                  <c:y val="3.061028407114105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B7E4-475A-B3DB-F2C8CDEF1F25}"/>
                </c:ext>
              </c:extLst>
            </c:dLbl>
            <c:dLbl>
              <c:idx val="1"/>
              <c:layout>
                <c:manualLayout>
                  <c:x val="0"/>
                  <c:y val="2.340954491936840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B7E4-475A-B3DB-F2C8CDEF1F25}"/>
                </c:ext>
              </c:extLst>
            </c:dLbl>
            <c:dLbl>
              <c:idx val="2"/>
              <c:layout>
                <c:manualLayout>
                  <c:x val="-5.9426228069908637E-3"/>
                  <c:y val="2.340954491936837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B7E4-475A-B3DB-F2C8CDEF1F25}"/>
                </c:ext>
              </c:extLst>
            </c:dLbl>
            <c:dLbl>
              <c:idx val="3"/>
              <c:layout>
                <c:manualLayout>
                  <c:x val="0"/>
                  <c:y val="2.586201732214165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B7E4-475A-B3DB-F2C8CDEF1F25}"/>
                </c:ext>
              </c:extLst>
            </c:dLbl>
            <c:dLbl>
              <c:idx val="4"/>
              <c:layout>
                <c:manualLayout>
                  <c:x val="0"/>
                  <c:y val="2.341000573718177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B7E4-475A-B3DB-F2C8CDEF1F25}"/>
                </c:ext>
              </c:extLst>
            </c:dLbl>
            <c:dLbl>
              <c:idx val="5"/>
              <c:layout>
                <c:manualLayout>
                  <c:x val="-5.4473413115899543E-17"/>
                  <c:y val="2.340954491936845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B7E4-475A-B3DB-F2C8CDEF1F25}"/>
                </c:ext>
              </c:extLst>
            </c:dLbl>
            <c:dLbl>
              <c:idx val="6"/>
              <c:layout>
                <c:manualLayout>
                  <c:x val="0"/>
                  <c:y val="2.586109568651485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B7E4-475A-B3DB-F2C8CDEF1F25}"/>
                </c:ext>
              </c:extLst>
            </c:dLbl>
            <c:dLbl>
              <c:idx val="7"/>
              <c:layout>
                <c:manualLayout>
                  <c:x val="4.852502464199792E-2"/>
                  <c:y val="3.594839762125844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B7E4-475A-B3DB-F2C8CDEF1F25}"/>
                </c:ext>
              </c:extLst>
            </c:dLbl>
            <c:dLbl>
              <c:idx val="8"/>
              <c:layout>
                <c:manualLayout>
                  <c:x val="5.3483605262917774E-2"/>
                  <c:y val="9.438931271327223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B7E4-475A-B3DB-F2C8CDEF1F25}"/>
                </c:ext>
              </c:extLst>
            </c:dLbl>
            <c:dLbl>
              <c:idx val="9"/>
              <c:layout>
                <c:manualLayout>
                  <c:x val="4.2582401835007055E-2"/>
                  <c:y val="4.718774408943659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B7E4-475A-B3DB-F2C8CDEF1F2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600" b="1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'2024 vs 2025'!$C$8:$C$17</c:f>
              <c:strCache>
                <c:ptCount val="10"/>
                <c:pt idx="0">
                  <c:v>PHIL SAVINGS BANK</c:v>
                </c:pt>
                <c:pt idx="1">
                  <c:v>CHINA BANK SAVINGS</c:v>
                </c:pt>
                <c:pt idx="2">
                  <c:v>PHIL BUSINESS BANK</c:v>
                </c:pt>
                <c:pt idx="3">
                  <c:v>CITY SAVINGS BANK</c:v>
                </c:pt>
                <c:pt idx="4">
                  <c:v>BPI DIRECT BANKO</c:v>
                </c:pt>
                <c:pt idx="5">
                  <c:v>STERLING BANK OF ASIA</c:v>
                </c:pt>
                <c:pt idx="6">
                  <c:v>BANK OF MAKATI</c:v>
                </c:pt>
                <c:pt idx="7">
                  <c:v>PRODUCERS SAVINGS BANK</c:v>
                </c:pt>
                <c:pt idx="8">
                  <c:v>FIRST CONSOLIDATED BANK</c:v>
                </c:pt>
                <c:pt idx="9">
                  <c:v>UCPB SAVINGS BANK</c:v>
                </c:pt>
              </c:strCache>
            </c:strRef>
          </c:cat>
          <c:val>
            <c:numRef>
              <c:f>'2024 vs 2025'!$H$8:$H$17</c:f>
              <c:numCache>
                <c:formatCode>#,##0</c:formatCode>
                <c:ptCount val="10"/>
                <c:pt idx="0">
                  <c:v>170728.89</c:v>
                </c:pt>
                <c:pt idx="1">
                  <c:v>169678.92</c:v>
                </c:pt>
                <c:pt idx="2">
                  <c:v>130715.98</c:v>
                </c:pt>
                <c:pt idx="3">
                  <c:v>93441.09</c:v>
                </c:pt>
                <c:pt idx="4">
                  <c:v>52139.78</c:v>
                </c:pt>
                <c:pt idx="5">
                  <c:v>43904.480000000003</c:v>
                </c:pt>
                <c:pt idx="6">
                  <c:v>33138.82</c:v>
                </c:pt>
                <c:pt idx="7">
                  <c:v>25439.29</c:v>
                </c:pt>
                <c:pt idx="8">
                  <c:v>20120.66</c:v>
                </c:pt>
                <c:pt idx="9">
                  <c:v>14491.47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B7E4-475A-B3DB-F2C8CDEF1F2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0"/>
        <c:gapDepth val="50"/>
        <c:shape val="box"/>
        <c:axId val="239400847"/>
        <c:axId val="239394607"/>
        <c:axId val="0"/>
      </c:bar3DChart>
      <c:catAx>
        <c:axId val="239400847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t" anchorCtr="0"/>
          <a:lstStyle/>
          <a:p>
            <a:pPr>
              <a:defRPr sz="700" b="1" i="0" u="none" strike="noStrike" kern="1200" baseline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39394607"/>
        <c:crosses val="autoZero"/>
        <c:auto val="1"/>
        <c:lblAlgn val="ctr"/>
        <c:lblOffset val="100"/>
        <c:noMultiLvlLbl val="0"/>
      </c:catAx>
      <c:valAx>
        <c:axId val="239394607"/>
        <c:scaling>
          <c:orientation val="minMax"/>
        </c:scaling>
        <c:delete val="1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crossAx val="23940084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40785834658920356"/>
          <c:y val="0.90245638935418693"/>
          <c:w val="0.17834045005307417"/>
          <c:h val="9.169122441597102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DAEDEF"/>
    </a:solidFill>
    <a:ln w="9525" cap="rnd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31139771924890847"/>
          <c:y val="6.4553125558832761E-2"/>
          <c:w val="0.6559178476657419"/>
          <c:h val="0.84937218966327477"/>
        </c:manualLayout>
      </c:layout>
      <c:bar3DChart>
        <c:barDir val="bar"/>
        <c:grouping val="clustered"/>
        <c:varyColors val="0"/>
        <c:ser>
          <c:idx val="1"/>
          <c:order val="0"/>
          <c:tx>
            <c:v>2025</c:v>
          </c:tx>
          <c:spPr>
            <a:solidFill>
              <a:srgbClr val="2F5597"/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-8.9139362960043416E-3"/>
                  <c:y val="2.477370594549535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3470-4D10-8D3A-CDD98EB05CBF}"/>
                </c:ext>
              </c:extLst>
            </c:dLbl>
            <c:dLbl>
              <c:idx val="1"/>
              <c:layout>
                <c:manualLayout>
                  <c:x val="-1.188524839467271E-2"/>
                  <c:y val="5.869390127761587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3470-4D10-8D3A-CDD98EB05CBF}"/>
                </c:ext>
              </c:extLst>
            </c:dLbl>
            <c:dLbl>
              <c:idx val="3"/>
              <c:layout>
                <c:manualLayout>
                  <c:x val="-8.9139362960044509E-3"/>
                  <c:y val="1.415594131349206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470-4D10-8D3A-CDD98EB05CBF}"/>
                </c:ext>
              </c:extLst>
            </c:dLbl>
            <c:dLbl>
              <c:idx val="4"/>
              <c:layout>
                <c:manualLayout>
                  <c:x val="-8.9139362960045047E-3"/>
                  <c:y val="1.173693191978782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3470-4D10-8D3A-CDD98EB05CBF}"/>
                </c:ext>
              </c:extLst>
            </c:dLbl>
            <c:dLbl>
              <c:idx val="5"/>
              <c:layout>
                <c:manualLayout>
                  <c:x val="-8.9139362960045602E-3"/>
                  <c:y val="5.8684659598939948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700" b="1" i="0" u="none" strike="noStrike" kern="1200" baseline="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3470-4D10-8D3A-CDD98EB05CBF}"/>
                </c:ext>
              </c:extLst>
            </c:dLbl>
            <c:dLbl>
              <c:idx val="6"/>
              <c:layout>
                <c:manualLayout>
                  <c:x val="-8.9139362960045047E-3"/>
                  <c:y val="1.41564033974259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470-4D10-8D3A-CDD98EB05CBF}"/>
                </c:ext>
              </c:extLst>
            </c:dLbl>
            <c:dLbl>
              <c:idx val="7"/>
              <c:layout>
                <c:manualLayout>
                  <c:x val="-1.9872823319490684E-3"/>
                  <c:y val="9.437050230743308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3470-4D10-8D3A-CDD98EB05CBF}"/>
                </c:ext>
              </c:extLst>
            </c:dLbl>
            <c:dLbl>
              <c:idx val="8"/>
              <c:layout>
                <c:manualLayout>
                  <c:x val="-1.4856560493340751E-2"/>
                  <c:y val="3.570984640792122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470-4D10-8D3A-CDD98EB05CBF}"/>
                </c:ext>
              </c:extLst>
            </c:dLbl>
            <c:dLbl>
              <c:idx val="9"/>
              <c:layout>
                <c:manualLayout>
                  <c:x val="-1.9872823319490684E-3"/>
                  <c:y val="4.718525115371654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3470-4D10-8D3A-CDD98EB05CB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'2024 vs 2025'!$C$8:$C$17</c:f>
              <c:strCache>
                <c:ptCount val="10"/>
                <c:pt idx="0">
                  <c:v>PHIL SAVINGS BANK</c:v>
                </c:pt>
                <c:pt idx="1">
                  <c:v>CHINA BANK SAVINGS</c:v>
                </c:pt>
                <c:pt idx="2">
                  <c:v>PHIL BUSINESS BANK</c:v>
                </c:pt>
                <c:pt idx="3">
                  <c:v>CITY SAVINGS BANK</c:v>
                </c:pt>
                <c:pt idx="4">
                  <c:v>BPI DIRECT BANKO</c:v>
                </c:pt>
                <c:pt idx="5">
                  <c:v>STERLING BANK OF ASIA</c:v>
                </c:pt>
                <c:pt idx="6">
                  <c:v>BANK OF MAKATI</c:v>
                </c:pt>
                <c:pt idx="7">
                  <c:v>PRODUCERS SAVINGS BANK</c:v>
                </c:pt>
                <c:pt idx="8">
                  <c:v>FIRST CONSOLIDATED BANK</c:v>
                </c:pt>
                <c:pt idx="9">
                  <c:v>UCPB SAVINGS BANK</c:v>
                </c:pt>
              </c:strCache>
            </c:strRef>
          </c:cat>
          <c:val>
            <c:numRef>
              <c:f>'2024 vs 2025'!$H$8:$H$17</c:f>
              <c:numCache>
                <c:formatCode>#,##0</c:formatCode>
                <c:ptCount val="10"/>
                <c:pt idx="0">
                  <c:v>170728.89</c:v>
                </c:pt>
                <c:pt idx="1">
                  <c:v>169678.92</c:v>
                </c:pt>
                <c:pt idx="2">
                  <c:v>130715.98</c:v>
                </c:pt>
                <c:pt idx="3">
                  <c:v>93441.09</c:v>
                </c:pt>
                <c:pt idx="4">
                  <c:v>52139.78</c:v>
                </c:pt>
                <c:pt idx="5">
                  <c:v>43904.480000000003</c:v>
                </c:pt>
                <c:pt idx="6">
                  <c:v>33138.82</c:v>
                </c:pt>
                <c:pt idx="7">
                  <c:v>25439.29</c:v>
                </c:pt>
                <c:pt idx="8">
                  <c:v>20120.66</c:v>
                </c:pt>
                <c:pt idx="9">
                  <c:v>14491.47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3470-4D10-8D3A-CDD98EB05CBF}"/>
            </c:ext>
          </c:extLst>
        </c:ser>
        <c:ser>
          <c:idx val="0"/>
          <c:order val="1"/>
          <c:tx>
            <c:v>2024</c:v>
          </c:tx>
          <c:spPr>
            <a:solidFill>
              <a:srgbClr val="FFC000"/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-8.9139362960044509E-3"/>
                  <c:y val="1.3448412467548402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3470-4D10-8D3A-CDD98EB05CBF}"/>
                </c:ext>
              </c:extLst>
            </c:dLbl>
            <c:dLbl>
              <c:idx val="1"/>
              <c:layout>
                <c:manualLayout>
                  <c:x val="0"/>
                  <c:y val="-4.718525115371654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3470-4D10-8D3A-CDD98EB05CBF}"/>
                </c:ext>
              </c:extLst>
            </c:dLbl>
            <c:dLbl>
              <c:idx val="2"/>
              <c:layout>
                <c:manualLayout>
                  <c:x val="-8.9139362960044509E-3"/>
                  <c:y val="-4.717876964607604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3470-4D10-8D3A-CDD98EB05CBF}"/>
                </c:ext>
              </c:extLst>
            </c:dLbl>
            <c:dLbl>
              <c:idx val="4"/>
              <c:layout>
                <c:manualLayout>
                  <c:x val="0"/>
                  <c:y val="-4.718525115371654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3470-4D10-8D3A-CDD98EB05CBF}"/>
                </c:ext>
              </c:extLst>
            </c:dLbl>
            <c:dLbl>
              <c:idx val="5"/>
              <c:layout>
                <c:manualLayout>
                  <c:x val="-8.9139362960044509E-3"/>
                  <c:y val="-4.717414880673647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3470-4D10-8D3A-CDD98EB05CBF}"/>
                </c:ext>
              </c:extLst>
            </c:dLbl>
            <c:dLbl>
              <c:idx val="6"/>
              <c:layout>
                <c:manualLayout>
                  <c:x val="-8.9139362960045047E-3"/>
                  <c:y val="2.301177990572563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3470-4D10-8D3A-CDD98EB05CBF}"/>
                </c:ext>
              </c:extLst>
            </c:dLbl>
            <c:dLbl>
              <c:idx val="7"/>
              <c:layout>
                <c:manualLayout>
                  <c:x val="-5.9618469958472422E-3"/>
                  <c:y val="-4.718525115371654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3470-4D10-8D3A-CDD98EB05CBF}"/>
                </c:ext>
              </c:extLst>
            </c:dLbl>
            <c:dLbl>
              <c:idx val="8"/>
              <c:layout>
                <c:manualLayout>
                  <c:x val="-1.0901205978373527E-2"/>
                  <c:y val="-4.717876964607497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3470-4D10-8D3A-CDD98EB05CBF}"/>
                </c:ext>
              </c:extLst>
            </c:dLbl>
            <c:dLbl>
              <c:idx val="9"/>
              <c:layout>
                <c:manualLayout>
                  <c:x val="-3.9745646638981369E-3"/>
                  <c:y val="-4.718525115371567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3470-4D10-8D3A-CDD98EB05CB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t" anchorCtr="0">
                <a:spAutoFit/>
              </a:bodyPr>
              <a:lstStyle/>
              <a:p>
                <a:pPr>
                  <a:defRPr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'2024 vs 2025'!$C$8:$C$17</c:f>
              <c:strCache>
                <c:ptCount val="10"/>
                <c:pt idx="0">
                  <c:v>PHIL SAVINGS BANK</c:v>
                </c:pt>
                <c:pt idx="1">
                  <c:v>CHINA BANK SAVINGS</c:v>
                </c:pt>
                <c:pt idx="2">
                  <c:v>PHIL BUSINESS BANK</c:v>
                </c:pt>
                <c:pt idx="3">
                  <c:v>CITY SAVINGS BANK</c:v>
                </c:pt>
                <c:pt idx="4">
                  <c:v>BPI DIRECT BANKO</c:v>
                </c:pt>
                <c:pt idx="5">
                  <c:v>STERLING BANK OF ASIA</c:v>
                </c:pt>
                <c:pt idx="6">
                  <c:v>BANK OF MAKATI</c:v>
                </c:pt>
                <c:pt idx="7">
                  <c:v>PRODUCERS SAVINGS BANK</c:v>
                </c:pt>
                <c:pt idx="8">
                  <c:v>FIRST CONSOLIDATED BANK</c:v>
                </c:pt>
                <c:pt idx="9">
                  <c:v>UCPB SAVINGS BANK</c:v>
                </c:pt>
              </c:strCache>
            </c:strRef>
          </c:cat>
          <c:val>
            <c:numRef>
              <c:f>'2024 vs 2025'!$D$8:$D$17</c:f>
              <c:numCache>
                <c:formatCode>#,##0</c:formatCode>
                <c:ptCount val="10"/>
                <c:pt idx="0">
                  <c:v>185084.74</c:v>
                </c:pt>
                <c:pt idx="1">
                  <c:v>142464.72</c:v>
                </c:pt>
                <c:pt idx="2">
                  <c:v>119116.05</c:v>
                </c:pt>
                <c:pt idx="3">
                  <c:v>104628.3</c:v>
                </c:pt>
                <c:pt idx="4">
                  <c:v>40818.5</c:v>
                </c:pt>
                <c:pt idx="5">
                  <c:v>40050.080000000002</c:v>
                </c:pt>
                <c:pt idx="6">
                  <c:v>34494.78</c:v>
                </c:pt>
                <c:pt idx="7">
                  <c:v>21474.28</c:v>
                </c:pt>
                <c:pt idx="8">
                  <c:v>17859.150000000001</c:v>
                </c:pt>
                <c:pt idx="9">
                  <c:v>13905.66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3470-4D10-8D3A-CDD98EB05CB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82"/>
        <c:gapDepth val="53"/>
        <c:shape val="box"/>
        <c:axId val="239400847"/>
        <c:axId val="239394607"/>
        <c:axId val="0"/>
      </c:bar3DChart>
      <c:catAx>
        <c:axId val="239400847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t" anchorCtr="0"/>
          <a:lstStyle/>
          <a:p>
            <a:pPr>
              <a:defRPr sz="800" b="0" i="0" u="none" strike="noStrike" kern="1200" baseline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39394607"/>
        <c:crosses val="autoZero"/>
        <c:auto val="1"/>
        <c:lblAlgn val="ctr"/>
        <c:lblOffset val="100"/>
        <c:noMultiLvlLbl val="0"/>
      </c:catAx>
      <c:valAx>
        <c:axId val="239394607"/>
        <c:scaling>
          <c:orientation val="minMax"/>
        </c:scaling>
        <c:delete val="1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crossAx val="23940084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41082975411105599"/>
          <c:y val="0.90218838330231976"/>
          <c:w val="0.1783404917778881"/>
          <c:h val="9.194315073778631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DAEDEF"/>
    </a:solidFill>
    <a:ln w="9525" cap="rnd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31225510091566627"/>
          <c:y val="6.4553095729884338E-2"/>
          <c:w val="0.6549704748655123"/>
          <c:h val="0.84350379601776249"/>
        </c:manualLayout>
      </c:layout>
      <c:bar3DChart>
        <c:barDir val="bar"/>
        <c:grouping val="clustered"/>
        <c:varyColors val="0"/>
        <c:ser>
          <c:idx val="1"/>
          <c:order val="0"/>
          <c:tx>
            <c:v>2025</c:v>
          </c:tx>
          <c:spPr>
            <a:solidFill>
              <a:srgbClr val="2F5597"/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-1.0004997102618905E-2"/>
                  <c:y val="8.720906053758820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2577-4B22-A9F4-674B826E3FF7}"/>
                </c:ext>
              </c:extLst>
            </c:dLbl>
            <c:dLbl>
              <c:idx val="1"/>
              <c:layout>
                <c:manualLayout>
                  <c:x val="-8.9384793324059682E-3"/>
                  <c:y val="1.173738858006293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2577-4B22-A9F4-674B826E3FF7}"/>
                </c:ext>
              </c:extLst>
            </c:dLbl>
            <c:dLbl>
              <c:idx val="2"/>
              <c:layout>
                <c:manualLayout>
                  <c:x val="-5.9589862216039057E-3"/>
                  <c:y val="1.17369264963426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2577-4B22-A9F4-674B826E3FF7}"/>
                </c:ext>
              </c:extLst>
            </c:dLbl>
            <c:dLbl>
              <c:idx val="3"/>
              <c:layout>
                <c:manualLayout>
                  <c:x val="-8.938479332405859E-3"/>
                  <c:y val="1.173738858006293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2577-4B22-A9F4-674B826E3FF7}"/>
                </c:ext>
              </c:extLst>
            </c:dLbl>
            <c:dLbl>
              <c:idx val="4"/>
              <c:layout>
                <c:manualLayout>
                  <c:x val="-8.9384793324059682E-3"/>
                  <c:y val="1.1737850663783264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700" b="1" i="0" u="none" strike="noStrike" kern="1200" baseline="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577-4B22-A9F4-674B826E3FF7}"/>
                </c:ext>
              </c:extLst>
            </c:dLbl>
            <c:dLbl>
              <c:idx val="5"/>
              <c:layout>
                <c:manualLayout>
                  <c:x val="-8.9384793324058034E-3"/>
                  <c:y val="5.869387415611960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2577-4B22-A9F4-674B826E3FF7}"/>
                </c:ext>
              </c:extLst>
            </c:dLbl>
            <c:dLbl>
              <c:idx val="6"/>
              <c:layout>
                <c:manualLayout>
                  <c:x val="-5.9589862216039057E-3"/>
                  <c:y val="1.073466690695030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7.5962059557017417E-2"/>
                      <c:h val="6.775163924199786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2577-4B22-A9F4-674B826E3FF7}"/>
                </c:ext>
              </c:extLst>
            </c:dLbl>
            <c:dLbl>
              <c:idx val="7"/>
              <c:layout>
                <c:manualLayout>
                  <c:x val="-8.938479332405859E-3"/>
                  <c:y val="1.173785066378337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2577-4B22-A9F4-674B826E3FF7}"/>
                </c:ext>
              </c:extLst>
            </c:dLbl>
            <c:dLbl>
              <c:idx val="8"/>
              <c:layout>
                <c:manualLayout>
                  <c:x val="-1.202823714888316E-2"/>
                  <c:y val="1.073143232090800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577-4B22-A9F4-674B826E3FF7}"/>
                </c:ext>
              </c:extLst>
            </c:dLbl>
            <c:dLbl>
              <c:idx val="9"/>
              <c:layout>
                <c:manualLayout>
                  <c:x val="-4.0394132227488302E-3"/>
                  <c:y val="4.864681416993595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2577-4B22-A9F4-674B826E3FF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'2024 vs 2025'!$C$40:$C$50</c:f>
              <c:strCache>
                <c:ptCount val="10"/>
                <c:pt idx="0">
                  <c:v>PHIL SAVINGS BANK</c:v>
                </c:pt>
                <c:pt idx="1">
                  <c:v>CHINA BANK SAVINGS</c:v>
                </c:pt>
                <c:pt idx="2">
                  <c:v>PHIL BUSINESS BANK</c:v>
                </c:pt>
                <c:pt idx="3">
                  <c:v>CITY SAVINGS BANK</c:v>
                </c:pt>
                <c:pt idx="4">
                  <c:v>STERLING BANK OF ASIA</c:v>
                </c:pt>
                <c:pt idx="5">
                  <c:v>BANK OF MAKATI</c:v>
                </c:pt>
                <c:pt idx="6">
                  <c:v>BPI DIRECT BANKO</c:v>
                </c:pt>
                <c:pt idx="7">
                  <c:v>PRODUCERS SAVINGS BANK</c:v>
                </c:pt>
                <c:pt idx="8">
                  <c:v>FIRST CONSOLIDATED BANK</c:v>
                </c:pt>
                <c:pt idx="9">
                  <c:v>1st VALLEY BANK</c:v>
                </c:pt>
              </c:strCache>
            </c:strRef>
          </c:cat>
          <c:val>
            <c:numRef>
              <c:f>'2024 vs 2025'!$H$40:$H$49</c:f>
              <c:numCache>
                <c:formatCode>#,##0</c:formatCode>
                <c:ptCount val="10"/>
                <c:pt idx="0">
                  <c:v>154426.26</c:v>
                </c:pt>
                <c:pt idx="1">
                  <c:v>143611.69</c:v>
                </c:pt>
                <c:pt idx="2">
                  <c:v>121748.11</c:v>
                </c:pt>
                <c:pt idx="3">
                  <c:v>105030.03</c:v>
                </c:pt>
                <c:pt idx="4">
                  <c:v>46342.23</c:v>
                </c:pt>
                <c:pt idx="5">
                  <c:v>42385.88</c:v>
                </c:pt>
                <c:pt idx="6">
                  <c:v>36500.39</c:v>
                </c:pt>
                <c:pt idx="7">
                  <c:v>29263.21</c:v>
                </c:pt>
                <c:pt idx="8">
                  <c:v>19954.59</c:v>
                </c:pt>
                <c:pt idx="9">
                  <c:v>11284.7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2577-4B22-A9F4-674B826E3FF7}"/>
            </c:ext>
          </c:extLst>
        </c:ser>
        <c:ser>
          <c:idx val="0"/>
          <c:order val="1"/>
          <c:tx>
            <c:v>2024</c:v>
          </c:tx>
          <c:spPr>
            <a:solidFill>
              <a:srgbClr val="FFC000"/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-6.0657991788224267E-3"/>
                  <c:y val="-9.717871460561211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2577-4B22-A9F4-674B826E3FF7}"/>
                </c:ext>
              </c:extLst>
            </c:dLbl>
            <c:dLbl>
              <c:idx val="1"/>
              <c:layout>
                <c:manualLayout>
                  <c:x val="-2.9794931108020621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2577-4B22-A9F4-674B826E3FF7}"/>
                </c:ext>
              </c:extLst>
            </c:dLbl>
            <c:dLbl>
              <c:idx val="2"/>
              <c:layout>
                <c:manualLayout>
                  <c:x val="-1.0958200292318882E-2"/>
                  <c:y val="-4.86435532389758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2577-4B22-A9F4-674B826E3FF7}"/>
                </c:ext>
              </c:extLst>
            </c:dLbl>
            <c:dLbl>
              <c:idx val="3"/>
              <c:layout>
                <c:manualLayout>
                  <c:x val="-1.1917972443207811E-2"/>
                  <c:y val="-3.859785315903481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2577-4B22-A9F4-674B826E3FF7}"/>
                </c:ext>
              </c:extLst>
            </c:dLbl>
            <c:dLbl>
              <c:idx val="4"/>
              <c:layout>
                <c:manualLayout>
                  <c:x val="-5.958986221604015E-3"/>
                  <c:y val="-5.868463248171303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2577-4B22-A9F4-674B826E3FF7}"/>
                </c:ext>
              </c:extLst>
            </c:dLbl>
            <c:dLbl>
              <c:idx val="5"/>
              <c:layout>
                <c:manualLayout>
                  <c:x val="-7.0189350306278358E-3"/>
                  <c:y val="-3.8602473996238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2577-4B22-A9F4-674B826E3FF7}"/>
                </c:ext>
              </c:extLst>
            </c:dLbl>
            <c:dLbl>
              <c:idx val="6"/>
              <c:layout>
                <c:manualLayout>
                  <c:x val="-7.9787071815168205E-3"/>
                  <c:y val="-4.86435532389758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2577-4B22-A9F4-674B826E3FF7}"/>
                </c:ext>
              </c:extLst>
            </c:dLbl>
            <c:dLbl>
              <c:idx val="7"/>
              <c:layout>
                <c:manualLayout>
                  <c:x val="-1.4997642212144656E-2"/>
                  <c:y val="-4.86435532389758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2577-4B22-A9F4-674B826E3FF7}"/>
                </c:ext>
              </c:extLst>
            </c:dLbl>
            <c:dLbl>
              <c:idx val="8"/>
              <c:layout>
                <c:manualLayout>
                  <c:x val="-1.4054292464228542E-2"/>
                  <c:y val="-8.715823132835099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2577-4B22-A9F4-674B826E3FF7}"/>
                </c:ext>
              </c:extLst>
            </c:dLbl>
            <c:dLbl>
              <c:idx val="9"/>
              <c:layout>
                <c:manualLayout>
                  <c:x val="-8.0808938617140287E-3"/>
                  <c:y val="-1.459366120519992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2577-4B22-A9F4-674B826E3FF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'2024 vs 2025'!$C$40:$C$50</c:f>
              <c:strCache>
                <c:ptCount val="10"/>
                <c:pt idx="0">
                  <c:v>PHIL SAVINGS BANK</c:v>
                </c:pt>
                <c:pt idx="1">
                  <c:v>CHINA BANK SAVINGS</c:v>
                </c:pt>
                <c:pt idx="2">
                  <c:v>PHIL BUSINESS BANK</c:v>
                </c:pt>
                <c:pt idx="3">
                  <c:v>CITY SAVINGS BANK</c:v>
                </c:pt>
                <c:pt idx="4">
                  <c:v>STERLING BANK OF ASIA</c:v>
                </c:pt>
                <c:pt idx="5">
                  <c:v>BANK OF MAKATI</c:v>
                </c:pt>
                <c:pt idx="6">
                  <c:v>BPI DIRECT BANKO</c:v>
                </c:pt>
                <c:pt idx="7">
                  <c:v>PRODUCERS SAVINGS BANK</c:v>
                </c:pt>
                <c:pt idx="8">
                  <c:v>FIRST CONSOLIDATED BANK</c:v>
                </c:pt>
                <c:pt idx="9">
                  <c:v>1st VALLEY BANK</c:v>
                </c:pt>
              </c:strCache>
            </c:strRef>
          </c:cat>
          <c:val>
            <c:numRef>
              <c:f>'2024 vs 2025'!$D$40:$D$50</c:f>
              <c:numCache>
                <c:formatCode>#,##0</c:formatCode>
                <c:ptCount val="11"/>
                <c:pt idx="0">
                  <c:v>124391.45</c:v>
                </c:pt>
                <c:pt idx="1">
                  <c:v>116349.5</c:v>
                </c:pt>
                <c:pt idx="2">
                  <c:v>111261.48</c:v>
                </c:pt>
                <c:pt idx="3">
                  <c:v>96681.99</c:v>
                </c:pt>
                <c:pt idx="4">
                  <c:v>35906.69</c:v>
                </c:pt>
                <c:pt idx="5">
                  <c:v>31700.03</c:v>
                </c:pt>
                <c:pt idx="6">
                  <c:v>30041.18</c:v>
                </c:pt>
                <c:pt idx="7">
                  <c:v>24702.14</c:v>
                </c:pt>
                <c:pt idx="8">
                  <c:v>19442.52</c:v>
                </c:pt>
                <c:pt idx="9">
                  <c:v>11193.58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2577-4B22-A9F4-674B826E3FF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82"/>
        <c:gapDepth val="53"/>
        <c:shape val="box"/>
        <c:axId val="166434719"/>
        <c:axId val="166442623"/>
        <c:axId val="0"/>
      </c:bar3DChart>
      <c:catAx>
        <c:axId val="166434719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6442623"/>
        <c:crosses val="autoZero"/>
        <c:auto val="1"/>
        <c:lblAlgn val="ctr"/>
        <c:lblOffset val="100"/>
        <c:noMultiLvlLbl val="0"/>
      </c:catAx>
      <c:valAx>
        <c:axId val="166442623"/>
        <c:scaling>
          <c:orientation val="minMax"/>
        </c:scaling>
        <c:delete val="1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crossAx val="16643471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9943671157802868"/>
          <c:y val="0.90096898956152871"/>
          <c:w val="0.20112657684394258"/>
          <c:h val="9.903101043847124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accent2">
        <a:lumMod val="20000"/>
        <a:lumOff val="80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31139764639382228"/>
          <c:y val="6.322934964291485E-2"/>
          <c:w val="0.65591792816772798"/>
          <c:h val="0.83521671101471551"/>
        </c:manualLayout>
      </c:layout>
      <c:bar3DChart>
        <c:barDir val="bar"/>
        <c:grouping val="clustered"/>
        <c:varyColors val="0"/>
        <c:ser>
          <c:idx val="0"/>
          <c:order val="0"/>
          <c:tx>
            <c:v>2024</c:v>
          </c:tx>
          <c:spPr>
            <a:solidFill>
              <a:srgbClr val="FFC000"/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-2.0317610648987305E-3"/>
                  <c:y val="1.375309760548102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DE56-4DD8-81A9-83863F6DC4DF}"/>
                </c:ext>
              </c:extLst>
            </c:dLbl>
            <c:dLbl>
              <c:idx val="1"/>
              <c:layout>
                <c:manualLayout>
                  <c:x val="-8.9139342104863507E-3"/>
                  <c:y val="4.584467305175980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E56-4DD8-81A9-83863F6DC4DF}"/>
                </c:ext>
              </c:extLst>
            </c:dLbl>
            <c:dLbl>
              <c:idx val="2"/>
              <c:layout>
                <c:manualLayout>
                  <c:x val="-1.1885245613981727E-2"/>
                  <c:y val="4.584467305175980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DE56-4DD8-81A9-83863F6DC4DF}"/>
                </c:ext>
              </c:extLst>
            </c:dLbl>
            <c:dLbl>
              <c:idx val="3"/>
              <c:layout>
                <c:manualLayout>
                  <c:x val="-5.9426228069909184E-3"/>
                  <c:y val="5.748122694810335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DE56-4DD8-81A9-83863F6DC4DF}"/>
                </c:ext>
              </c:extLst>
            </c:dLbl>
            <c:dLbl>
              <c:idx val="4"/>
              <c:layout>
                <c:manualLayout>
                  <c:x val="-7.9743447147038581E-3"/>
                  <c:y val="5.748122694810440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E56-4DD8-81A9-83863F6DC4DF}"/>
                </c:ext>
              </c:extLst>
            </c:dLbl>
            <c:dLbl>
              <c:idx val="5"/>
              <c:layout>
                <c:manualLayout>
                  <c:x val="-1.0006066622416852E-2"/>
                  <c:y val="8.00482661263124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DE56-4DD8-81A9-83863F6DC4DF}"/>
                </c:ext>
              </c:extLst>
            </c:dLbl>
            <c:dLbl>
              <c:idx val="6"/>
              <c:layout>
                <c:manualLayout>
                  <c:x val="-1.0945656118199235E-2"/>
                  <c:y val="9.168934610351961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E56-4DD8-81A9-83863F6DC4DF}"/>
                </c:ext>
              </c:extLst>
            </c:dLbl>
            <c:dLbl>
              <c:idx val="7"/>
              <c:layout>
                <c:manualLayout>
                  <c:x val="-7.9743447147038043E-3"/>
                  <c:y val="4.584467305175980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DE56-4DD8-81A9-83863F6DC4DF}"/>
                </c:ext>
              </c:extLst>
            </c:dLbl>
            <c:dLbl>
              <c:idx val="8"/>
              <c:layout>
                <c:manualLayout>
                  <c:x val="-7.0347552189213109E-3"/>
                  <c:y val="4.584467305175980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E56-4DD8-81A9-83863F6DC4DF}"/>
                </c:ext>
              </c:extLst>
            </c:dLbl>
            <c:dLbl>
              <c:idx val="9"/>
              <c:layout>
                <c:manualLayout>
                  <c:x val="-8.9139342104864044E-3"/>
                  <c:y val="5.748122694810440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DE56-4DD8-81A9-83863F6DC4D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'2024 vs 2025'!$C$58:$C$67</c:f>
              <c:strCache>
                <c:ptCount val="10"/>
                <c:pt idx="0">
                  <c:v>CARD SME BANK</c:v>
                </c:pt>
                <c:pt idx="1">
                  <c:v>STERLING BANK OF ASIA</c:v>
                </c:pt>
                <c:pt idx="2">
                  <c:v>PRODUCERS SAVINGS BANK</c:v>
                </c:pt>
                <c:pt idx="3">
                  <c:v>BPI DIRECT BANKO</c:v>
                </c:pt>
                <c:pt idx="4">
                  <c:v>FIRST CONSOLIDATED BANK</c:v>
                </c:pt>
                <c:pt idx="5">
                  <c:v>CHINA BANK SAVINGS</c:v>
                </c:pt>
                <c:pt idx="6">
                  <c:v>BANK OF MAKATI</c:v>
                </c:pt>
                <c:pt idx="7">
                  <c:v>PHIL BUSINESS BANK</c:v>
                </c:pt>
                <c:pt idx="8">
                  <c:v>CITY SAVINGS BANK</c:v>
                </c:pt>
                <c:pt idx="9">
                  <c:v>PHIL SAVINGS BANK</c:v>
                </c:pt>
              </c:strCache>
            </c:strRef>
          </c:cat>
          <c:val>
            <c:numRef>
              <c:f>'2024 vs 2025'!$D$58:$D$67</c:f>
              <c:numCache>
                <c:formatCode>#,##0</c:formatCode>
                <c:ptCount val="10"/>
                <c:pt idx="0">
                  <c:v>2612.02</c:v>
                </c:pt>
                <c:pt idx="1">
                  <c:v>4413.8500000000004</c:v>
                </c:pt>
                <c:pt idx="2">
                  <c:v>5505.75</c:v>
                </c:pt>
                <c:pt idx="3">
                  <c:v>5931.63</c:v>
                </c:pt>
                <c:pt idx="4">
                  <c:v>6751.09</c:v>
                </c:pt>
                <c:pt idx="5">
                  <c:v>17032.150000000001</c:v>
                </c:pt>
                <c:pt idx="6">
                  <c:v>17315.62</c:v>
                </c:pt>
                <c:pt idx="7">
                  <c:v>18415.72</c:v>
                </c:pt>
                <c:pt idx="8">
                  <c:v>20638.25</c:v>
                </c:pt>
                <c:pt idx="9">
                  <c:v>39461.370000000003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E56-4DD8-81A9-83863F6DC4DF}"/>
            </c:ext>
          </c:extLst>
        </c:ser>
        <c:ser>
          <c:idx val="1"/>
          <c:order val="1"/>
          <c:tx>
            <c:v>2025</c:v>
          </c:tx>
          <c:spPr>
            <a:solidFill>
              <a:srgbClr val="2F5597"/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-2.0317610648987678E-3"/>
                  <c:y val="-4.584365868493674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DE56-4DD8-81A9-83863F6DC4DF}"/>
                </c:ext>
              </c:extLst>
            </c:dLbl>
            <c:dLbl>
              <c:idx val="1"/>
              <c:layout>
                <c:manualLayout>
                  <c:x val="-5.9426228069909184E-3"/>
                  <c:y val="-1.0332589999986421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700" b="1" i="0" u="none" strike="noStrike" kern="1200" baseline="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DE56-4DD8-81A9-83863F6DC4DF}"/>
                </c:ext>
              </c:extLst>
            </c:dLbl>
            <c:dLbl>
              <c:idx val="2"/>
              <c:layout>
                <c:manualLayout>
                  <c:x val="-1.1885245613981727E-2"/>
                  <c:y val="-1.033258999998642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DE56-4DD8-81A9-83863F6DC4DF}"/>
                </c:ext>
              </c:extLst>
            </c:dLbl>
            <c:dLbl>
              <c:idx val="3"/>
              <c:layout>
                <c:manualLayout>
                  <c:x val="-1.1885245613981727E-2"/>
                  <c:y val="-1.149624538962088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DE56-4DD8-81A9-83863F6DC4DF}"/>
                </c:ext>
              </c:extLst>
            </c:dLbl>
            <c:dLbl>
              <c:idx val="4"/>
              <c:layout>
                <c:manualLayout>
                  <c:x val="-1.1885245613981783E-2"/>
                  <c:y val="-5.748122694810388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DE56-4DD8-81A9-83863F6DC4DF}"/>
                </c:ext>
              </c:extLst>
            </c:dLbl>
            <c:dLbl>
              <c:idx val="5"/>
              <c:layout>
                <c:manualLayout>
                  <c:x val="-8.9139342104862969E-3"/>
                  <c:y val="-5.748122694810493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DE56-4DD8-81A9-83863F6DC4DF}"/>
                </c:ext>
              </c:extLst>
            </c:dLbl>
            <c:dLbl>
              <c:idx val="6"/>
              <c:layout>
                <c:manualLayout>
                  <c:x val="-1.2977378025912175E-2"/>
                  <c:y val="-5.748122694810440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DE56-4DD8-81A9-83863F6DC4DF}"/>
                </c:ext>
              </c:extLst>
            </c:dLbl>
            <c:dLbl>
              <c:idx val="7"/>
              <c:layout>
                <c:manualLayout>
                  <c:x val="-1.1885245613981837E-2"/>
                  <c:y val="-1.149624538962088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DE56-4DD8-81A9-83863F6DC4DF}"/>
                </c:ext>
              </c:extLst>
            </c:dLbl>
            <c:dLbl>
              <c:idx val="8"/>
              <c:layout>
                <c:manualLayout>
                  <c:x val="-8.9139342104862969E-3"/>
                  <c:y val="-1.491705730516240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DE56-4DD8-81A9-83863F6DC4D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'2024 vs 2025'!$C$58:$C$67</c:f>
              <c:strCache>
                <c:ptCount val="10"/>
                <c:pt idx="0">
                  <c:v>CARD SME BANK</c:v>
                </c:pt>
                <c:pt idx="1">
                  <c:v>STERLING BANK OF ASIA</c:v>
                </c:pt>
                <c:pt idx="2">
                  <c:v>PRODUCERS SAVINGS BANK</c:v>
                </c:pt>
                <c:pt idx="3">
                  <c:v>BPI DIRECT BANKO</c:v>
                </c:pt>
                <c:pt idx="4">
                  <c:v>FIRST CONSOLIDATED BANK</c:v>
                </c:pt>
                <c:pt idx="5">
                  <c:v>CHINA BANK SAVINGS</c:v>
                </c:pt>
                <c:pt idx="6">
                  <c:v>BANK OF MAKATI</c:v>
                </c:pt>
                <c:pt idx="7">
                  <c:v>PHIL BUSINESS BANK</c:v>
                </c:pt>
                <c:pt idx="8">
                  <c:v>CITY SAVINGS BANK</c:v>
                </c:pt>
                <c:pt idx="9">
                  <c:v>PHIL SAVINGS BANK</c:v>
                </c:pt>
              </c:strCache>
            </c:strRef>
          </c:cat>
          <c:val>
            <c:numRef>
              <c:f>'2024 vs 2025'!$H$58:$H$67</c:f>
              <c:numCache>
                <c:formatCode>#,##0</c:formatCode>
                <c:ptCount val="10"/>
                <c:pt idx="0">
                  <c:v>3422.32</c:v>
                </c:pt>
                <c:pt idx="1">
                  <c:v>5144.34</c:v>
                </c:pt>
                <c:pt idx="2">
                  <c:v>6807.42</c:v>
                </c:pt>
                <c:pt idx="3">
                  <c:v>7760.45</c:v>
                </c:pt>
                <c:pt idx="4">
                  <c:v>8989.56</c:v>
                </c:pt>
                <c:pt idx="5">
                  <c:v>18034.79</c:v>
                </c:pt>
                <c:pt idx="6">
                  <c:v>19268.919999999998</c:v>
                </c:pt>
                <c:pt idx="7">
                  <c:v>20084.830000000002</c:v>
                </c:pt>
                <c:pt idx="8">
                  <c:v>21625.84</c:v>
                </c:pt>
                <c:pt idx="9">
                  <c:v>43676.29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DE56-4DD8-81A9-83863F6DC4D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82"/>
        <c:gapDepth val="53"/>
        <c:shape val="box"/>
        <c:axId val="239417903"/>
        <c:axId val="239437039"/>
        <c:axId val="0"/>
      </c:bar3DChart>
      <c:catAx>
        <c:axId val="23941790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39437039"/>
        <c:crosses val="autoZero"/>
        <c:auto val="1"/>
        <c:lblAlgn val="ctr"/>
        <c:lblOffset val="100"/>
        <c:noMultiLvlLbl val="0"/>
      </c:catAx>
      <c:valAx>
        <c:axId val="239437039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crossAx val="2394179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41082965799269905"/>
          <c:y val="0.90994230604725135"/>
          <c:w val="0.17834045005307417"/>
          <c:h val="9.005769395274862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DAEDEF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31091158869104057"/>
          <c:y val="6.4997815570908335E-2"/>
          <c:w val="0.65645500268752588"/>
          <c:h val="0.84833455310861239"/>
        </c:manualLayout>
      </c:layout>
      <c:bar3DChart>
        <c:barDir val="bar"/>
        <c:grouping val="clustered"/>
        <c:varyColors val="0"/>
        <c:ser>
          <c:idx val="1"/>
          <c:order val="0"/>
          <c:tx>
            <c:v>2025</c:v>
          </c:tx>
          <c:spPr>
            <a:solidFill>
              <a:srgbClr val="2F5597"/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0"/>
                  <c:y val="1.894018480848043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CD58-451A-8248-FBCFF67729CD}"/>
                </c:ext>
              </c:extLst>
            </c:dLbl>
            <c:dLbl>
              <c:idx val="2"/>
              <c:layout>
                <c:manualLayout>
                  <c:x val="-4.0349099134878667E-3"/>
                  <c:y val="9.470465242523847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D58-451A-8248-FBCFF67729CD}"/>
                </c:ext>
              </c:extLst>
            </c:dLbl>
            <c:dLbl>
              <c:idx val="4"/>
              <c:layout>
                <c:manualLayout>
                  <c:x val="-6.0523648702316525E-3"/>
                  <c:y val="9.470092404240258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CD58-451A-8248-FBCFF67729CD}"/>
                </c:ext>
              </c:extLst>
            </c:dLbl>
            <c:dLbl>
              <c:idx val="6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700" b="1" i="0" u="none" strike="noStrike" kern="1200" baseline="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CD58-451A-8248-FBCFF67729CD}"/>
                </c:ext>
              </c:extLst>
            </c:dLbl>
            <c:dLbl>
              <c:idx val="9"/>
              <c:layout>
                <c:manualLayout>
                  <c:x val="3.7110227519488614E-17"/>
                  <c:y val="9.49086373585805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CD58-451A-8248-FBCFF67729C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'2024 vs 2025'!$C$23:$C$32</c:f>
              <c:strCache>
                <c:ptCount val="10"/>
                <c:pt idx="0">
                  <c:v>PHIL SAVINGS BANK</c:v>
                </c:pt>
                <c:pt idx="1">
                  <c:v>CHINA BANK SAVINGS</c:v>
                </c:pt>
                <c:pt idx="2">
                  <c:v>CITY SAVINGS BANK</c:v>
                </c:pt>
                <c:pt idx="3">
                  <c:v>PHIL BUSINESS BANK</c:v>
                </c:pt>
                <c:pt idx="4">
                  <c:v>BANK OF MAKATI</c:v>
                </c:pt>
                <c:pt idx="5">
                  <c:v>BPI DIRECT BANKO</c:v>
                </c:pt>
                <c:pt idx="6">
                  <c:v>STERLING BANK OF ASIA</c:v>
                </c:pt>
                <c:pt idx="7">
                  <c:v>PRODUCERS SAVINGS BANK</c:v>
                </c:pt>
                <c:pt idx="8">
                  <c:v>FIRST CONSOLIDATED BANK</c:v>
                </c:pt>
                <c:pt idx="9">
                  <c:v>UCPB SAVINGS BANK</c:v>
                </c:pt>
              </c:strCache>
            </c:strRef>
          </c:cat>
          <c:val>
            <c:numRef>
              <c:f>'2024 vs 2025'!$H$23:$H$32</c:f>
              <c:numCache>
                <c:formatCode>#,##0</c:formatCode>
                <c:ptCount val="10"/>
                <c:pt idx="0">
                  <c:v>220559.48</c:v>
                </c:pt>
                <c:pt idx="1">
                  <c:v>194961.41</c:v>
                </c:pt>
                <c:pt idx="2">
                  <c:v>161185.26999999999</c:v>
                </c:pt>
                <c:pt idx="3">
                  <c:v>153876.9</c:v>
                </c:pt>
                <c:pt idx="4">
                  <c:v>60564.5</c:v>
                </c:pt>
                <c:pt idx="5">
                  <c:v>57361.64</c:v>
                </c:pt>
                <c:pt idx="6">
                  <c:v>53657.06</c:v>
                </c:pt>
                <c:pt idx="7">
                  <c:v>39142.28</c:v>
                </c:pt>
                <c:pt idx="8">
                  <c:v>29536.880000000001</c:v>
                </c:pt>
                <c:pt idx="9">
                  <c:v>17399.07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CD58-451A-8248-FBCFF67729CD}"/>
            </c:ext>
          </c:extLst>
        </c:ser>
        <c:ser>
          <c:idx val="0"/>
          <c:order val="1"/>
          <c:tx>
            <c:v>2024</c:v>
          </c:tx>
          <c:spPr>
            <a:solidFill>
              <a:srgbClr val="FFC000"/>
            </a:solidFill>
            <a:ln>
              <a:noFill/>
            </a:ln>
            <a:effectLst/>
            <a:sp3d/>
          </c:spPr>
          <c:invertIfNegative val="0"/>
          <c:dLbls>
            <c:dLbl>
              <c:idx val="2"/>
              <c:layout>
                <c:manualLayout>
                  <c:x val="-8.0698198269755859E-3"/>
                  <c:y val="-9.469719565956583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CD58-451A-8248-FBCFF67729CD}"/>
                </c:ext>
              </c:extLst>
            </c:dLbl>
            <c:dLbl>
              <c:idx val="3"/>
              <c:layout>
                <c:manualLayout>
                  <c:x val="-4.0349099134877192E-3"/>
                  <c:y val="-4.735046202120064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CD58-451A-8248-FBCFF67729CD}"/>
                </c:ext>
              </c:extLst>
            </c:dLbl>
            <c:dLbl>
              <c:idx val="5"/>
              <c:layout>
                <c:manualLayout>
                  <c:x val="-6.0523648702316525E-3"/>
                  <c:y val="-9.469719565956583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CD58-451A-8248-FBCFF67729CD}"/>
                </c:ext>
              </c:extLst>
            </c:dLbl>
            <c:dLbl>
              <c:idx val="6"/>
              <c:layout>
                <c:manualLayout>
                  <c:x val="-8.0968704480008716E-3"/>
                  <c:y val="-9.490490079805459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CD58-451A-8248-FBCFF67729CD}"/>
                </c:ext>
              </c:extLst>
            </c:dLbl>
            <c:dLbl>
              <c:idx val="7"/>
              <c:layout>
                <c:manualLayout>
                  <c:x val="-2.0242176120002738E-3"/>
                  <c:y val="-4.74543186792902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CD58-451A-8248-FBCFF67729CD}"/>
                </c:ext>
              </c:extLst>
            </c:dLbl>
            <c:dLbl>
              <c:idx val="8"/>
              <c:layout>
                <c:manualLayout>
                  <c:x val="-6.0726528360006355E-3"/>
                  <c:y val="-9.490863735857965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CD58-451A-8248-FBCFF67729CD}"/>
                </c:ext>
              </c:extLst>
            </c:dLbl>
            <c:dLbl>
              <c:idx val="9"/>
              <c:layout>
                <c:manualLayout>
                  <c:x val="-3.7110227519488614E-17"/>
                  <c:y val="-9.490863735857965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CD58-451A-8248-FBCFF67729C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'2024 vs 2025'!$C$23:$C$32</c:f>
              <c:strCache>
                <c:ptCount val="10"/>
                <c:pt idx="0">
                  <c:v>PHIL SAVINGS BANK</c:v>
                </c:pt>
                <c:pt idx="1">
                  <c:v>CHINA BANK SAVINGS</c:v>
                </c:pt>
                <c:pt idx="2">
                  <c:v>CITY SAVINGS BANK</c:v>
                </c:pt>
                <c:pt idx="3">
                  <c:v>PHIL BUSINESS BANK</c:v>
                </c:pt>
                <c:pt idx="4">
                  <c:v>BANK OF MAKATI</c:v>
                </c:pt>
                <c:pt idx="5">
                  <c:v>BPI DIRECT BANKO</c:v>
                </c:pt>
                <c:pt idx="6">
                  <c:v>STERLING BANK OF ASIA</c:v>
                </c:pt>
                <c:pt idx="7">
                  <c:v>PRODUCERS SAVINGS BANK</c:v>
                </c:pt>
                <c:pt idx="8">
                  <c:v>FIRST CONSOLIDATED BANK</c:v>
                </c:pt>
                <c:pt idx="9">
                  <c:v>UCPB SAVINGS BANK</c:v>
                </c:pt>
              </c:strCache>
            </c:strRef>
          </c:cat>
          <c:val>
            <c:numRef>
              <c:f>'2024 vs 2025'!$D$23:$D$32</c:f>
              <c:numCache>
                <c:formatCode>#,##0</c:formatCode>
                <c:ptCount val="10"/>
                <c:pt idx="0">
                  <c:v>232077.99</c:v>
                </c:pt>
                <c:pt idx="1">
                  <c:v>164134.01</c:v>
                </c:pt>
                <c:pt idx="2">
                  <c:v>160790.35999999999</c:v>
                </c:pt>
                <c:pt idx="3">
                  <c:v>148143.24</c:v>
                </c:pt>
                <c:pt idx="4">
                  <c:v>54454.69</c:v>
                </c:pt>
                <c:pt idx="5">
                  <c:v>50436.98</c:v>
                </c:pt>
                <c:pt idx="6">
                  <c:v>47484.08</c:v>
                </c:pt>
                <c:pt idx="7">
                  <c:v>34070.660000000003</c:v>
                </c:pt>
                <c:pt idx="8">
                  <c:v>26363.599999999999</c:v>
                </c:pt>
                <c:pt idx="9">
                  <c:v>16714.97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CD58-451A-8248-FBCFF67729C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82"/>
        <c:gapDepth val="53"/>
        <c:shape val="box"/>
        <c:axId val="27947615"/>
        <c:axId val="27949279"/>
        <c:axId val="0"/>
      </c:bar3DChart>
      <c:catAx>
        <c:axId val="27947615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7949279"/>
        <c:crosses val="autoZero"/>
        <c:auto val="1"/>
        <c:lblAlgn val="ctr"/>
        <c:lblOffset val="100"/>
        <c:noMultiLvlLbl val="0"/>
      </c:catAx>
      <c:valAx>
        <c:axId val="27949279"/>
        <c:scaling>
          <c:orientation val="minMax"/>
        </c:scaling>
        <c:delete val="1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crossAx val="279476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41096884315384025"/>
          <c:y val="0.90742347635489262"/>
          <c:w val="0.17806208009598007"/>
          <c:h val="9.257652364510728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accent2">
        <a:lumMod val="20000"/>
        <a:lumOff val="80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9289379937108195"/>
          <c:y val="6.5321764632168794E-2"/>
          <c:w val="0.68656283911566951"/>
          <c:h val="0.86935647073566236"/>
        </c:manualLayout>
      </c:layout>
      <c:barChart>
        <c:barDir val="bar"/>
        <c:grouping val="clustered"/>
        <c:varyColors val="0"/>
        <c:ser>
          <c:idx val="0"/>
          <c:order val="0"/>
          <c:spPr>
            <a:solidFill>
              <a:srgbClr val="2F5597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D50-48E5-8C15-149D59001F0E}"/>
              </c:ext>
            </c:extLst>
          </c:dPt>
          <c:dPt>
            <c:idx val="2"/>
            <c:invertIfNegative val="0"/>
            <c:bubble3D val="0"/>
            <c:spPr>
              <a:solidFill>
                <a:srgbClr val="2F559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D50-48E5-8C15-149D59001F0E}"/>
              </c:ext>
            </c:extLst>
          </c:dPt>
          <c:dLbls>
            <c:dLbl>
              <c:idx val="0"/>
              <c:layout>
                <c:manualLayout>
                  <c:x val="-8.8042977913923241E-3"/>
                  <c:y val="4.6758600309354899E-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D50-48E5-8C15-149D59001F0E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CD50-48E5-8C15-149D59001F0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'March 2025'!$C$7:$C$11</c:f>
              <c:strCache>
                <c:ptCount val="5"/>
                <c:pt idx="0">
                  <c:v>PHIL BUSINESS BANK</c:v>
                </c:pt>
                <c:pt idx="1">
                  <c:v>STERLING BANK OF ASIA</c:v>
                </c:pt>
                <c:pt idx="2">
                  <c:v>BANK OF MAKATI</c:v>
                </c:pt>
                <c:pt idx="3">
                  <c:v>PRODUCERS SAVINGS BANK</c:v>
                </c:pt>
                <c:pt idx="4">
                  <c:v>FIRST CONSOLIDATED BANK</c:v>
                </c:pt>
              </c:strCache>
            </c:strRef>
          </c:cat>
          <c:val>
            <c:numRef>
              <c:f>'March 2025'!$D$7:$D$11</c:f>
              <c:numCache>
                <c:formatCode>#,##0</c:formatCode>
                <c:ptCount val="5"/>
                <c:pt idx="0">
                  <c:v>130715.98</c:v>
                </c:pt>
                <c:pt idx="1">
                  <c:v>52139.78</c:v>
                </c:pt>
                <c:pt idx="2">
                  <c:v>33138.82</c:v>
                </c:pt>
                <c:pt idx="3">
                  <c:v>25439.29</c:v>
                </c:pt>
                <c:pt idx="4">
                  <c:v>20120.66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D50-48E5-8C15-149D59001F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44847288"/>
        <c:axId val="144847680"/>
      </c:barChart>
      <c:catAx>
        <c:axId val="14484728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4847680"/>
        <c:crosses val="autoZero"/>
        <c:auto val="1"/>
        <c:lblAlgn val="ctr"/>
        <c:lblOffset val="100"/>
        <c:noMultiLvlLbl val="0"/>
      </c:catAx>
      <c:valAx>
        <c:axId val="144847680"/>
        <c:scaling>
          <c:orientation val="minMax"/>
        </c:scaling>
        <c:delete val="1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crossAx val="1448472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rgbClr val="DAEDEF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rgbClr val="2F5597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FCD-4D8E-B009-F8A0B9563716}"/>
              </c:ext>
            </c:extLst>
          </c:dPt>
          <c:dPt>
            <c:idx val="2"/>
            <c:invertIfNegative val="0"/>
            <c:bubble3D val="0"/>
            <c:spPr>
              <a:solidFill>
                <a:srgbClr val="2F559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FCD-4D8E-B009-F8A0B9563716}"/>
              </c:ext>
            </c:extLst>
          </c:dPt>
          <c:dPt>
            <c:idx val="3"/>
            <c:invertIfNegative val="0"/>
            <c:bubble3D val="0"/>
            <c:spPr>
              <a:solidFill>
                <a:srgbClr val="2F559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FCD-4D8E-B009-F8A0B9563716}"/>
              </c:ext>
            </c:extLst>
          </c:dPt>
          <c:dLbls>
            <c:dLbl>
              <c:idx val="0"/>
              <c:layout>
                <c:manualLayout>
                  <c:x val="-1.4770986897320582E-2"/>
                  <c:y val="1.369933699074767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4FCD-4D8E-B009-F8A0B9563716}"/>
                </c:ext>
              </c:extLst>
            </c:dLbl>
            <c:dLbl>
              <c:idx val="1"/>
              <c:layout>
                <c:manualLayout>
                  <c:x val="-8.8625921383922845E-3"/>
                  <c:y val="5.4797347962990682E-17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FCD-4D8E-B009-F8A0B9563716}"/>
                </c:ext>
              </c:extLst>
            </c:dLbl>
            <c:dLbl>
              <c:idx val="2"/>
              <c:layout>
                <c:manualLayout>
                  <c:x val="-8.8625921383922845E-3"/>
                  <c:y val="5.4797347962990682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FCD-4D8E-B009-F8A0B9563716}"/>
                </c:ext>
              </c:extLst>
            </c:dLbl>
            <c:dLbl>
              <c:idx val="3"/>
              <c:layout>
                <c:manualLayout>
                  <c:x val="-1.1816789517856379E-2"/>
                  <c:y val="1.0959469592598136E-16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FCD-4D8E-B009-F8A0B9563716}"/>
                </c:ext>
              </c:extLst>
            </c:dLbl>
            <c:dLbl>
              <c:idx val="4"/>
              <c:layout>
                <c:manualLayout>
                  <c:x val="-8.8625921383922845E-3"/>
                  <c:y val="-5.977490856543043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FCD-4D8E-B009-F8A0B956371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'March 2025'!$C$28:$C$32</c:f>
              <c:strCache>
                <c:ptCount val="5"/>
                <c:pt idx="0">
                  <c:v>PHIL BUSINESS BANK</c:v>
                </c:pt>
                <c:pt idx="1">
                  <c:v>STERLING BANK OF ASIA</c:v>
                </c:pt>
                <c:pt idx="2">
                  <c:v>BANK OF MAKATI</c:v>
                </c:pt>
                <c:pt idx="3">
                  <c:v>PRODUCERS SAVINGS BANK</c:v>
                </c:pt>
                <c:pt idx="4">
                  <c:v>FIRST CONSOLIDATED BANK</c:v>
                </c:pt>
              </c:strCache>
            </c:strRef>
          </c:cat>
          <c:val>
            <c:numRef>
              <c:f>'March 2025'!$D$28:$D$32</c:f>
              <c:numCache>
                <c:formatCode>#,##0</c:formatCode>
                <c:ptCount val="5"/>
                <c:pt idx="0">
                  <c:v>121748.11</c:v>
                </c:pt>
                <c:pt idx="1">
                  <c:v>46342.23</c:v>
                </c:pt>
                <c:pt idx="2">
                  <c:v>36500.39</c:v>
                </c:pt>
                <c:pt idx="3">
                  <c:v>29263.21</c:v>
                </c:pt>
                <c:pt idx="4">
                  <c:v>19954.59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FCD-4D8E-B009-F8A0B95637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86736776"/>
        <c:axId val="486730896"/>
      </c:barChart>
      <c:catAx>
        <c:axId val="486736776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6730896"/>
        <c:crosses val="autoZero"/>
        <c:auto val="0"/>
        <c:lblAlgn val="ctr"/>
        <c:lblOffset val="100"/>
        <c:noMultiLvlLbl val="0"/>
      </c:catAx>
      <c:valAx>
        <c:axId val="486730896"/>
        <c:scaling>
          <c:orientation val="minMax"/>
        </c:scaling>
        <c:delete val="1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crossAx val="4867367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accent2">
        <a:lumMod val="20000"/>
        <a:lumOff val="80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rgbClr val="2F5597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25B-481C-9E46-FB714F5E4CC9}"/>
              </c:ext>
            </c:extLst>
          </c:dPt>
          <c:dPt>
            <c:idx val="2"/>
            <c:invertIfNegative val="0"/>
            <c:bubble3D val="0"/>
            <c:spPr>
              <a:solidFill>
                <a:srgbClr val="2F559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25B-481C-9E46-FB714F5E4CC9}"/>
              </c:ext>
            </c:extLst>
          </c:dPt>
          <c:dLbls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825B-481C-9E46-FB714F5E4CC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'March 2025'!$C$41:$C$46</c:f>
              <c:strCache>
                <c:ptCount val="6"/>
                <c:pt idx="0">
                  <c:v>CARD SME BANK</c:v>
                </c:pt>
                <c:pt idx="1">
                  <c:v>STERLING BANK OF ASIA</c:v>
                </c:pt>
                <c:pt idx="2">
                  <c:v>PRODUCERS SAVINGS BANK</c:v>
                </c:pt>
                <c:pt idx="3">
                  <c:v>FIRST CONSOLIDATED BANK</c:v>
                </c:pt>
                <c:pt idx="4">
                  <c:v>BANK OF MAKATI</c:v>
                </c:pt>
                <c:pt idx="5">
                  <c:v>PHIL BUSINESS BANK</c:v>
                </c:pt>
              </c:strCache>
            </c:strRef>
          </c:cat>
          <c:val>
            <c:numRef>
              <c:f>'March 2025'!$D$41:$D$46</c:f>
              <c:numCache>
                <c:formatCode>#,##0</c:formatCode>
                <c:ptCount val="6"/>
                <c:pt idx="0">
                  <c:v>3422.32</c:v>
                </c:pt>
                <c:pt idx="1">
                  <c:v>5144.34</c:v>
                </c:pt>
                <c:pt idx="2">
                  <c:v>6807.42</c:v>
                </c:pt>
                <c:pt idx="3">
                  <c:v>7760.45</c:v>
                </c:pt>
                <c:pt idx="4">
                  <c:v>18034.79</c:v>
                </c:pt>
                <c:pt idx="5">
                  <c:v>20084.830000000002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25B-481C-9E46-FB714F5E4C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44848856"/>
        <c:axId val="106024032"/>
      </c:barChart>
      <c:catAx>
        <c:axId val="14484885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6024032"/>
        <c:crosses val="autoZero"/>
        <c:auto val="1"/>
        <c:lblAlgn val="ctr"/>
        <c:lblOffset val="100"/>
        <c:noMultiLvlLbl val="0"/>
      </c:catAx>
      <c:valAx>
        <c:axId val="106024032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crossAx val="1448488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rgbClr val="DAEDEF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0455914415634955"/>
          <c:y val="5.2501467560707407E-2"/>
          <c:w val="0.62988290219769438"/>
          <c:h val="0.89499706487858521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rgbClr val="2F5597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F02-4BEF-BA18-B891352B77C2}"/>
              </c:ext>
            </c:extLst>
          </c:dPt>
          <c:dPt>
            <c:idx val="3"/>
            <c:invertIfNegative val="0"/>
            <c:bubble3D val="0"/>
            <c:spPr>
              <a:solidFill>
                <a:srgbClr val="2F559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EF02-4BEF-BA18-B891352B77C2}"/>
              </c:ext>
            </c:extLst>
          </c:dPt>
          <c:dLbls>
            <c:dLbl>
              <c:idx val="0"/>
              <c:layout>
                <c:manualLayout>
                  <c:x val="0.30603497023913401"/>
                  <c:y val="1.1570738709330742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F02-4BEF-BA18-B891352B77C2}"/>
                </c:ext>
              </c:extLst>
            </c:dLbl>
            <c:dLbl>
              <c:idx val="1"/>
              <c:layout>
                <c:manualLayout>
                  <c:x val="0.14631785786923462"/>
                  <c:y val="1.8215898472398431E-6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F02-4BEF-BA18-B891352B77C2}"/>
                </c:ext>
              </c:extLst>
            </c:dLbl>
            <c:dLbl>
              <c:idx val="2"/>
              <c:layout>
                <c:manualLayout>
                  <c:x val="0.13583115407982671"/>
                  <c:y val="6.8690926690308896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F02-4BEF-BA18-B891352B77C2}"/>
                </c:ext>
              </c:extLst>
            </c:dLbl>
            <c:dLbl>
              <c:idx val="3"/>
              <c:layout>
                <c:manualLayout>
                  <c:x val="0.11254440571196749"/>
                  <c:y val="1.2112205045096767E-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F02-4BEF-BA18-B891352B77C2}"/>
                </c:ext>
              </c:extLst>
            </c:dLbl>
            <c:dLbl>
              <c:idx val="4"/>
              <c:layout>
                <c:manualLayout>
                  <c:x val="0.10584601891114757"/>
                  <c:y val="6.0561025239584295E-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EF02-4BEF-BA18-B891352B77C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'March 2025'!$C$17:$C$21</c:f>
              <c:strCache>
                <c:ptCount val="5"/>
                <c:pt idx="0">
                  <c:v>PHIL BUSINESS BANK</c:v>
                </c:pt>
                <c:pt idx="1">
                  <c:v>STERLING BANK OF ASIA</c:v>
                </c:pt>
                <c:pt idx="2">
                  <c:v>BANK OF MAKATI</c:v>
                </c:pt>
                <c:pt idx="3">
                  <c:v>PRODUCERS SAVINGS BANK</c:v>
                </c:pt>
                <c:pt idx="4">
                  <c:v>FIRST CONSOLIDATED BANK</c:v>
                </c:pt>
              </c:strCache>
            </c:strRef>
          </c:cat>
          <c:val>
            <c:numRef>
              <c:f>'March 2025'!$D$17:$D$21</c:f>
              <c:numCache>
                <c:formatCode>#,##0</c:formatCode>
                <c:ptCount val="5"/>
                <c:pt idx="0">
                  <c:v>161185.26999999999</c:v>
                </c:pt>
                <c:pt idx="1">
                  <c:v>60564.5</c:v>
                </c:pt>
                <c:pt idx="2">
                  <c:v>53657.06</c:v>
                </c:pt>
                <c:pt idx="3">
                  <c:v>39142.28</c:v>
                </c:pt>
                <c:pt idx="4">
                  <c:v>29536.880000000001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EF02-4BEF-BA18-B891352B77C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44848464"/>
        <c:axId val="144853168"/>
      </c:barChart>
      <c:catAx>
        <c:axId val="14484846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4853168"/>
        <c:crosses val="autoZero"/>
        <c:auto val="1"/>
        <c:lblAlgn val="ctr"/>
        <c:lblOffset val="100"/>
        <c:noMultiLvlLbl val="0"/>
      </c:catAx>
      <c:valAx>
        <c:axId val="144853168"/>
        <c:scaling>
          <c:orientation val="minMax"/>
        </c:scaling>
        <c:delete val="1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crossAx val="1448484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accent2">
        <a:lumMod val="20000"/>
        <a:lumOff val="80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bar"/>
        <c:grouping val="stacked"/>
        <c:varyColors val="0"/>
        <c:ser>
          <c:idx val="0"/>
          <c:order val="0"/>
          <c:tx>
            <c:v>2024</c:v>
          </c:tx>
          <c:spPr>
            <a:solidFill>
              <a:schemeClr val="accent5">
                <a:lumMod val="75000"/>
              </a:schemeClr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3.0158574544741551E-2"/>
                  <c:y val="-3.8451314606127579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8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7.2474185210392658E-2"/>
                      <c:h val="5.743199123441546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FE0D-47A9-8462-2DB6D565774D}"/>
                </c:ext>
              </c:extLst>
            </c:dLbl>
            <c:dLbl>
              <c:idx val="1"/>
              <c:layout>
                <c:manualLayout>
                  <c:x val="4.2130377649114883E-2"/>
                  <c:y val="-3.539947595438265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E0D-47A9-8462-2DB6D565774D}"/>
                </c:ext>
              </c:extLst>
            </c:dLbl>
            <c:dLbl>
              <c:idx val="2"/>
              <c:layout>
                <c:manualLayout>
                  <c:x val="-2.5348172084771678E-3"/>
                  <c:y val="-3.528833160287752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E0D-47A9-8462-2DB6D565774D}"/>
                </c:ext>
              </c:extLst>
            </c:dLbl>
            <c:dLbl>
              <c:idx val="3"/>
              <c:layout>
                <c:manualLayout>
                  <c:x val="0"/>
                  <c:y val="-3.528833160287752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FE0D-47A9-8462-2DB6D565774D}"/>
                </c:ext>
              </c:extLst>
            </c:dLbl>
            <c:dLbl>
              <c:idx val="4"/>
              <c:layout>
                <c:manualLayout>
                  <c:x val="-5.5423792403278202E-3"/>
                  <c:y val="-3.549996897220189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E0D-47A9-8462-2DB6D565774D}"/>
                </c:ext>
              </c:extLst>
            </c:dLbl>
            <c:dLbl>
              <c:idx val="5"/>
              <c:layout>
                <c:manualLayout>
                  <c:x val="5.9859015521866923E-3"/>
                  <c:y val="-4.11697202033571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FE0D-47A9-8462-2DB6D565774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'2024 vs 2025'!$C$108:$C$113</c:f>
              <c:strCache>
                <c:ptCount val="6"/>
                <c:pt idx="0">
                  <c:v>CARD SME BANK</c:v>
                </c:pt>
                <c:pt idx="1">
                  <c:v>STERLING BANK OF ASIA</c:v>
                </c:pt>
                <c:pt idx="2">
                  <c:v>PRODUCERS SAVINGS BANK</c:v>
                </c:pt>
                <c:pt idx="3">
                  <c:v>FIRST CONSOLIDATED BANK</c:v>
                </c:pt>
                <c:pt idx="4">
                  <c:v>BANK OF MAKATI</c:v>
                </c:pt>
                <c:pt idx="5">
                  <c:v>PHIL BUSINESS BANK</c:v>
                </c:pt>
              </c:strCache>
            </c:strRef>
          </c:cat>
          <c:val>
            <c:numRef>
              <c:f>'2024 vs 2025'!$D$108:$D$113</c:f>
              <c:numCache>
                <c:formatCode>#,##0</c:formatCode>
                <c:ptCount val="6"/>
                <c:pt idx="0">
                  <c:v>2510.12</c:v>
                </c:pt>
                <c:pt idx="1">
                  <c:v>4413.8500000000004</c:v>
                </c:pt>
                <c:pt idx="2">
                  <c:v>5505.75</c:v>
                </c:pt>
                <c:pt idx="3">
                  <c:v>6751.09</c:v>
                </c:pt>
                <c:pt idx="4">
                  <c:v>17315.62</c:v>
                </c:pt>
                <c:pt idx="5">
                  <c:v>18415.72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E0D-47A9-8462-2DB6D565774D}"/>
            </c:ext>
          </c:extLst>
        </c:ser>
        <c:ser>
          <c:idx val="1"/>
          <c:order val="1"/>
          <c:tx>
            <c:v>2025</c:v>
          </c:tx>
          <c:spPr>
            <a:solidFill>
              <a:srgbClr val="FFC000"/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6.2851966297960263E-2"/>
                  <c:y val="-5.881388600479587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FE0D-47A9-8462-2DB6D565774D}"/>
                </c:ext>
              </c:extLst>
            </c:dLbl>
            <c:dLbl>
              <c:idx val="1"/>
              <c:layout>
                <c:manualLayout>
                  <c:x val="7.1830818626240259E-2"/>
                  <c:y val="-5.659099897469335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E0D-47A9-8462-2DB6D565774D}"/>
                </c:ext>
              </c:extLst>
            </c:dLbl>
            <c:dLbl>
              <c:idx val="2"/>
              <c:layout>
                <c:manualLayout>
                  <c:x val="2.9929507760932911E-3"/>
                  <c:y val="-3.528833160287752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FE0D-47A9-8462-2DB6D565774D}"/>
                </c:ext>
              </c:extLst>
            </c:dLbl>
            <c:dLbl>
              <c:idx val="3"/>
              <c:layout>
                <c:manualLayout>
                  <c:x val="6.214968335994781E-3"/>
                  <c:y val="-3.49548985483621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FE0D-47A9-8462-2DB6D565774D}"/>
                </c:ext>
              </c:extLst>
            </c:dLbl>
            <c:dLbl>
              <c:idx val="4"/>
              <c:layout>
                <c:manualLayout>
                  <c:x val="-8.9788523282800375E-3"/>
                  <c:y val="-3.50822514511284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E0D-47A9-8462-2DB6D565774D}"/>
                </c:ext>
              </c:extLst>
            </c:dLbl>
            <c:dLbl>
              <c:idx val="5"/>
              <c:layout>
                <c:manualLayout>
                  <c:x val="0"/>
                  <c:y val="-2.92957986508928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FE0D-47A9-8462-2DB6D565774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'2024 vs 2025'!$C$108:$C$113</c:f>
              <c:strCache>
                <c:ptCount val="6"/>
                <c:pt idx="0">
                  <c:v>CARD SME BANK</c:v>
                </c:pt>
                <c:pt idx="1">
                  <c:v>STERLING BANK OF ASIA</c:v>
                </c:pt>
                <c:pt idx="2">
                  <c:v>PRODUCERS SAVINGS BANK</c:v>
                </c:pt>
                <c:pt idx="3">
                  <c:v>FIRST CONSOLIDATED BANK</c:v>
                </c:pt>
                <c:pt idx="4">
                  <c:v>BANK OF MAKATI</c:v>
                </c:pt>
                <c:pt idx="5">
                  <c:v>PHIL BUSINESS BANK</c:v>
                </c:pt>
              </c:strCache>
            </c:strRef>
          </c:cat>
          <c:val>
            <c:numRef>
              <c:f>'2024 vs 2025'!$H$108:$H$113</c:f>
              <c:numCache>
                <c:formatCode>#,##0</c:formatCode>
                <c:ptCount val="6"/>
                <c:pt idx="0">
                  <c:v>3422.32</c:v>
                </c:pt>
                <c:pt idx="1">
                  <c:v>5144.34</c:v>
                </c:pt>
                <c:pt idx="2">
                  <c:v>6807.42</c:v>
                </c:pt>
                <c:pt idx="3">
                  <c:v>7760.45</c:v>
                </c:pt>
                <c:pt idx="4">
                  <c:v>18034.79</c:v>
                </c:pt>
                <c:pt idx="5">
                  <c:v>20084.830000000002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FE0D-47A9-8462-2DB6D565774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0"/>
        <c:gapDepth val="50"/>
        <c:shape val="box"/>
        <c:axId val="1862258928"/>
        <c:axId val="1862258096"/>
        <c:axId val="0"/>
      </c:bar3DChart>
      <c:catAx>
        <c:axId val="186225892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62258096"/>
        <c:crosses val="autoZero"/>
        <c:auto val="1"/>
        <c:lblAlgn val="ctr"/>
        <c:lblOffset val="100"/>
        <c:noMultiLvlLbl val="0"/>
      </c:catAx>
      <c:valAx>
        <c:axId val="1862258096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crossAx val="18622589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41018036888236148"/>
          <c:y val="0.90197299747980175"/>
          <c:w val="0.17963926223527704"/>
          <c:h val="9.21456139197185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DAEDEF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bar"/>
        <c:grouping val="stacked"/>
        <c:varyColors val="0"/>
        <c:ser>
          <c:idx val="0"/>
          <c:order val="0"/>
          <c:tx>
            <c:v>2024</c:v>
          </c:tx>
          <c:spPr>
            <a:solidFill>
              <a:schemeClr val="accent5">
                <a:lumMod val="75000"/>
              </a:schemeClr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6.033425001328043E-3"/>
                  <c:y val="4.411331090859008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0979-42B4-9D60-C3ADD3F7E660}"/>
                </c:ext>
              </c:extLst>
            </c:dLbl>
            <c:dLbl>
              <c:idx val="1"/>
              <c:layout>
                <c:manualLayout>
                  <c:x val="1.7809380652454432E-4"/>
                  <c:y val="3.695475478271668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979-42B4-9D60-C3ADD3F7E660}"/>
                </c:ext>
              </c:extLst>
            </c:dLbl>
            <c:dLbl>
              <c:idx val="2"/>
              <c:layout>
                <c:manualLayout>
                  <c:x val="-2.6238998143939579E-3"/>
                  <c:y val="4.05371851127639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0979-42B4-9D60-C3ADD3F7E660}"/>
                </c:ext>
              </c:extLst>
            </c:dLbl>
            <c:dLbl>
              <c:idx val="3"/>
              <c:layout>
                <c:manualLayout>
                  <c:x val="3.0000498475437447E-2"/>
                  <c:y val="3.795426593883243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979-42B4-9D60-C3ADD3F7E660}"/>
                </c:ext>
              </c:extLst>
            </c:dLbl>
            <c:dLbl>
              <c:idx val="4"/>
              <c:layout>
                <c:manualLayout>
                  <c:x val="2.674917488273541E-2"/>
                  <c:y val="3.895426205911918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0979-42B4-9D60-C3ADD3F7E66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'2024 vs 2025'!$C$97:$C$101</c:f>
              <c:strCache>
                <c:ptCount val="5"/>
                <c:pt idx="0">
                  <c:v>PHIL BUSINESS BANK</c:v>
                </c:pt>
                <c:pt idx="1">
                  <c:v>STERLING BANK OF ASIA</c:v>
                </c:pt>
                <c:pt idx="2">
                  <c:v>BANK OF MAKATI</c:v>
                </c:pt>
                <c:pt idx="3">
                  <c:v>PRODUCERS SAVINGS BANK</c:v>
                </c:pt>
                <c:pt idx="4">
                  <c:v>FIRST CONSOLIDATED BANK</c:v>
                </c:pt>
              </c:strCache>
            </c:strRef>
          </c:cat>
          <c:val>
            <c:numRef>
              <c:f>'2024 vs 2025'!$D$97:$D$101</c:f>
              <c:numCache>
                <c:formatCode>#,##0</c:formatCode>
                <c:ptCount val="5"/>
                <c:pt idx="0">
                  <c:v>111261.48</c:v>
                </c:pt>
                <c:pt idx="1">
                  <c:v>35906.69</c:v>
                </c:pt>
                <c:pt idx="2">
                  <c:v>31700.03</c:v>
                </c:pt>
                <c:pt idx="3">
                  <c:v>24702.14</c:v>
                </c:pt>
                <c:pt idx="4">
                  <c:v>19442.52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0979-42B4-9D60-C3ADD3F7E660}"/>
            </c:ext>
          </c:extLst>
        </c:ser>
        <c:ser>
          <c:idx val="1"/>
          <c:order val="1"/>
          <c:tx>
            <c:v>2025</c:v>
          </c:tx>
          <c:spPr>
            <a:solidFill>
              <a:srgbClr val="FFC000"/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8.9163916275784697E-5"/>
                  <c:y val="3.853573797967806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0979-42B4-9D60-C3ADD3F7E660}"/>
                </c:ext>
              </c:extLst>
            </c:dLbl>
            <c:dLbl>
              <c:idx val="1"/>
              <c:layout>
                <c:manualLayout>
                  <c:x val="0"/>
                  <c:y val="3.595572859077177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0979-42B4-9D60-C3ADD3F7E660}"/>
                </c:ext>
              </c:extLst>
            </c:dLbl>
            <c:dLbl>
              <c:idx val="2"/>
              <c:layout>
                <c:manualLayout>
                  <c:x val="1.2074806887573194E-2"/>
                  <c:y val="4.211574348887104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0979-42B4-9D60-C3ADD3F7E660}"/>
                </c:ext>
              </c:extLst>
            </c:dLbl>
            <c:dLbl>
              <c:idx val="3"/>
              <c:layout>
                <c:manualLayout>
                  <c:x val="7.4489548280622431E-2"/>
                  <c:y val="8.741964143689063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0979-42B4-9D60-C3ADD3F7E660}"/>
                </c:ext>
              </c:extLst>
            </c:dLbl>
            <c:dLbl>
              <c:idx val="4"/>
              <c:layout>
                <c:manualLayout>
                  <c:x val="6.2414741393049179E-2"/>
                  <c:y val="6.159044969757634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0979-42B4-9D60-C3ADD3F7E66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accent5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'2024 vs 2025'!$C$97:$C$101</c:f>
              <c:strCache>
                <c:ptCount val="5"/>
                <c:pt idx="0">
                  <c:v>PHIL BUSINESS BANK</c:v>
                </c:pt>
                <c:pt idx="1">
                  <c:v>STERLING BANK OF ASIA</c:v>
                </c:pt>
                <c:pt idx="2">
                  <c:v>BANK OF MAKATI</c:v>
                </c:pt>
                <c:pt idx="3">
                  <c:v>PRODUCERS SAVINGS BANK</c:v>
                </c:pt>
                <c:pt idx="4">
                  <c:v>FIRST CONSOLIDATED BANK</c:v>
                </c:pt>
              </c:strCache>
            </c:strRef>
          </c:cat>
          <c:val>
            <c:numRef>
              <c:f>'2024 vs 2025'!$H$97:$H$101</c:f>
              <c:numCache>
                <c:formatCode>#,##0</c:formatCode>
                <c:ptCount val="5"/>
                <c:pt idx="0">
                  <c:v>121748.11</c:v>
                </c:pt>
                <c:pt idx="1">
                  <c:v>46342.23</c:v>
                </c:pt>
                <c:pt idx="2">
                  <c:v>36500.39</c:v>
                </c:pt>
                <c:pt idx="3">
                  <c:v>29263.21</c:v>
                </c:pt>
                <c:pt idx="4">
                  <c:v>19954.59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979-42B4-9D60-C3ADD3F7E66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0"/>
        <c:gapDepth val="50"/>
        <c:shape val="box"/>
        <c:axId val="1691758400"/>
        <c:axId val="1691757984"/>
        <c:axId val="0"/>
      </c:bar3DChart>
      <c:catAx>
        <c:axId val="169175840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91757984"/>
        <c:crosses val="autoZero"/>
        <c:auto val="1"/>
        <c:lblAlgn val="ctr"/>
        <c:lblOffset val="100"/>
        <c:noMultiLvlLbl val="0"/>
      </c:catAx>
      <c:valAx>
        <c:axId val="1691757984"/>
        <c:scaling>
          <c:orientation val="minMax"/>
        </c:scaling>
        <c:delete val="1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crossAx val="16917584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41080507527564175"/>
          <c:y val="0.90350425410570667"/>
          <c:w val="0.17838961542268961"/>
          <c:h val="9.649574589429332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accent2">
        <a:lumMod val="20000"/>
        <a:lumOff val="80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bar"/>
        <c:grouping val="stacked"/>
        <c:varyColors val="0"/>
        <c:ser>
          <c:idx val="0"/>
          <c:order val="0"/>
          <c:tx>
            <c:v>2024</c:v>
          </c:tx>
          <c:spPr>
            <a:solidFill>
              <a:schemeClr val="accent5">
                <a:lumMod val="75000"/>
              </a:schemeClr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-8.459226556164632E-3"/>
                  <c:y val="3.979631032655735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21FF-4509-995F-5C44A72F9072}"/>
                </c:ext>
              </c:extLst>
            </c:dLbl>
            <c:dLbl>
              <c:idx val="1"/>
              <c:layout>
                <c:manualLayout>
                  <c:x val="-2.4975619373532867E-3"/>
                  <c:y val="3.979446581262594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1FF-4509-995F-5C44A72F9072}"/>
                </c:ext>
              </c:extLst>
            </c:dLbl>
            <c:dLbl>
              <c:idx val="2"/>
              <c:layout>
                <c:manualLayout>
                  <c:x val="7.2478820247596847E-4"/>
                  <c:y val="3.979492694110887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21FF-4509-995F-5C44A72F9072}"/>
                </c:ext>
              </c:extLst>
            </c:dLbl>
            <c:dLbl>
              <c:idx val="3"/>
              <c:layout>
                <c:manualLayout>
                  <c:x val="3.9475608224750061E-2"/>
                  <c:y val="4.565171980173319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1FF-4509-995F-5C44A72F9072}"/>
                </c:ext>
              </c:extLst>
            </c:dLbl>
            <c:dLbl>
              <c:idx val="4"/>
              <c:layout>
                <c:manualLayout>
                  <c:x val="3.0533111296532963E-2"/>
                  <c:y val="3.979492694110892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21FF-4509-995F-5C44A72F907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'2024 vs 2025'!$G$87:$G$91</c:f>
              <c:strCache>
                <c:ptCount val="5"/>
                <c:pt idx="0">
                  <c:v>PHIL BUSINESS BANK</c:v>
                </c:pt>
                <c:pt idx="1">
                  <c:v>STERLING BANK OF ASIA</c:v>
                </c:pt>
                <c:pt idx="2">
                  <c:v>BANK OF MAKATI</c:v>
                </c:pt>
                <c:pt idx="3">
                  <c:v>PRODUCERS SAVINGS BANK</c:v>
                </c:pt>
                <c:pt idx="4">
                  <c:v>FIRST CONSOLIDATED BANK</c:v>
                </c:pt>
              </c:strCache>
            </c:strRef>
          </c:cat>
          <c:val>
            <c:numRef>
              <c:f>'2024 vs 2025'!$D$87:$D$91</c:f>
              <c:numCache>
                <c:formatCode>#,##0</c:formatCode>
                <c:ptCount val="5"/>
                <c:pt idx="0">
                  <c:v>148143.24</c:v>
                </c:pt>
                <c:pt idx="1">
                  <c:v>54454.69</c:v>
                </c:pt>
                <c:pt idx="2">
                  <c:v>47484.08</c:v>
                </c:pt>
                <c:pt idx="3">
                  <c:v>34070.660000000003</c:v>
                </c:pt>
                <c:pt idx="4">
                  <c:v>26363.599999999999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21FF-4509-995F-5C44A72F9072}"/>
            </c:ext>
          </c:extLst>
        </c:ser>
        <c:ser>
          <c:idx val="1"/>
          <c:order val="1"/>
          <c:tx>
            <c:v>2025</c:v>
          </c:tx>
          <c:spPr>
            <a:solidFill>
              <a:srgbClr val="FFC000"/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-2.7393144789821982E-3"/>
                  <c:y val="4.339541813516873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21FF-4509-995F-5C44A72F9072}"/>
                </c:ext>
              </c:extLst>
            </c:dLbl>
            <c:dLbl>
              <c:idx val="1"/>
              <c:layout>
                <c:manualLayout>
                  <c:x val="9.184014758640599E-3"/>
                  <c:y val="3.754000865999290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21FF-4509-995F-5C44A72F9072}"/>
                </c:ext>
              </c:extLst>
            </c:dLbl>
            <c:dLbl>
              <c:idx val="2"/>
              <c:layout>
                <c:manualLayout>
                  <c:x val="1.1923329237622798E-2"/>
                  <c:y val="3.753908640302727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21FF-4509-995F-5C44A72F9072}"/>
                </c:ext>
              </c:extLst>
            </c:dLbl>
            <c:dLbl>
              <c:idx val="3"/>
              <c:layout>
                <c:manualLayout>
                  <c:x val="7.4520807735142483E-2"/>
                  <c:y val="7.05757142995492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21FF-4509-995F-5C44A72F9072}"/>
                </c:ext>
              </c:extLst>
            </c:dLbl>
            <c:dLbl>
              <c:idx val="4"/>
              <c:layout>
                <c:manualLayout>
                  <c:x val="6.8800660946754591E-2"/>
                  <c:y val="8.258349999285357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21FF-4509-995F-5C44A72F907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'2024 vs 2025'!$G$87:$G$91</c:f>
              <c:strCache>
                <c:ptCount val="5"/>
                <c:pt idx="0">
                  <c:v>PHIL BUSINESS BANK</c:v>
                </c:pt>
                <c:pt idx="1">
                  <c:v>STERLING BANK OF ASIA</c:v>
                </c:pt>
                <c:pt idx="2">
                  <c:v>BANK OF MAKATI</c:v>
                </c:pt>
                <c:pt idx="3">
                  <c:v>PRODUCERS SAVINGS BANK</c:v>
                </c:pt>
                <c:pt idx="4">
                  <c:v>FIRST CONSOLIDATED BANK</c:v>
                </c:pt>
              </c:strCache>
            </c:strRef>
          </c:cat>
          <c:val>
            <c:numRef>
              <c:f>'2024 vs 2025'!$H$87:$H$91</c:f>
              <c:numCache>
                <c:formatCode>#,##0</c:formatCode>
                <c:ptCount val="5"/>
                <c:pt idx="0">
                  <c:v>161185.26999999999</c:v>
                </c:pt>
                <c:pt idx="1">
                  <c:v>60564.5</c:v>
                </c:pt>
                <c:pt idx="2">
                  <c:v>53657.06</c:v>
                </c:pt>
                <c:pt idx="3">
                  <c:v>39142.28</c:v>
                </c:pt>
                <c:pt idx="4">
                  <c:v>29536.880000000001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21FF-4509-995F-5C44A72F907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0"/>
        <c:gapDepth val="50"/>
        <c:shape val="box"/>
        <c:axId val="1687291936"/>
        <c:axId val="1864518784"/>
        <c:axId val="0"/>
      </c:bar3DChart>
      <c:catAx>
        <c:axId val="1687291936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64518784"/>
        <c:crosses val="autoZero"/>
        <c:auto val="1"/>
        <c:lblAlgn val="ctr"/>
        <c:lblOffset val="100"/>
        <c:noMultiLvlLbl val="0"/>
      </c:catAx>
      <c:valAx>
        <c:axId val="1864518784"/>
        <c:scaling>
          <c:orientation val="minMax"/>
        </c:scaling>
        <c:delete val="1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crossAx val="16872919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41054393148310492"/>
          <c:y val="0.9023906283936175"/>
          <c:w val="0.17891190232258472"/>
          <c:h val="9.175303987424103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accent2">
        <a:lumMod val="20000"/>
        <a:lumOff val="80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bar"/>
        <c:grouping val="stacked"/>
        <c:varyColors val="0"/>
        <c:ser>
          <c:idx val="0"/>
          <c:order val="0"/>
          <c:tx>
            <c:v>2024</c:v>
          </c:tx>
          <c:spPr>
            <a:solidFill>
              <a:schemeClr val="accent5">
                <a:lumMod val="75000"/>
              </a:schemeClr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-2.5176730522257101E-3"/>
                  <c:y val="4.700843619264944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0C3D-4454-B542-3238074C1291}"/>
                </c:ext>
              </c:extLst>
            </c:dLbl>
            <c:dLbl>
              <c:idx val="1"/>
              <c:layout>
                <c:manualLayout>
                  <c:x val="2.2971041720334131E-4"/>
                  <c:y val="4.180016288459396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C3D-4454-B542-3238074C1291}"/>
                </c:ext>
              </c:extLst>
            </c:dLbl>
            <c:dLbl>
              <c:idx val="2"/>
              <c:layout>
                <c:manualLayout>
                  <c:x val="5.9537189764947646E-3"/>
                  <c:y val="4.180208369348500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0C3D-4454-B542-3238074C1291}"/>
                </c:ext>
              </c:extLst>
            </c:dLbl>
            <c:dLbl>
              <c:idx val="3"/>
              <c:layout>
                <c:manualLayout>
                  <c:x val="3.0227781318495604E-2"/>
                  <c:y val="3.481274034121249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C3D-4454-B542-3238074C1291}"/>
                </c:ext>
              </c:extLst>
            </c:dLbl>
            <c:dLbl>
              <c:idx val="4"/>
              <c:layout>
                <c:manualLayout>
                  <c:x val="2.7250921830248222E-2"/>
                  <c:y val="3.48108195323214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0C3D-4454-B542-3238074C129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'2024 vs 2025'!$C$76:$C$80</c:f>
              <c:strCache>
                <c:ptCount val="5"/>
                <c:pt idx="0">
                  <c:v>PHIL BUSINESS BANK</c:v>
                </c:pt>
                <c:pt idx="1">
                  <c:v>STERLING BANK OF ASIA</c:v>
                </c:pt>
                <c:pt idx="2">
                  <c:v>BANK OF MAKATI</c:v>
                </c:pt>
                <c:pt idx="3">
                  <c:v>PRODUCERS SAVINGS BANK</c:v>
                </c:pt>
                <c:pt idx="4">
                  <c:v>FIRST CONSOLIDATED BANK</c:v>
                </c:pt>
              </c:strCache>
            </c:strRef>
          </c:cat>
          <c:val>
            <c:numRef>
              <c:f>'2024 vs 2025'!$D$76:$D$80</c:f>
              <c:numCache>
                <c:formatCode>#,##0</c:formatCode>
                <c:ptCount val="5"/>
                <c:pt idx="0">
                  <c:v>119116.05</c:v>
                </c:pt>
                <c:pt idx="1">
                  <c:v>40050.080000000002</c:v>
                </c:pt>
                <c:pt idx="2">
                  <c:v>34494.78</c:v>
                </c:pt>
                <c:pt idx="3">
                  <c:v>21474.28</c:v>
                </c:pt>
                <c:pt idx="4">
                  <c:v>17859.150000000001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0C3D-4454-B542-3238074C1291}"/>
            </c:ext>
          </c:extLst>
        </c:ser>
        <c:ser>
          <c:idx val="1"/>
          <c:order val="1"/>
          <c:tx>
            <c:v>2025</c:v>
          </c:tx>
          <c:spPr>
            <a:solidFill>
              <a:srgbClr val="FFC000"/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8.930578464742038E-3"/>
                  <c:y val="4.878854583242094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0C3D-4454-B542-3238074C1291}"/>
                </c:ext>
              </c:extLst>
            </c:dLbl>
            <c:dLbl>
              <c:idx val="1"/>
              <c:layout>
                <c:manualLayout>
                  <c:x val="5.9537189764947099E-3"/>
                  <c:y val="4.26942994233731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0C3D-4454-B542-3238074C1291}"/>
                </c:ext>
              </c:extLst>
            </c:dLbl>
            <c:dLbl>
              <c:idx val="2"/>
              <c:layout>
                <c:manualLayout>
                  <c:x val="3.6657563414725048E-3"/>
                  <c:y val="3.83744002274237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0C3D-4454-B542-3238074C1291}"/>
                </c:ext>
              </c:extLst>
            </c:dLbl>
            <c:dLbl>
              <c:idx val="3"/>
              <c:layout>
                <c:manualLayout>
                  <c:x val="6.5490908741442352E-2"/>
                  <c:y val="6.100969240166419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0C3D-4454-B542-3238074C1291}"/>
                </c:ext>
              </c:extLst>
            </c:dLbl>
            <c:dLbl>
              <c:idx val="4"/>
              <c:layout>
                <c:manualLayout>
                  <c:x val="5.95371897649477E-2"/>
                  <c:y val="1.308887198577064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0C3D-4454-B542-3238074C129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'2024 vs 2025'!$C$76:$C$80</c:f>
              <c:strCache>
                <c:ptCount val="5"/>
                <c:pt idx="0">
                  <c:v>PHIL BUSINESS BANK</c:v>
                </c:pt>
                <c:pt idx="1">
                  <c:v>STERLING BANK OF ASIA</c:v>
                </c:pt>
                <c:pt idx="2">
                  <c:v>BANK OF MAKATI</c:v>
                </c:pt>
                <c:pt idx="3">
                  <c:v>PRODUCERS SAVINGS BANK</c:v>
                </c:pt>
                <c:pt idx="4">
                  <c:v>FIRST CONSOLIDATED BANK</c:v>
                </c:pt>
              </c:strCache>
            </c:strRef>
          </c:cat>
          <c:val>
            <c:numRef>
              <c:f>'2024 vs 2025'!$H$76:$H$80</c:f>
              <c:numCache>
                <c:formatCode>#,##0</c:formatCode>
                <c:ptCount val="5"/>
                <c:pt idx="0">
                  <c:v>130715.98</c:v>
                </c:pt>
                <c:pt idx="1">
                  <c:v>52139.78</c:v>
                </c:pt>
                <c:pt idx="2">
                  <c:v>33138.82</c:v>
                </c:pt>
                <c:pt idx="3">
                  <c:v>25439.29</c:v>
                </c:pt>
                <c:pt idx="4">
                  <c:v>20120.66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0C3D-4454-B542-3238074C129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0"/>
        <c:gapDepth val="50"/>
        <c:shape val="box"/>
        <c:axId val="1691757152"/>
        <c:axId val="1691744672"/>
        <c:axId val="0"/>
      </c:bar3DChart>
      <c:catAx>
        <c:axId val="1691757152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91744672"/>
        <c:crosses val="autoZero"/>
        <c:auto val="1"/>
        <c:lblAlgn val="ctr"/>
        <c:lblOffset val="100"/>
        <c:noMultiLvlLbl val="0"/>
      </c:catAx>
      <c:valAx>
        <c:axId val="1691744672"/>
        <c:scaling>
          <c:orientation val="minMax"/>
        </c:scaling>
        <c:delete val="1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crossAx val="16917571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41066315756657912"/>
          <c:y val="0.89835319449726669"/>
          <c:w val="0.1786734504684569"/>
          <c:h val="9.554823727368069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DAEDEF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chemeClr val="accent1">
                <a:lumMod val="75000"/>
              </a:schemeClr>
            </a:solidFill>
            <a:ln>
              <a:noFill/>
            </a:ln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FBF-4C90-A17D-0B43C7E4EC89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EFBF-4C90-A17D-0B43C7E4EC89}"/>
              </c:ext>
            </c:extLst>
          </c:dPt>
          <c:dLbls>
            <c:dLbl>
              <c:idx val="0"/>
              <c:layout>
                <c:manualLayout>
                  <c:x val="0"/>
                  <c:y val="1.765292616338407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FBF-4C90-A17D-0B43C7E4EC89}"/>
                </c:ext>
              </c:extLst>
            </c:dLbl>
            <c:dLbl>
              <c:idx val="1"/>
              <c:layout>
                <c:manualLayout>
                  <c:x val="-1.5085360572189024E-2"/>
                  <c:y val="4.6328275678174502E-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EFBF-4C90-A17D-0B43C7E4EC89}"/>
                </c:ext>
              </c:extLst>
            </c:dLbl>
            <c:dLbl>
              <c:idx val="2"/>
              <c:layout>
                <c:manualLayout>
                  <c:x val="-1.5085360572189024E-2"/>
                  <c:y val="5.3933211224477086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FBF-4C90-A17D-0B43C7E4EC89}"/>
                </c:ext>
              </c:extLst>
            </c:dLbl>
            <c:dLbl>
              <c:idx val="3"/>
              <c:layout>
                <c:manualLayout>
                  <c:x val="-1.5085360572188915E-2"/>
                  <c:y val="1.3898482703182684E-6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EFBF-4C90-A17D-0B43C7E4EC89}"/>
                </c:ext>
              </c:extLst>
            </c:dLbl>
            <c:dLbl>
              <c:idx val="4"/>
              <c:layout>
                <c:manualLayout>
                  <c:x val="-6.0341442288756207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EFBF-4C90-A17D-0B43C7E4EC89}"/>
                </c:ext>
              </c:extLst>
            </c:dLbl>
            <c:dLbl>
              <c:idx val="5"/>
              <c:layout>
                <c:manualLayout>
                  <c:x val="-1.5085360572188969E-2"/>
                  <c:y val="1.3898482702643353E-6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900" b="1" i="0" u="none" strike="noStrike" kern="1200" baseline="0">
                        <a:ln>
                          <a:noFill/>
                        </a:ln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4575EFC3-443F-433F-BAEC-631D8C556223}" type="VALUE">
                      <a:rPr lang="en-US" smtClean="0">
                        <a:solidFill>
                          <a:srgbClr val="002060"/>
                        </a:solidFill>
                      </a:rPr>
                      <a:pPr>
                        <a:defRPr b="1">
                          <a:solidFill>
                            <a:srgbClr val="002060"/>
                          </a:solidFill>
                        </a:defRPr>
                      </a:pPr>
                      <a:t>[VALUE]</a:t>
                    </a:fld>
                    <a:r>
                      <a:rPr lang="en-US" sz="800" b="1" i="0" u="none" strike="noStrike" kern="1200" baseline="0" dirty="0" smtClean="0">
                        <a:ln>
                          <a:noFill/>
                        </a:ln>
                        <a:solidFill>
                          <a:srgbClr val="002060"/>
                        </a:solidFill>
                      </a:rPr>
                      <a:t> </a:t>
                    </a:r>
                    <a:r>
                      <a:rPr lang="en-US" sz="800" b="1" i="0" u="none" strike="noStrike" kern="1200" baseline="0" dirty="0" smtClean="0">
                        <a:ln>
                          <a:noFill/>
                        </a:ln>
                        <a:solidFill>
                          <a:srgbClr val="00206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↑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1" i="0" u="none" strike="noStrike" kern="1200" baseline="0">
                      <a:ln>
                        <a:noFill/>
                      </a:ln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EFBF-4C90-A17D-0B43C7E4EC89}"/>
                </c:ext>
              </c:extLst>
            </c:dLbl>
            <c:dLbl>
              <c:idx val="6"/>
              <c:layout>
                <c:manualLayout>
                  <c:x val="-1.2068288457751132E-2"/>
                  <c:y val="4.632827567547784E-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FBF-4C90-A17D-0B43C7E4EC89}"/>
                </c:ext>
              </c:extLst>
            </c:dLbl>
            <c:dLbl>
              <c:idx val="7"/>
              <c:layout>
                <c:manualLayout>
                  <c:x val="-9.0512163433133491E-3"/>
                  <c:y val="5.885544141812705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EFBF-4C90-A17D-0B43C7E4EC89}"/>
                </c:ext>
              </c:extLst>
            </c:dLbl>
            <c:dLbl>
              <c:idx val="8"/>
              <c:layout>
                <c:manualLayout>
                  <c:x val="-9.0512163433133491E-3"/>
                  <c:y val="1.0786642244895417E-16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EFBF-4C90-A17D-0B43C7E4EC89}"/>
                </c:ext>
              </c:extLst>
            </c:dLbl>
            <c:dLbl>
              <c:idx val="9"/>
              <c:layout>
                <c:manualLayout>
                  <c:x val="-1.508536057218886E-2"/>
                  <c:y val="5.885080859055950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EFBF-4C90-A17D-0B43C7E4EC8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ln>
                      <a:noFill/>
                    </a:ln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'2024 March'!$C$7:$C$16</c:f>
              <c:strCache>
                <c:ptCount val="10"/>
                <c:pt idx="0">
                  <c:v>PHIL SAVINGS BANK</c:v>
                </c:pt>
                <c:pt idx="1">
                  <c:v>CHINA BANK SAVINGS</c:v>
                </c:pt>
                <c:pt idx="2">
                  <c:v>PHIL BUSINESS BANK</c:v>
                </c:pt>
                <c:pt idx="3">
                  <c:v>CITY SAVINGS BANK</c:v>
                </c:pt>
                <c:pt idx="4">
                  <c:v>BPI DIRECT BANKO</c:v>
                </c:pt>
                <c:pt idx="5">
                  <c:v>STERLING BANK OF ASIA</c:v>
                </c:pt>
                <c:pt idx="6">
                  <c:v>BANK OF MAKATI</c:v>
                </c:pt>
                <c:pt idx="7">
                  <c:v>PRODUCERS SAVINGS BANK</c:v>
                </c:pt>
                <c:pt idx="8">
                  <c:v>FIRST CONSOLIDATED BANK</c:v>
                </c:pt>
                <c:pt idx="9">
                  <c:v>UCPB SAVINGS BANK</c:v>
                </c:pt>
              </c:strCache>
            </c:strRef>
          </c:cat>
          <c:val>
            <c:numRef>
              <c:f>'2024 March'!$D$7:$D$16</c:f>
              <c:numCache>
                <c:formatCode>#,##0</c:formatCode>
                <c:ptCount val="10"/>
                <c:pt idx="0">
                  <c:v>185084.74</c:v>
                </c:pt>
                <c:pt idx="1">
                  <c:v>142464.72</c:v>
                </c:pt>
                <c:pt idx="2">
                  <c:v>119116.05</c:v>
                </c:pt>
                <c:pt idx="3">
                  <c:v>104628.3</c:v>
                </c:pt>
                <c:pt idx="4">
                  <c:v>40818.5</c:v>
                </c:pt>
                <c:pt idx="5">
                  <c:v>40050.080000000002</c:v>
                </c:pt>
                <c:pt idx="6">
                  <c:v>34494.78</c:v>
                </c:pt>
                <c:pt idx="7">
                  <c:v>21474.28</c:v>
                </c:pt>
                <c:pt idx="8">
                  <c:v>17859.150000000001</c:v>
                </c:pt>
                <c:pt idx="9">
                  <c:v>13905.66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FBF-4C90-A17D-0B43C7E4EC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486739912"/>
        <c:axId val="486739520"/>
      </c:barChart>
      <c:catAx>
        <c:axId val="486739912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6739520"/>
        <c:crosses val="autoZero"/>
        <c:auto val="1"/>
        <c:lblAlgn val="ctr"/>
        <c:lblOffset val="100"/>
        <c:noMultiLvlLbl val="0"/>
      </c:catAx>
      <c:valAx>
        <c:axId val="486739520"/>
        <c:scaling>
          <c:orientation val="minMax"/>
        </c:scaling>
        <c:delete val="1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crossAx val="4867399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rgbClr val="DAEDEF"/>
    </a:solidFill>
    <a:ln>
      <a:noFill/>
    </a:ln>
    <a:effectLst/>
  </c:spPr>
  <c:txPr>
    <a:bodyPr/>
    <a:lstStyle/>
    <a:p>
      <a:pPr>
        <a:defRPr>
          <a:ln>
            <a:noFill/>
          </a:ln>
        </a:defRPr>
      </a:pPr>
      <a:endParaRPr lang="en-US"/>
    </a:p>
  </c:txPr>
  <c:externalData r:id="rId3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chemeClr val="accent5">
                <a:lumMod val="75000"/>
              </a:schemeClr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0AF-4B82-A0B7-6CFE623F980A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5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70AF-4B82-A0B7-6CFE623F980A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5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70AF-4B82-A0B7-6CFE623F980A}"/>
              </c:ext>
            </c:extLst>
          </c:dPt>
          <c:dLbls>
            <c:dLbl>
              <c:idx val="1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1" i="0" u="none" strike="noStrike" kern="1200" baseline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05174E83-06A6-4E09-9D70-63B1C55BA7CA}" type="VALUE">
                      <a:rPr lang="en-US" smtClean="0"/>
                      <a:pPr>
                        <a:defRPr b="1">
                          <a:solidFill>
                            <a:srgbClr val="002060"/>
                          </a:solidFill>
                        </a:defRPr>
                      </a:pPr>
                      <a:t>[VALUE]</a:t>
                    </a:fld>
                    <a:r>
                      <a:rPr lang="en-US" sz="800" b="1" i="0" u="none" strike="noStrike" kern="1200" baseline="0" dirty="0" smtClean="0">
                        <a:solidFill>
                          <a:srgbClr val="002060"/>
                        </a:solidFill>
                      </a:rPr>
                      <a:t> </a:t>
                    </a:r>
                    <a:r>
                      <a:rPr lang="en-US" sz="800" b="1" i="0" u="none" strike="noStrike" kern="1200" baseline="0" dirty="0" smtClean="0">
                        <a:solidFill>
                          <a:srgbClr val="00206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↑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70AF-4B82-A0B7-6CFE623F980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'2024 March'!$C$57:$C$66</c:f>
              <c:strCache>
                <c:ptCount val="10"/>
                <c:pt idx="0">
                  <c:v>CARD SME BANK</c:v>
                </c:pt>
                <c:pt idx="1">
                  <c:v>STERLING BANK OF ASIA</c:v>
                </c:pt>
                <c:pt idx="2">
                  <c:v>PRODUCERS SAVINGS BANK</c:v>
                </c:pt>
                <c:pt idx="3">
                  <c:v>BPI DIRECT BANKO</c:v>
                </c:pt>
                <c:pt idx="4">
                  <c:v>FIRST CONSOLIDATED BANK</c:v>
                </c:pt>
                <c:pt idx="5">
                  <c:v>CHINA BANK SAVINGS</c:v>
                </c:pt>
                <c:pt idx="6">
                  <c:v>BANK OF MAKATI</c:v>
                </c:pt>
                <c:pt idx="7">
                  <c:v>PHIL BUSINESS BANK</c:v>
                </c:pt>
                <c:pt idx="8">
                  <c:v>CITY SAVINGS BANK</c:v>
                </c:pt>
                <c:pt idx="9">
                  <c:v>PHIL SAVINGS BANK</c:v>
                </c:pt>
              </c:strCache>
            </c:strRef>
          </c:cat>
          <c:val>
            <c:numRef>
              <c:f>'2024 March'!$D$57:$D$66</c:f>
              <c:numCache>
                <c:formatCode>#,##0</c:formatCode>
                <c:ptCount val="10"/>
                <c:pt idx="0">
                  <c:v>2612.02</c:v>
                </c:pt>
                <c:pt idx="1">
                  <c:v>4413.8500000000004</c:v>
                </c:pt>
                <c:pt idx="2">
                  <c:v>5505.75</c:v>
                </c:pt>
                <c:pt idx="3">
                  <c:v>5931.63</c:v>
                </c:pt>
                <c:pt idx="4">
                  <c:v>6751.09</c:v>
                </c:pt>
                <c:pt idx="5">
                  <c:v>17032.150000000001</c:v>
                </c:pt>
                <c:pt idx="6">
                  <c:v>17315.62</c:v>
                </c:pt>
                <c:pt idx="7">
                  <c:v>18415.72</c:v>
                </c:pt>
                <c:pt idx="8">
                  <c:v>20638.25</c:v>
                </c:pt>
                <c:pt idx="9">
                  <c:v>39461.370000000003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0AF-4B82-A0B7-6CFE623F98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486739128"/>
        <c:axId val="486740304"/>
      </c:barChart>
      <c:catAx>
        <c:axId val="48673912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6740304"/>
        <c:crosses val="autoZero"/>
        <c:auto val="1"/>
        <c:lblAlgn val="ctr"/>
        <c:lblOffset val="100"/>
        <c:noMultiLvlLbl val="0"/>
      </c:catAx>
      <c:valAx>
        <c:axId val="486740304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crossAx val="4867391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rgbClr val="DAEDEF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chemeClr val="accent1">
                <a:lumMod val="75000"/>
              </a:schemeClr>
            </a:solidFill>
            <a:ln>
              <a:noFill/>
            </a:ln>
            <a:effectLst/>
          </c:spPr>
          <c:invertIfNegative val="0"/>
          <c:dPt>
            <c:idx val="4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E42-465D-837D-86CBE8026443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2E42-465D-837D-86CBE8026443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2E42-465D-837D-86CBE8026443}"/>
              </c:ext>
            </c:extLst>
          </c:dPt>
          <c:dLbls>
            <c:dLbl>
              <c:idx val="0"/>
              <c:layout>
                <c:manualLayout>
                  <c:x val="0"/>
                  <c:y val="4.623893587824669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2E42-465D-837D-86CBE8026443}"/>
                </c:ext>
              </c:extLst>
            </c:dLbl>
            <c:dLbl>
              <c:idx val="4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1" i="0" u="none" strike="noStrike" kern="1200" baseline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5C8DCFC9-69A1-4A38-AEE8-5FEB639941FC}" type="VALUE">
                      <a:rPr lang="en-US" smtClean="0"/>
                      <a:pPr>
                        <a:defRPr b="1">
                          <a:solidFill>
                            <a:srgbClr val="002060"/>
                          </a:solidFill>
                        </a:defRPr>
                      </a:pPr>
                      <a:t>[VALUE]</a:t>
                    </a:fld>
                    <a:r>
                      <a:rPr lang="en-US" dirty="0" smtClean="0"/>
                      <a:t> </a:t>
                    </a:r>
                    <a:r>
                      <a:rPr lang="en-US" dirty="0" smtClean="0"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↑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2E42-465D-837D-86CBE802644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'2024 March'!$C$39:$C$48</c:f>
              <c:strCache>
                <c:ptCount val="10"/>
                <c:pt idx="0">
                  <c:v>PHIL SAVINGS BANK</c:v>
                </c:pt>
                <c:pt idx="1">
                  <c:v>CHINA BANK SAVINGS</c:v>
                </c:pt>
                <c:pt idx="2">
                  <c:v>PHIL BUSINESS BANK</c:v>
                </c:pt>
                <c:pt idx="3">
                  <c:v>CITY SAVINGS BANK</c:v>
                </c:pt>
                <c:pt idx="4">
                  <c:v>STERLING BANK OF ASIA</c:v>
                </c:pt>
                <c:pt idx="5">
                  <c:v>BANK OF MAKATI</c:v>
                </c:pt>
                <c:pt idx="6">
                  <c:v>BPI DIRECT BANKO</c:v>
                </c:pt>
                <c:pt idx="7">
                  <c:v>PRODUCERS SAVINGS BANK</c:v>
                </c:pt>
                <c:pt idx="8">
                  <c:v>FIRST CONSOLIDATED BANK</c:v>
                </c:pt>
                <c:pt idx="9">
                  <c:v>1st VALLEY BANK</c:v>
                </c:pt>
              </c:strCache>
            </c:strRef>
          </c:cat>
          <c:val>
            <c:numRef>
              <c:f>'2024 March'!$D$39:$D$48</c:f>
              <c:numCache>
                <c:formatCode>#,##0</c:formatCode>
                <c:ptCount val="10"/>
                <c:pt idx="0">
                  <c:v>124391.45</c:v>
                </c:pt>
                <c:pt idx="1">
                  <c:v>116349.5</c:v>
                </c:pt>
                <c:pt idx="2">
                  <c:v>111261.48</c:v>
                </c:pt>
                <c:pt idx="3">
                  <c:v>96681.99</c:v>
                </c:pt>
                <c:pt idx="4">
                  <c:v>35906.69</c:v>
                </c:pt>
                <c:pt idx="5">
                  <c:v>31700.03</c:v>
                </c:pt>
                <c:pt idx="6">
                  <c:v>30041.18</c:v>
                </c:pt>
                <c:pt idx="7">
                  <c:v>24702.14</c:v>
                </c:pt>
                <c:pt idx="8">
                  <c:v>19442.52</c:v>
                </c:pt>
                <c:pt idx="9">
                  <c:v>11193.58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2E42-465D-837D-86CBE80264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86727760"/>
        <c:axId val="486728152"/>
      </c:barChart>
      <c:catAx>
        <c:axId val="48672776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6728152"/>
        <c:crosses val="autoZero"/>
        <c:auto val="0"/>
        <c:lblAlgn val="ctr"/>
        <c:lblOffset val="100"/>
        <c:noMultiLvlLbl val="0"/>
      </c:catAx>
      <c:valAx>
        <c:axId val="486728152"/>
        <c:scaling>
          <c:orientation val="minMax"/>
        </c:scaling>
        <c:delete val="1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crossAx val="4867277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accent2">
        <a:lumMod val="20000"/>
        <a:lumOff val="80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0455914415634955"/>
          <c:y val="5.2501467560707407E-2"/>
          <c:w val="0.5661106552949805"/>
          <c:h val="0.89499706487858521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chemeClr val="accent1">
                <a:lumMod val="75000"/>
              </a:schemeClr>
            </a:solidFill>
            <a:ln>
              <a:noFill/>
            </a:ln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chemeClr val="accent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DA4-452A-9E3D-5AF38C08D8E8}"/>
              </c:ext>
            </c:extLst>
          </c:dPt>
          <c:dPt>
            <c:idx val="6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9DA4-452A-9E3D-5AF38C08D8E8}"/>
              </c:ext>
            </c:extLst>
          </c:dPt>
          <c:dLbls>
            <c:dLbl>
              <c:idx val="0"/>
              <c:layout>
                <c:manualLayout>
                  <c:x val="0.31262830487198934"/>
                  <c:y val="-2.7952937834212579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2325685273349575"/>
                      <c:h val="8.584008736965767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9DA4-452A-9E3D-5AF38C08D8E8}"/>
                </c:ext>
              </c:extLst>
            </c:dLbl>
            <c:dLbl>
              <c:idx val="1"/>
              <c:layout>
                <c:manualLayout>
                  <c:x val="0.24333585195368976"/>
                  <c:y val="8.9902509721077809E-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DA4-452A-9E3D-5AF38C08D8E8}"/>
                </c:ext>
              </c:extLst>
            </c:dLbl>
            <c:dLbl>
              <c:idx val="2"/>
              <c:layout>
                <c:manualLayout>
                  <c:x val="0.23855086243289386"/>
                  <c:y val="1.7980501943692261E-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9DA4-452A-9E3D-5AF38C08D8E8}"/>
                </c:ext>
              </c:extLst>
            </c:dLbl>
            <c:dLbl>
              <c:idx val="3"/>
              <c:layout>
                <c:manualLayout>
                  <c:x val="0.21988863277207626"/>
                  <c:y val="2.9016035011633387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DA4-452A-9E3D-5AF38C08D8E8}"/>
                </c:ext>
              </c:extLst>
            </c:dLbl>
            <c:dLbl>
              <c:idx val="4"/>
              <c:layout>
                <c:manualLayout>
                  <c:x val="0.11529622898088344"/>
                  <c:y val="5.7097083922194774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9DA4-452A-9E3D-5AF38C08D8E8}"/>
                </c:ext>
              </c:extLst>
            </c:dLbl>
            <c:dLbl>
              <c:idx val="5"/>
              <c:layout>
                <c:manualLayout>
                  <c:x val="0.1031484778068763"/>
                  <c:y val="1.7980501944738863E-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DA4-452A-9E3D-5AF38C08D8E8}"/>
                </c:ext>
              </c:extLst>
            </c:dLbl>
            <c:dLbl>
              <c:idx val="6"/>
              <c:layout>
                <c:manualLayout>
                  <c:x val="0.11692391462717569"/>
                  <c:y val="8.9902509718461303E-7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1" i="0" u="none" strike="noStrike" kern="1200" baseline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FF721D12-F94E-490D-A565-434BEF8A145C}" type="VALUE">
                      <a:rPr lang="en-US" smtClean="0"/>
                      <a:pPr>
                        <a:defRPr b="1">
                          <a:solidFill>
                            <a:srgbClr val="002060"/>
                          </a:solidFill>
                        </a:defRPr>
                      </a:pPr>
                      <a:t>[VALUE]</a:t>
                    </a:fld>
                    <a:r>
                      <a:rPr lang="en-US" dirty="0" smtClean="0"/>
                      <a:t> ↑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9DA4-452A-9E3D-5AF38C08D8E8}"/>
                </c:ext>
              </c:extLst>
            </c:dLbl>
            <c:dLbl>
              <c:idx val="7"/>
              <c:layout>
                <c:manualLayout>
                  <c:x val="8.5821365995076088E-2"/>
                  <c:y val="4.4951254859230651E-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9DA4-452A-9E3D-5AF38C08D8E8}"/>
                </c:ext>
              </c:extLst>
            </c:dLbl>
            <c:dLbl>
              <c:idx val="8"/>
              <c:layout>
                <c:manualLayout>
                  <c:x val="7.515233138941918E-2"/>
                  <c:y val="3.551149133879326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9DA4-452A-9E3D-5AF38C08D8E8}"/>
                </c:ext>
              </c:extLst>
            </c:dLbl>
            <c:dLbl>
              <c:idx val="9"/>
              <c:layout>
                <c:manualLayout>
                  <c:x val="6.8583215341106493E-2"/>
                  <c:y val="-1.0783806040729432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9DA4-452A-9E3D-5AF38C08D8E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'2024 March'!$C$22:$C$31</c:f>
              <c:strCache>
                <c:ptCount val="10"/>
                <c:pt idx="0">
                  <c:v>PHIL SAVINGS BANK</c:v>
                </c:pt>
                <c:pt idx="1">
                  <c:v>CHINA BANK SAVINGS</c:v>
                </c:pt>
                <c:pt idx="2">
                  <c:v>CITY SAVINGS BANK</c:v>
                </c:pt>
                <c:pt idx="3">
                  <c:v>PHIL BUSINESS BANK</c:v>
                </c:pt>
                <c:pt idx="4">
                  <c:v>BANK OF MAKATI</c:v>
                </c:pt>
                <c:pt idx="5">
                  <c:v>BPI DIRECT BANKO</c:v>
                </c:pt>
                <c:pt idx="6">
                  <c:v>STERLING BANK OF ASIA</c:v>
                </c:pt>
                <c:pt idx="7">
                  <c:v>PRODUCERS SAVINGS BANK</c:v>
                </c:pt>
                <c:pt idx="8">
                  <c:v>FIRST CONSOLIDATED BANK</c:v>
                </c:pt>
                <c:pt idx="9">
                  <c:v>UCPB SAVINGS BANK</c:v>
                </c:pt>
              </c:strCache>
            </c:strRef>
          </c:cat>
          <c:val>
            <c:numRef>
              <c:f>'2024 March'!$D$22:$D$31</c:f>
              <c:numCache>
                <c:formatCode>#,##0</c:formatCode>
                <c:ptCount val="10"/>
                <c:pt idx="0">
                  <c:v>232077.99</c:v>
                </c:pt>
                <c:pt idx="1">
                  <c:v>164134.01</c:v>
                </c:pt>
                <c:pt idx="2">
                  <c:v>160790.35999999999</c:v>
                </c:pt>
                <c:pt idx="3">
                  <c:v>148143.24</c:v>
                </c:pt>
                <c:pt idx="4">
                  <c:v>54454.69</c:v>
                </c:pt>
                <c:pt idx="5">
                  <c:v>50436.98</c:v>
                </c:pt>
                <c:pt idx="6">
                  <c:v>47484.08</c:v>
                </c:pt>
                <c:pt idx="7">
                  <c:v>34070.660000000003</c:v>
                </c:pt>
                <c:pt idx="8">
                  <c:v>26363.599999999999</c:v>
                </c:pt>
                <c:pt idx="9">
                  <c:v>16714.97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9DA4-452A-9E3D-5AF38C08D8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486738344"/>
        <c:axId val="486737168"/>
      </c:barChart>
      <c:catAx>
        <c:axId val="48673834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6737168"/>
        <c:crosses val="autoZero"/>
        <c:auto val="1"/>
        <c:lblAlgn val="ctr"/>
        <c:lblOffset val="100"/>
        <c:noMultiLvlLbl val="0"/>
      </c:catAx>
      <c:valAx>
        <c:axId val="486737168"/>
        <c:scaling>
          <c:orientation val="minMax"/>
        </c:scaling>
        <c:delete val="1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crossAx val="4867383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accent2">
        <a:lumMod val="20000"/>
        <a:lumOff val="80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31106563593407355"/>
          <c:y val="6.4720601118642543E-2"/>
          <c:w val="0.65628478658230904"/>
          <c:h val="0.86074878538843247"/>
        </c:manualLayout>
      </c:layout>
      <c:bar3DChart>
        <c:barDir val="bar"/>
        <c:grouping val="clustered"/>
        <c:varyColors val="0"/>
        <c:ser>
          <c:idx val="0"/>
          <c:order val="0"/>
          <c:tx>
            <c:v>2024</c:v>
          </c:tx>
          <c:spPr>
            <a:solidFill>
              <a:srgbClr val="0070C0"/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-1.3732921781942532E-2"/>
                  <c:y val="1.259804800443268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E5D-4DD1-BD29-1FA616CD8534}"/>
                </c:ext>
              </c:extLst>
            </c:dLbl>
            <c:dLbl>
              <c:idx val="1"/>
              <c:layout>
                <c:manualLayout>
                  <c:x val="-1.0765012086420183E-2"/>
                  <c:y val="3.564960813228019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BE5D-4DD1-BD29-1FA616CD8534}"/>
                </c:ext>
              </c:extLst>
            </c:dLbl>
            <c:dLbl>
              <c:idx val="2"/>
              <c:layout>
                <c:manualLayout>
                  <c:x val="-1.2625593950035739E-2"/>
                  <c:y val="3.565887378741583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E5D-4DD1-BD29-1FA616CD8534}"/>
                </c:ext>
              </c:extLst>
            </c:dLbl>
            <c:dLbl>
              <c:idx val="3"/>
              <c:layout>
                <c:manualLayout>
                  <c:x val="-1.1872573630406315E-2"/>
                  <c:y val="4.632827567547784E-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8BB-443A-8A6F-5E289E109FF7}"/>
                </c:ext>
              </c:extLst>
            </c:dLbl>
            <c:dLbl>
              <c:idx val="4"/>
              <c:layout>
                <c:manualLayout>
                  <c:x val="-1.1872573630406315E-2"/>
                  <c:y val="1.3898482702643353E-6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8BB-443A-8A6F-5E289E109FF7}"/>
                </c:ext>
              </c:extLst>
            </c:dLbl>
            <c:dLbl>
              <c:idx val="5"/>
              <c:layout>
                <c:manualLayout>
                  <c:x val="-8.9044302228047361E-3"/>
                  <c:y val="6.2992556435947219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600" b="1" i="0" u="none" strike="noStrike" kern="1200" baseline="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BE5D-4DD1-BD29-1FA616CD8534}"/>
                </c:ext>
              </c:extLst>
            </c:dLbl>
            <c:dLbl>
              <c:idx val="6"/>
              <c:layout>
                <c:manualLayout>
                  <c:x val="-1.3733155494021817E-2"/>
                  <c:y val="3.150322745932493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BE5D-4DD1-BD29-1FA616CD8534}"/>
                </c:ext>
              </c:extLst>
            </c:dLbl>
            <c:dLbl>
              <c:idx val="7"/>
              <c:layout>
                <c:manualLayout>
                  <c:x val="-1.1872573630406315E-2"/>
                  <c:y val="1.21861896336776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BE5D-4DD1-BD29-1FA616CD8534}"/>
                </c:ext>
              </c:extLst>
            </c:dLbl>
            <c:dLbl>
              <c:idx val="8"/>
              <c:layout>
                <c:manualLayout>
                  <c:x val="-8.9044302228047361E-3"/>
                  <c:y val="5.884617576299195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8BB-443A-8A6F-5E289E109FF7}"/>
                </c:ext>
              </c:extLst>
            </c:dLbl>
            <c:dLbl>
              <c:idx val="9"/>
              <c:layout>
                <c:manualLayout>
                  <c:x val="-8.9044302228047361E-3"/>
                  <c:y val="9.265655135095568E-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F8BB-443A-8A6F-5E289E109FF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'2023 v 2024'!$C$8:$C$17</c:f>
              <c:strCache>
                <c:ptCount val="10"/>
                <c:pt idx="0">
                  <c:v>PHIL SAVINGS BANK</c:v>
                </c:pt>
                <c:pt idx="1">
                  <c:v>CHINA BANK SAVINGS</c:v>
                </c:pt>
                <c:pt idx="2">
                  <c:v>PHIL BUSINESS BANK</c:v>
                </c:pt>
                <c:pt idx="3">
                  <c:v>CITY SAVINGS BANK</c:v>
                </c:pt>
                <c:pt idx="4">
                  <c:v>BPI DIRECT BANKO</c:v>
                </c:pt>
                <c:pt idx="5">
                  <c:v>STERLING BANK OF ASIA</c:v>
                </c:pt>
                <c:pt idx="6">
                  <c:v>BANK OF MAKATI</c:v>
                </c:pt>
                <c:pt idx="7">
                  <c:v>PRODUCERS SAVINGS BANK</c:v>
                </c:pt>
                <c:pt idx="8">
                  <c:v>FIRST CONSOLIDATED BANK</c:v>
                </c:pt>
                <c:pt idx="9">
                  <c:v>UCPB SAVINGS BANK</c:v>
                </c:pt>
              </c:strCache>
            </c:strRef>
          </c:cat>
          <c:val>
            <c:numRef>
              <c:f>'2023 v 2024'!$D$8:$D$17</c:f>
              <c:numCache>
                <c:formatCode>#,##0</c:formatCode>
                <c:ptCount val="10"/>
                <c:pt idx="0">
                  <c:v>185084.74</c:v>
                </c:pt>
                <c:pt idx="1">
                  <c:v>142464.72</c:v>
                </c:pt>
                <c:pt idx="2">
                  <c:v>119116.05</c:v>
                </c:pt>
                <c:pt idx="3">
                  <c:v>104628.3</c:v>
                </c:pt>
                <c:pt idx="4">
                  <c:v>40818.5</c:v>
                </c:pt>
                <c:pt idx="5">
                  <c:v>40050.080000000002</c:v>
                </c:pt>
                <c:pt idx="6">
                  <c:v>34494.78</c:v>
                </c:pt>
                <c:pt idx="7">
                  <c:v>21474.28</c:v>
                </c:pt>
                <c:pt idx="8">
                  <c:v>17859.150000000001</c:v>
                </c:pt>
                <c:pt idx="9">
                  <c:v>13905.66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E5D-4DD1-BD29-1FA616CD8534}"/>
            </c:ext>
          </c:extLst>
        </c:ser>
        <c:ser>
          <c:idx val="1"/>
          <c:order val="1"/>
          <c:tx>
            <c:v>2023</c:v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-1.1872573630406315E-2"/>
                  <c:y val="9.265655135095568E-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F8BB-443A-8A6F-5E289E109FF7}"/>
                </c:ext>
              </c:extLst>
            </c:dLbl>
            <c:dLbl>
              <c:idx val="1"/>
              <c:layout>
                <c:manualLayout>
                  <c:x val="-1.0765012086420183E-2"/>
                  <c:y val="-3.14707976663518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BE5D-4DD1-BD29-1FA616CD8534}"/>
                </c:ext>
              </c:extLst>
            </c:dLbl>
            <c:dLbl>
              <c:idx val="2"/>
              <c:layout>
                <c:manualLayout>
                  <c:x val="-1.2625593950035629E-2"/>
                  <c:y val="-1.218016695783982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BE5D-4DD1-BD29-1FA616CD8534}"/>
                </c:ext>
              </c:extLst>
            </c:dLbl>
            <c:dLbl>
              <c:idx val="3"/>
              <c:layout>
                <c:manualLayout>
                  <c:x val="-7.0438483591892904E-3"/>
                  <c:y val="-6.294159533270365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BE5D-4DD1-BD29-1FA616CD8534}"/>
                </c:ext>
              </c:extLst>
            </c:dLbl>
            <c:dLbl>
              <c:idx val="4"/>
              <c:layout>
                <c:manualLayout>
                  <c:x val="-1.5593737357637263E-2"/>
                  <c:y val="-6.297865795324404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BE5D-4DD1-BD29-1FA616CD8534}"/>
                </c:ext>
              </c:extLst>
            </c:dLbl>
            <c:dLbl>
              <c:idx val="5"/>
              <c:layout>
                <c:manualLayout>
                  <c:x val="-1.3733155494021761E-2"/>
                  <c:y val="-3.1484696149054743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600" b="1" i="0" u="none" strike="noStrike" kern="1200" baseline="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BE5D-4DD1-BD29-1FA616CD8534}"/>
                </c:ext>
              </c:extLst>
            </c:dLbl>
            <c:dLbl>
              <c:idx val="6"/>
              <c:layout>
                <c:manualLayout>
                  <c:x val="-1.1517798693970158E-2"/>
                  <c:y val="-6.296939229810948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BE5D-4DD1-BD29-1FA616CD8534}"/>
                </c:ext>
              </c:extLst>
            </c:dLbl>
            <c:dLbl>
              <c:idx val="7"/>
              <c:layout>
                <c:manualLayout>
                  <c:x val="-1.1517798693970158E-2"/>
                  <c:y val="2.738464375177495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BE5D-4DD1-BD29-1FA616CD8534}"/>
                </c:ext>
              </c:extLst>
            </c:dLbl>
            <c:dLbl>
              <c:idx val="8"/>
              <c:layout>
                <c:manualLayout>
                  <c:x val="-1.5593737357637208E-2"/>
                  <c:y val="-3.148006332148719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E5D-4DD1-BD29-1FA616CD8534}"/>
                </c:ext>
              </c:extLst>
            </c:dLbl>
            <c:dLbl>
              <c:idx val="9"/>
              <c:layout>
                <c:manualLayout>
                  <c:x val="-1.3378380557585605E-2"/>
                  <c:y val="-9.032160625691051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BE5D-4DD1-BD29-1FA616CD853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'2023 v 2024'!$C$8:$C$17</c:f>
              <c:strCache>
                <c:ptCount val="10"/>
                <c:pt idx="0">
                  <c:v>PHIL SAVINGS BANK</c:v>
                </c:pt>
                <c:pt idx="1">
                  <c:v>CHINA BANK SAVINGS</c:v>
                </c:pt>
                <c:pt idx="2">
                  <c:v>PHIL BUSINESS BANK</c:v>
                </c:pt>
                <c:pt idx="3">
                  <c:v>CITY SAVINGS BANK</c:v>
                </c:pt>
                <c:pt idx="4">
                  <c:v>BPI DIRECT BANKO</c:v>
                </c:pt>
                <c:pt idx="5">
                  <c:v>STERLING BANK OF ASIA</c:v>
                </c:pt>
                <c:pt idx="6">
                  <c:v>BANK OF MAKATI</c:v>
                </c:pt>
                <c:pt idx="7">
                  <c:v>PRODUCERS SAVINGS BANK</c:v>
                </c:pt>
                <c:pt idx="8">
                  <c:v>FIRST CONSOLIDATED BANK</c:v>
                </c:pt>
                <c:pt idx="9">
                  <c:v>UCPB SAVINGS BANK</c:v>
                </c:pt>
              </c:strCache>
            </c:strRef>
          </c:cat>
          <c:val>
            <c:numRef>
              <c:f>'2023 v 2024'!$H$8:$H$17</c:f>
              <c:numCache>
                <c:formatCode>#,##0</c:formatCode>
                <c:ptCount val="10"/>
                <c:pt idx="0">
                  <c:v>209818.9</c:v>
                </c:pt>
                <c:pt idx="1">
                  <c:v>114805.18</c:v>
                </c:pt>
                <c:pt idx="2">
                  <c:v>110982.42</c:v>
                </c:pt>
                <c:pt idx="3">
                  <c:v>78076.600000000006</c:v>
                </c:pt>
                <c:pt idx="4">
                  <c:v>19861.7</c:v>
                </c:pt>
                <c:pt idx="5">
                  <c:v>33238.730000000003</c:v>
                </c:pt>
                <c:pt idx="6">
                  <c:v>31062.69</c:v>
                </c:pt>
                <c:pt idx="7">
                  <c:v>19907.32</c:v>
                </c:pt>
                <c:pt idx="8">
                  <c:v>16335.64</c:v>
                </c:pt>
                <c:pt idx="9">
                  <c:v>13165.18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E5D-4DD1-BD29-1FA616CD853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82"/>
        <c:gapDepth val="53"/>
        <c:shape val="box"/>
        <c:axId val="239400847"/>
        <c:axId val="239394607"/>
        <c:axId val="0"/>
      </c:bar3DChart>
      <c:catAx>
        <c:axId val="239400847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39394607"/>
        <c:crosses val="autoZero"/>
        <c:auto val="1"/>
        <c:lblAlgn val="ctr"/>
        <c:lblOffset val="100"/>
        <c:noMultiLvlLbl val="0"/>
      </c:catAx>
      <c:valAx>
        <c:axId val="239394607"/>
        <c:scaling>
          <c:orientation val="minMax"/>
        </c:scaling>
        <c:delete val="1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crossAx val="23940084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41092473092144027"/>
          <c:y val="0.90781831347471797"/>
          <c:w val="0.17815030444504015"/>
          <c:h val="9.218168652528203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DAEDEF"/>
    </a:solidFill>
    <a:ln w="9525" cap="rnd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sz="900"/>
      </a:pPr>
      <a:endParaRPr lang="en-US"/>
    </a:p>
  </c:txPr>
  <c:externalData r:id="rId1">
    <c:autoUpdate val="0"/>
  </c:externalData>
  <c:userShapes r:id="rId2"/>
</c:chartSpace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31106563593407355"/>
          <c:y val="6.4724529252985344E-2"/>
          <c:w val="0.65628478658230904"/>
          <c:h val="0.83720414125792619"/>
        </c:manualLayout>
      </c:layout>
      <c:bar3DChart>
        <c:barDir val="bar"/>
        <c:grouping val="clustered"/>
        <c:varyColors val="0"/>
        <c:ser>
          <c:idx val="0"/>
          <c:order val="0"/>
          <c:tx>
            <c:v>2024</c:v>
          </c:tx>
          <c:spPr>
            <a:solidFill>
              <a:srgbClr val="0070C0"/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-1.1872573630406424E-2"/>
                  <c:y val="1.177180271481640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242-461D-A837-C29490CC6F9C}"/>
                </c:ext>
              </c:extLst>
            </c:dLbl>
            <c:dLbl>
              <c:idx val="1"/>
              <c:layout>
                <c:manualLayout>
                  <c:x val="-1.4840717038007894E-2"/>
                  <c:y val="5.885438046533091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242-461D-A837-C29490CC6F9C}"/>
                </c:ext>
              </c:extLst>
            </c:dLbl>
            <c:dLbl>
              <c:idx val="2"/>
              <c:layout>
                <c:manualLayout>
                  <c:x val="-1.1872573630406424E-2"/>
                  <c:y val="5.885438046533091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242-461D-A837-C29490CC6F9C}"/>
                </c:ext>
              </c:extLst>
            </c:dLbl>
            <c:dLbl>
              <c:idx val="3"/>
              <c:layout>
                <c:manualLayout>
                  <c:x val="-1.4840717038007894E-2"/>
                  <c:y val="5.884511424782869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F242-461D-A837-C29490CC6F9C}"/>
                </c:ext>
              </c:extLst>
            </c:dLbl>
            <c:dLbl>
              <c:idx val="4"/>
              <c:layout>
                <c:manualLayout>
                  <c:x val="-1.1872573630406315E-2"/>
                  <c:y val="1.176902284956573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F242-461D-A837-C29490CC6F9C}"/>
                </c:ext>
              </c:extLst>
            </c:dLbl>
            <c:dLbl>
              <c:idx val="5"/>
              <c:layout>
                <c:manualLayout>
                  <c:x val="-8.9044302228047916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F242-461D-A837-C29490CC6F9C}"/>
                </c:ext>
              </c:extLst>
            </c:dLbl>
            <c:dLbl>
              <c:idx val="6"/>
              <c:layout>
                <c:manualLayout>
                  <c:x val="-1.1872573630406315E-2"/>
                  <c:y val="5.8840481139077585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600" b="1" i="0" u="none" strike="noStrike" kern="1200" baseline="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F242-461D-A837-C29490CC6F9C}"/>
                </c:ext>
              </c:extLst>
            </c:dLbl>
            <c:dLbl>
              <c:idx val="7"/>
              <c:layout>
                <c:manualLayout>
                  <c:x val="-1.1872573630406315E-2"/>
                  <c:y val="5.884974735657980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F242-461D-A837-C29490CC6F9C}"/>
                </c:ext>
              </c:extLst>
            </c:dLbl>
            <c:dLbl>
              <c:idx val="8"/>
              <c:layout>
                <c:manualLayout>
                  <c:x val="-1.1872573630406315E-2"/>
                  <c:y val="5.885901357408201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F242-461D-A837-C29490CC6F9C}"/>
                </c:ext>
              </c:extLst>
            </c:dLbl>
            <c:dLbl>
              <c:idx val="9"/>
              <c:layout>
                <c:manualLayout>
                  <c:x val="-1.1872573630406315E-2"/>
                  <c:y val="5.88404811390786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F242-461D-A837-C29490CC6F9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'2023 v 2024'!$C$23:$C$32</c:f>
              <c:strCache>
                <c:ptCount val="10"/>
                <c:pt idx="0">
                  <c:v>PHIL SAVINGS BANK</c:v>
                </c:pt>
                <c:pt idx="1">
                  <c:v>CHINA BANK SAVINGS</c:v>
                </c:pt>
                <c:pt idx="2">
                  <c:v>CITY SAVINGS BANK</c:v>
                </c:pt>
                <c:pt idx="3">
                  <c:v>PHIL BUSINESS BANK</c:v>
                </c:pt>
                <c:pt idx="4">
                  <c:v>BANK OF MAKATI</c:v>
                </c:pt>
                <c:pt idx="5">
                  <c:v>BPI DIRECT BANKO</c:v>
                </c:pt>
                <c:pt idx="6">
                  <c:v>STERLING BANK OF ASIA</c:v>
                </c:pt>
                <c:pt idx="7">
                  <c:v>PRODUCERS SAVINGS BANK</c:v>
                </c:pt>
                <c:pt idx="8">
                  <c:v>FIRST CONSOLIDATED BANK</c:v>
                </c:pt>
                <c:pt idx="9">
                  <c:v>UCPB SAVINGS BANK</c:v>
                </c:pt>
              </c:strCache>
            </c:strRef>
          </c:cat>
          <c:val>
            <c:numRef>
              <c:f>'2023 v 2024'!$D$23:$D$32</c:f>
              <c:numCache>
                <c:formatCode>#,##0</c:formatCode>
                <c:ptCount val="10"/>
                <c:pt idx="0">
                  <c:v>232077.99</c:v>
                </c:pt>
                <c:pt idx="1">
                  <c:v>164134.01</c:v>
                </c:pt>
                <c:pt idx="2">
                  <c:v>160790.35999999999</c:v>
                </c:pt>
                <c:pt idx="3">
                  <c:v>148143.24</c:v>
                </c:pt>
                <c:pt idx="4">
                  <c:v>54454.69</c:v>
                </c:pt>
                <c:pt idx="5">
                  <c:v>50436.98</c:v>
                </c:pt>
                <c:pt idx="6">
                  <c:v>47484.08</c:v>
                </c:pt>
                <c:pt idx="7">
                  <c:v>34070.660000000003</c:v>
                </c:pt>
                <c:pt idx="8">
                  <c:v>26363.599999999999</c:v>
                </c:pt>
                <c:pt idx="9">
                  <c:v>16714.97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242-461D-A837-C29490CC6F9C}"/>
            </c:ext>
          </c:extLst>
        </c:ser>
        <c:ser>
          <c:idx val="1"/>
          <c:order val="1"/>
          <c:tx>
            <c:v>2023</c:v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-1.1872573630406207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242-461D-A837-C29490CC6F9C}"/>
                </c:ext>
              </c:extLst>
            </c:dLbl>
            <c:dLbl>
              <c:idx val="1"/>
              <c:layout>
                <c:manualLayout>
                  <c:x val="-8.9044302228047361E-3"/>
                  <c:y val="-5.883584803032620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F242-461D-A837-C29490CC6F9C}"/>
                </c:ext>
              </c:extLst>
            </c:dLbl>
            <c:dLbl>
              <c:idx val="2"/>
              <c:layout>
                <c:manualLayout>
                  <c:x val="-1.4840717038008003E-2"/>
                  <c:y val="-5.88312149215748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F242-461D-A837-C29490CC6F9C}"/>
                </c:ext>
              </c:extLst>
            </c:dLbl>
            <c:dLbl>
              <c:idx val="3"/>
              <c:layout>
                <c:manualLayout>
                  <c:x val="-1.4840717038007894E-2"/>
                  <c:y val="-5.881731559532204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F242-461D-A837-C29490CC6F9C}"/>
                </c:ext>
              </c:extLst>
            </c:dLbl>
            <c:dLbl>
              <c:idx val="4"/>
              <c:layout>
                <c:manualLayout>
                  <c:x val="-1.1872573630406261E-2"/>
                  <c:y val="-5.883584803032701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F242-461D-A837-C29490CC6F9C}"/>
                </c:ext>
              </c:extLst>
            </c:dLbl>
            <c:dLbl>
              <c:idx val="5"/>
              <c:layout>
                <c:manualLayout>
                  <c:x val="-8.9044302228047916E-3"/>
                  <c:y val="-1.176624298431507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F242-461D-A837-C29490CC6F9C}"/>
                </c:ext>
              </c:extLst>
            </c:dLbl>
            <c:dLbl>
              <c:idx val="6"/>
              <c:layout>
                <c:manualLayout>
                  <c:x val="-1.1872573630406315E-2"/>
                  <c:y val="-5.8821948704072076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600" b="1" i="0" u="none" strike="noStrike" kern="1200" baseline="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F242-461D-A837-C29490CC6F9C}"/>
                </c:ext>
              </c:extLst>
            </c:dLbl>
            <c:dLbl>
              <c:idx val="7"/>
              <c:layout>
                <c:manualLayout>
                  <c:x val="-1.187257363040637E-2"/>
                  <c:y val="-1.176716960606529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F242-461D-A837-C29490CC6F9C}"/>
                </c:ext>
              </c:extLst>
            </c:dLbl>
            <c:dLbl>
              <c:idx val="8"/>
              <c:layout>
                <c:manualLayout>
                  <c:x val="-1.4840717038007949E-2"/>
                  <c:y val="-5.88265818128231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F242-461D-A837-C29490CC6F9C}"/>
                </c:ext>
              </c:extLst>
            </c:dLbl>
            <c:dLbl>
              <c:idx val="9"/>
              <c:layout>
                <c:manualLayout>
                  <c:x val="-1.1872573630406315E-2"/>
                  <c:y val="-1.176670629519018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F242-461D-A837-C29490CC6F9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'2023 v 2024'!$C$23:$C$32</c:f>
              <c:strCache>
                <c:ptCount val="10"/>
                <c:pt idx="0">
                  <c:v>PHIL SAVINGS BANK</c:v>
                </c:pt>
                <c:pt idx="1">
                  <c:v>CHINA BANK SAVINGS</c:v>
                </c:pt>
                <c:pt idx="2">
                  <c:v>CITY SAVINGS BANK</c:v>
                </c:pt>
                <c:pt idx="3">
                  <c:v>PHIL BUSINESS BANK</c:v>
                </c:pt>
                <c:pt idx="4">
                  <c:v>BANK OF MAKATI</c:v>
                </c:pt>
                <c:pt idx="5">
                  <c:v>BPI DIRECT BANKO</c:v>
                </c:pt>
                <c:pt idx="6">
                  <c:v>STERLING BANK OF ASIA</c:v>
                </c:pt>
                <c:pt idx="7">
                  <c:v>PRODUCERS SAVINGS BANK</c:v>
                </c:pt>
                <c:pt idx="8">
                  <c:v>FIRST CONSOLIDATED BANK</c:v>
                </c:pt>
                <c:pt idx="9">
                  <c:v>UCPB SAVINGS BANK</c:v>
                </c:pt>
              </c:strCache>
            </c:strRef>
          </c:cat>
          <c:val>
            <c:numRef>
              <c:f>'2023 v 2024'!$H$23:$H$32</c:f>
              <c:numCache>
                <c:formatCode>#,##0</c:formatCode>
                <c:ptCount val="10"/>
                <c:pt idx="0">
                  <c:v>254286.35</c:v>
                </c:pt>
                <c:pt idx="1">
                  <c:v>132676.87</c:v>
                </c:pt>
                <c:pt idx="2">
                  <c:v>131915.74</c:v>
                </c:pt>
                <c:pt idx="3">
                  <c:v>135626.98000000001</c:v>
                </c:pt>
                <c:pt idx="4">
                  <c:v>49745.45</c:v>
                </c:pt>
                <c:pt idx="5">
                  <c:v>27260.92</c:v>
                </c:pt>
                <c:pt idx="6">
                  <c:v>40183.599999999999</c:v>
                </c:pt>
                <c:pt idx="7">
                  <c:v>31008.55</c:v>
                </c:pt>
                <c:pt idx="8">
                  <c:v>24846.39</c:v>
                </c:pt>
                <c:pt idx="9">
                  <c:v>15919.09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242-461D-A837-C29490CC6F9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82"/>
        <c:gapDepth val="53"/>
        <c:shape val="box"/>
        <c:axId val="27947615"/>
        <c:axId val="27949279"/>
        <c:axId val="0"/>
      </c:bar3DChart>
      <c:catAx>
        <c:axId val="27947615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7949279"/>
        <c:crosses val="autoZero"/>
        <c:auto val="1"/>
        <c:lblAlgn val="ctr"/>
        <c:lblOffset val="100"/>
        <c:noMultiLvlLbl val="0"/>
      </c:catAx>
      <c:valAx>
        <c:axId val="27949279"/>
        <c:scaling>
          <c:orientation val="minMax"/>
        </c:scaling>
        <c:delete val="1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crossAx val="279476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41092473092144027"/>
          <c:y val="0.90781271862481927"/>
          <c:w val="0.17815030444504015"/>
          <c:h val="9.218728137518081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accent2">
        <a:lumMod val="20000"/>
        <a:lumOff val="80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31106563593407355"/>
          <c:y val="6.4720601118642543E-2"/>
          <c:w val="0.65628478658230904"/>
          <c:h val="0.86074878538843247"/>
        </c:manualLayout>
      </c:layout>
      <c:bar3DChart>
        <c:barDir val="bar"/>
        <c:grouping val="clustered"/>
        <c:varyColors val="0"/>
        <c:ser>
          <c:idx val="0"/>
          <c:order val="0"/>
          <c:tx>
            <c:v>2024</c:v>
          </c:tx>
          <c:spPr>
            <a:solidFill>
              <a:srgbClr val="0070C0"/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-9.9823103327148534E-3"/>
                  <c:y val="1.358669340734738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7424-497E-95B6-D679EDE92764}"/>
                </c:ext>
              </c:extLst>
            </c:dLbl>
            <c:dLbl>
              <c:idx val="1"/>
              <c:layout>
                <c:manualLayout>
                  <c:x val="-8.9044302228048454E-3"/>
                  <c:y val="5.885544141812705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7424-497E-95B6-D679EDE92764}"/>
                </c:ext>
              </c:extLst>
            </c:dLbl>
            <c:dLbl>
              <c:idx val="2"/>
              <c:layout>
                <c:manualLayout>
                  <c:x val="-8.9044302228047361E-3"/>
                  <c:y val="1.17683085870849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7424-497E-95B6-D679EDE92764}"/>
                </c:ext>
              </c:extLst>
            </c:dLbl>
            <c:dLbl>
              <c:idx val="3"/>
              <c:layout>
                <c:manualLayout>
                  <c:x val="-8.9044302228047361E-3"/>
                  <c:y val="5.884154293542440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7424-497E-95B6-D679EDE92764}"/>
                </c:ext>
              </c:extLst>
            </c:dLbl>
            <c:dLbl>
              <c:idx val="4"/>
              <c:layout>
                <c:manualLayout>
                  <c:x val="-1.187257363040637E-2"/>
                  <c:y val="5.8841542935424403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600" b="1" i="0" u="none" strike="noStrike" kern="1200" baseline="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7424-497E-95B6-D679EDE92764}"/>
                </c:ext>
              </c:extLst>
            </c:dLbl>
            <c:dLbl>
              <c:idx val="5"/>
              <c:layout>
                <c:manualLayout>
                  <c:x val="-1.1872573630406261E-2"/>
                  <c:y val="1.176784530432812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7424-497E-95B6-D679EDE92764}"/>
                </c:ext>
              </c:extLst>
            </c:dLbl>
            <c:dLbl>
              <c:idx val="6"/>
              <c:layout>
                <c:manualLayout>
                  <c:x val="-8.9044302228047361E-3"/>
                  <c:y val="4.6328275686264482E-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7424-497E-95B6-D679EDE92764}"/>
                </c:ext>
              </c:extLst>
            </c:dLbl>
            <c:dLbl>
              <c:idx val="7"/>
              <c:layout>
                <c:manualLayout>
                  <c:x val="-8.9044302228046823E-3"/>
                  <c:y val="5.883691010785794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7424-497E-95B6-D679EDE92764}"/>
                </c:ext>
              </c:extLst>
            </c:dLbl>
            <c:dLbl>
              <c:idx val="8"/>
              <c:layout>
                <c:manualLayout>
                  <c:x val="-1.3083202201380763E-2"/>
                  <c:y val="1.1664533249571918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6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7.3298418306760663E-2"/>
                      <c:h val="5.486565031695489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7424-497E-95B6-D679EDE92764}"/>
                </c:ext>
              </c:extLst>
            </c:dLbl>
            <c:dLbl>
              <c:idx val="9"/>
              <c:layout>
                <c:manualLayout>
                  <c:x val="-1.1048972262816767E-2"/>
                  <c:y val="5.884154293542440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7424-497E-95B6-D679EDE9276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'2023 v 2024'!$C$40:$C$50</c:f>
              <c:strCache>
                <c:ptCount val="10"/>
                <c:pt idx="0">
                  <c:v>PHIL SAVINGS BANK</c:v>
                </c:pt>
                <c:pt idx="1">
                  <c:v>CHINA BANK SAVINGS</c:v>
                </c:pt>
                <c:pt idx="2">
                  <c:v>PHIL BUSINESS BANK</c:v>
                </c:pt>
                <c:pt idx="3">
                  <c:v>CITY SAVINGS BANK</c:v>
                </c:pt>
                <c:pt idx="4">
                  <c:v>STERLING BANK OF ASIA</c:v>
                </c:pt>
                <c:pt idx="5">
                  <c:v>BANK OF MAKATI</c:v>
                </c:pt>
                <c:pt idx="6">
                  <c:v>BPI DIRECT BANKO</c:v>
                </c:pt>
                <c:pt idx="7">
                  <c:v>PRODUCERS SAVINGS BANK</c:v>
                </c:pt>
                <c:pt idx="8">
                  <c:v>FIRST CONSOLIDATED BANK</c:v>
                </c:pt>
                <c:pt idx="9">
                  <c:v>1st VALLEY BANK</c:v>
                </c:pt>
              </c:strCache>
            </c:strRef>
          </c:cat>
          <c:val>
            <c:numRef>
              <c:f>'2023 v 2024'!$D$40:$D$50</c:f>
              <c:numCache>
                <c:formatCode>#,##0</c:formatCode>
                <c:ptCount val="11"/>
                <c:pt idx="0">
                  <c:v>124391.45</c:v>
                </c:pt>
                <c:pt idx="1">
                  <c:v>116349.5</c:v>
                </c:pt>
                <c:pt idx="2">
                  <c:v>111261.48</c:v>
                </c:pt>
                <c:pt idx="3">
                  <c:v>96681.99</c:v>
                </c:pt>
                <c:pt idx="4">
                  <c:v>35906.69</c:v>
                </c:pt>
                <c:pt idx="5">
                  <c:v>31700.03</c:v>
                </c:pt>
                <c:pt idx="6">
                  <c:v>30041.18</c:v>
                </c:pt>
                <c:pt idx="7">
                  <c:v>24702.14</c:v>
                </c:pt>
                <c:pt idx="8">
                  <c:v>19442.52</c:v>
                </c:pt>
                <c:pt idx="9">
                  <c:v>11193.58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424-497E-95B6-D679EDE92764}"/>
            </c:ext>
          </c:extLst>
        </c:ser>
        <c:ser>
          <c:idx val="1"/>
          <c:order val="1"/>
          <c:tx>
            <c:v>2023</c:v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-1.2950453740316432E-2"/>
                  <c:y val="-3.849416425875453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7424-497E-95B6-D679EDE92764}"/>
                </c:ext>
              </c:extLst>
            </c:dLbl>
            <c:dLbl>
              <c:idx val="1"/>
              <c:layout>
                <c:manualLayout>
                  <c:x val="-8.9044302228048454E-3"/>
                  <c:y val="-5.88322772802893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7424-497E-95B6-D679EDE92764}"/>
                </c:ext>
              </c:extLst>
            </c:dLbl>
            <c:dLbl>
              <c:idx val="2"/>
              <c:layout>
                <c:manualLayout>
                  <c:x val="-1.1872573630406315E-2"/>
                  <c:y val="-5.882764445272122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7424-497E-95B6-D679EDE92764}"/>
                </c:ext>
              </c:extLst>
            </c:dLbl>
            <c:dLbl>
              <c:idx val="3"/>
              <c:layout>
                <c:manualLayout>
                  <c:x val="-8.9044302228047361E-3"/>
                  <c:y val="-5.88322772802893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7424-497E-95B6-D679EDE92764}"/>
                </c:ext>
              </c:extLst>
            </c:dLbl>
            <c:dLbl>
              <c:idx val="4"/>
              <c:layout>
                <c:manualLayout>
                  <c:x val="-1.187257363040637E-2"/>
                  <c:y val="-5.8818378797586132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600" b="1" i="0" u="none" strike="noStrike" kern="1200" baseline="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7424-497E-95B6-D679EDE92764}"/>
                </c:ext>
              </c:extLst>
            </c:dLbl>
            <c:dLbl>
              <c:idx val="5"/>
              <c:layout>
                <c:manualLayout>
                  <c:x val="-8.9044302228047361E-3"/>
                  <c:y val="1.3898482703722017E-6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7424-497E-95B6-D679EDE92764}"/>
                </c:ext>
              </c:extLst>
            </c:dLbl>
            <c:dLbl>
              <c:idx val="6"/>
              <c:layout>
                <c:manualLayout>
                  <c:x val="-1.187257363040637E-2"/>
                  <c:y val="-5.883691010785685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7424-497E-95B6-D679EDE92764}"/>
                </c:ext>
              </c:extLst>
            </c:dLbl>
            <c:dLbl>
              <c:idx val="7"/>
              <c:layout>
                <c:manualLayout>
                  <c:x val="-1.1872573630406315E-2"/>
                  <c:y val="-5.882764445272176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7424-497E-95B6-D679EDE92764}"/>
                </c:ext>
              </c:extLst>
            </c:dLbl>
            <c:dLbl>
              <c:idx val="8"/>
              <c:layout>
                <c:manualLayout>
                  <c:x val="-1.2005322091470701E-2"/>
                  <c:y val="-4.866785359708946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424-497E-95B6-D679EDE92764}"/>
                </c:ext>
              </c:extLst>
            </c:dLbl>
            <c:dLbl>
              <c:idx val="9"/>
              <c:layout>
                <c:manualLayout>
                  <c:x val="-1.1872573630406315E-2"/>
                  <c:y val="-1.176413904227408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7424-497E-95B6-D679EDE9276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'2023 v 2024'!$C$40:$C$50</c:f>
              <c:strCache>
                <c:ptCount val="10"/>
                <c:pt idx="0">
                  <c:v>PHIL SAVINGS BANK</c:v>
                </c:pt>
                <c:pt idx="1">
                  <c:v>CHINA BANK SAVINGS</c:v>
                </c:pt>
                <c:pt idx="2">
                  <c:v>PHIL BUSINESS BANK</c:v>
                </c:pt>
                <c:pt idx="3">
                  <c:v>CITY SAVINGS BANK</c:v>
                </c:pt>
                <c:pt idx="4">
                  <c:v>STERLING BANK OF ASIA</c:v>
                </c:pt>
                <c:pt idx="5">
                  <c:v>BANK OF MAKATI</c:v>
                </c:pt>
                <c:pt idx="6">
                  <c:v>BPI DIRECT BANKO</c:v>
                </c:pt>
                <c:pt idx="7">
                  <c:v>PRODUCERS SAVINGS BANK</c:v>
                </c:pt>
                <c:pt idx="8">
                  <c:v>FIRST CONSOLIDATED BANK</c:v>
                </c:pt>
                <c:pt idx="9">
                  <c:v>1st VALLEY BANK</c:v>
                </c:pt>
              </c:strCache>
            </c:strRef>
          </c:cat>
          <c:val>
            <c:numRef>
              <c:f>'2023 v 2024'!$H$40:$H$49</c:f>
              <c:numCache>
                <c:formatCode>#,##0</c:formatCode>
                <c:ptCount val="10"/>
                <c:pt idx="0">
                  <c:v>122661.21</c:v>
                </c:pt>
                <c:pt idx="1">
                  <c:v>97063.55</c:v>
                </c:pt>
                <c:pt idx="2">
                  <c:v>102849.26</c:v>
                </c:pt>
                <c:pt idx="3">
                  <c:v>91757.84</c:v>
                </c:pt>
                <c:pt idx="4">
                  <c:v>31008.45</c:v>
                </c:pt>
                <c:pt idx="5">
                  <c:v>32958.870000000003</c:v>
                </c:pt>
                <c:pt idx="6">
                  <c:v>19293.45</c:v>
                </c:pt>
                <c:pt idx="7">
                  <c:v>21538.38</c:v>
                </c:pt>
                <c:pt idx="8">
                  <c:v>19205.990000000002</c:v>
                </c:pt>
                <c:pt idx="9">
                  <c:v>8040.65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424-497E-95B6-D679EDE9276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82"/>
        <c:gapDepth val="53"/>
        <c:shape val="box"/>
        <c:axId val="166434719"/>
        <c:axId val="166442623"/>
        <c:axId val="0"/>
      </c:bar3DChart>
      <c:catAx>
        <c:axId val="166434719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6442623"/>
        <c:crosses val="autoZero"/>
        <c:auto val="1"/>
        <c:lblAlgn val="ctr"/>
        <c:lblOffset val="100"/>
        <c:noMultiLvlLbl val="0"/>
      </c:catAx>
      <c:valAx>
        <c:axId val="166442623"/>
        <c:scaling>
          <c:orientation val="minMax"/>
        </c:scaling>
        <c:delete val="1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crossAx val="16643471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41092473092144027"/>
          <c:y val="0.90781831347471797"/>
          <c:w val="0.17815030444504015"/>
          <c:h val="9.218168652528203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accent2">
        <a:lumMod val="20000"/>
        <a:lumOff val="80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5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28138420185805779"/>
          <c:y val="6.4724529252985344E-2"/>
          <c:w val="0.68002993384312171"/>
          <c:h val="0.85485628559964943"/>
        </c:manualLayout>
      </c:layout>
      <c:bar3DChart>
        <c:barDir val="bar"/>
        <c:grouping val="clustered"/>
        <c:varyColors val="0"/>
        <c:ser>
          <c:idx val="1"/>
          <c:order val="0"/>
          <c:tx>
            <c:v>2023</c:v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-8.9044302228047916E-3"/>
                  <c:y val="1.176809622781540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E552-45E2-879C-EEF19BDEDD68}"/>
                </c:ext>
              </c:extLst>
            </c:dLbl>
            <c:dLbl>
              <c:idx val="1"/>
              <c:layout>
                <c:manualLayout>
                  <c:x val="-8.9044302228047361E-3"/>
                  <c:y val="5.8840481139077585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600" b="1" i="0" u="none" strike="noStrike" kern="1200" baseline="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E552-45E2-879C-EEF19BDEDD68}"/>
                </c:ext>
              </c:extLst>
            </c:dLbl>
            <c:dLbl>
              <c:idx val="2"/>
              <c:layout>
                <c:manualLayout>
                  <c:x val="-1.1872573630406315E-2"/>
                  <c:y val="5.884048113907758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E552-45E2-879C-EEF19BDEDD68}"/>
                </c:ext>
              </c:extLst>
            </c:dLbl>
            <c:dLbl>
              <c:idx val="3"/>
              <c:layout>
                <c:manualLayout>
                  <c:x val="-1.4840717038007949E-2"/>
                  <c:y val="5.884048113907758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E552-45E2-879C-EEF19BDEDD68}"/>
                </c:ext>
              </c:extLst>
            </c:dLbl>
            <c:dLbl>
              <c:idx val="4"/>
              <c:layout>
                <c:manualLayout>
                  <c:x val="-1.1872573630406315E-2"/>
                  <c:y val="5.884048113907758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E552-45E2-879C-EEF19BDEDD68}"/>
                </c:ext>
              </c:extLst>
            </c:dLbl>
            <c:dLbl>
              <c:idx val="5"/>
              <c:layout>
                <c:manualLayout>
                  <c:x val="-1.1872573630406315E-2"/>
                  <c:y val="5.884048113907704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E552-45E2-879C-EEF19BDEDD68}"/>
                </c:ext>
              </c:extLst>
            </c:dLbl>
            <c:dLbl>
              <c:idx val="6"/>
              <c:layout>
                <c:manualLayout>
                  <c:x val="-1.1872573630406315E-2"/>
                  <c:y val="5.884048113907758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E552-45E2-879C-EEF19BDEDD68}"/>
                </c:ext>
              </c:extLst>
            </c:dLbl>
            <c:dLbl>
              <c:idx val="7"/>
              <c:layout>
                <c:manualLayout>
                  <c:x val="-1.1872573630406424E-2"/>
                  <c:y val="5.884048113907758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552-45E2-879C-EEF19BDEDD68}"/>
                </c:ext>
              </c:extLst>
            </c:dLbl>
            <c:dLbl>
              <c:idx val="8"/>
              <c:layout>
                <c:manualLayout>
                  <c:x val="-1.1872573630406424E-2"/>
                  <c:y val="5.884048113907731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E552-45E2-879C-EEF19BDEDD68}"/>
                </c:ext>
              </c:extLst>
            </c:dLbl>
            <c:dLbl>
              <c:idx val="9"/>
              <c:layout>
                <c:manualLayout>
                  <c:x val="-8.9044302228048454E-3"/>
                  <c:y val="5.884048113907745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552-45E2-879C-EEF19BDEDD6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'2023 v 2024'!$C$58:$C$67</c:f>
              <c:strCache>
                <c:ptCount val="10"/>
                <c:pt idx="0">
                  <c:v>CARD SME BANK</c:v>
                </c:pt>
                <c:pt idx="1">
                  <c:v>STERLING BANK OF ASIA</c:v>
                </c:pt>
                <c:pt idx="2">
                  <c:v>PRODUCERS SAVINGS BANK</c:v>
                </c:pt>
                <c:pt idx="3">
                  <c:v>BPI DIRECT BANKO</c:v>
                </c:pt>
                <c:pt idx="4">
                  <c:v>FIRST CONSOLIDATED BANK</c:v>
                </c:pt>
                <c:pt idx="5">
                  <c:v>CHINA BANK SAVINGS</c:v>
                </c:pt>
                <c:pt idx="6">
                  <c:v>BANK OF MAKATI</c:v>
                </c:pt>
                <c:pt idx="7">
                  <c:v>PHIL BUSINESS BANK</c:v>
                </c:pt>
                <c:pt idx="8">
                  <c:v>CITY SAVINGS BANK</c:v>
                </c:pt>
                <c:pt idx="9">
                  <c:v>PHIL SAVINGS BANK</c:v>
                </c:pt>
              </c:strCache>
            </c:strRef>
          </c:cat>
          <c:val>
            <c:numRef>
              <c:f>'2023 v 2024'!$H$58:$H$67</c:f>
              <c:numCache>
                <c:formatCode>#,##0</c:formatCode>
                <c:ptCount val="10"/>
                <c:pt idx="0">
                  <c:v>2134.4699999999998</c:v>
                </c:pt>
                <c:pt idx="1">
                  <c:v>3886.22</c:v>
                </c:pt>
                <c:pt idx="2">
                  <c:v>4081.5</c:v>
                </c:pt>
                <c:pt idx="3">
                  <c:v>4483.8900000000003</c:v>
                </c:pt>
                <c:pt idx="4">
                  <c:v>6463.13</c:v>
                </c:pt>
                <c:pt idx="5">
                  <c:v>14078.34</c:v>
                </c:pt>
                <c:pt idx="6">
                  <c:v>16656.310000000001</c:v>
                </c:pt>
                <c:pt idx="7">
                  <c:v>16827.09</c:v>
                </c:pt>
                <c:pt idx="8">
                  <c:v>18519.63</c:v>
                </c:pt>
                <c:pt idx="9">
                  <c:v>36334.589999999997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939-4D1F-A263-E533E668C0CA}"/>
            </c:ext>
          </c:extLst>
        </c:ser>
        <c:ser>
          <c:idx val="0"/>
          <c:order val="1"/>
          <c:tx>
            <c:v>2024</c:v>
          </c:tx>
          <c:spPr>
            <a:solidFill>
              <a:srgbClr val="0070C0"/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-5.9362868152031574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E552-45E2-879C-EEF19BDEDD68}"/>
                </c:ext>
              </c:extLst>
            </c:dLbl>
            <c:dLbl>
              <c:idx val="1"/>
              <c:layout>
                <c:manualLayout>
                  <c:x val="-1.1872573630406315E-2"/>
                  <c:y val="-5.8840481139077585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600" b="1" i="0" u="none" strike="noStrike" kern="1200" baseline="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E552-45E2-879C-EEF19BDEDD68}"/>
                </c:ext>
              </c:extLst>
            </c:dLbl>
            <c:dLbl>
              <c:idx val="2"/>
              <c:layout>
                <c:manualLayout>
                  <c:x val="-1.1872573630406315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E552-45E2-879C-EEF19BDEDD68}"/>
                </c:ext>
              </c:extLst>
            </c:dLbl>
            <c:dLbl>
              <c:idx val="3"/>
              <c:layout>
                <c:manualLayout>
                  <c:x val="-1.1872573630406315E-2"/>
                  <c:y val="-5.88404811390786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E552-45E2-879C-EEF19BDEDD68}"/>
                </c:ext>
              </c:extLst>
            </c:dLbl>
            <c:dLbl>
              <c:idx val="4"/>
              <c:layout>
                <c:manualLayout>
                  <c:x val="-1.187257363040637E-2"/>
                  <c:y val="-5.884048113907758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E552-45E2-879C-EEF19BDEDD68}"/>
                </c:ext>
              </c:extLst>
            </c:dLbl>
            <c:dLbl>
              <c:idx val="5"/>
              <c:layout>
                <c:manualLayout>
                  <c:x val="-1.1872573630406424E-2"/>
                  <c:y val="-5.884048113907758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E552-45E2-879C-EEF19BDEDD68}"/>
                </c:ext>
              </c:extLst>
            </c:dLbl>
            <c:dLbl>
              <c:idx val="6"/>
              <c:layout>
                <c:manualLayout>
                  <c:x val="-8.9044302228048454E-3"/>
                  <c:y val="-5.884048113907758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552-45E2-879C-EEF19BDEDD68}"/>
                </c:ext>
              </c:extLst>
            </c:dLbl>
            <c:dLbl>
              <c:idx val="7"/>
              <c:layout>
                <c:manualLayout>
                  <c:x val="-8.9044302228047361E-3"/>
                  <c:y val="-5.884048113907758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552-45E2-879C-EEF19BDEDD68}"/>
                </c:ext>
              </c:extLst>
            </c:dLbl>
            <c:dLbl>
              <c:idx val="8"/>
              <c:layout>
                <c:manualLayout>
                  <c:x val="-8.9044302228048454E-3"/>
                  <c:y val="-5.884048113907758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552-45E2-879C-EEF19BDEDD68}"/>
                </c:ext>
              </c:extLst>
            </c:dLbl>
            <c:dLbl>
              <c:idx val="9"/>
              <c:layout>
                <c:manualLayout>
                  <c:x val="-2.9681434076015787E-3"/>
                  <c:y val="-5.884048113907758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552-45E2-879C-EEF19BDEDD6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'2023 v 2024'!$C$58:$C$67</c:f>
              <c:strCache>
                <c:ptCount val="10"/>
                <c:pt idx="0">
                  <c:v>CARD SME BANK</c:v>
                </c:pt>
                <c:pt idx="1">
                  <c:v>STERLING BANK OF ASIA</c:v>
                </c:pt>
                <c:pt idx="2">
                  <c:v>PRODUCERS SAVINGS BANK</c:v>
                </c:pt>
                <c:pt idx="3">
                  <c:v>BPI DIRECT BANKO</c:v>
                </c:pt>
                <c:pt idx="4">
                  <c:v>FIRST CONSOLIDATED BANK</c:v>
                </c:pt>
                <c:pt idx="5">
                  <c:v>CHINA BANK SAVINGS</c:v>
                </c:pt>
                <c:pt idx="6">
                  <c:v>BANK OF MAKATI</c:v>
                </c:pt>
                <c:pt idx="7">
                  <c:v>PHIL BUSINESS BANK</c:v>
                </c:pt>
                <c:pt idx="8">
                  <c:v>CITY SAVINGS BANK</c:v>
                </c:pt>
                <c:pt idx="9">
                  <c:v>PHIL SAVINGS BANK</c:v>
                </c:pt>
              </c:strCache>
            </c:strRef>
          </c:cat>
          <c:val>
            <c:numRef>
              <c:f>'2023 v 2024'!$D$58:$D$67</c:f>
              <c:numCache>
                <c:formatCode>#,##0</c:formatCode>
                <c:ptCount val="10"/>
                <c:pt idx="0">
                  <c:v>2612.02</c:v>
                </c:pt>
                <c:pt idx="1">
                  <c:v>4413.8500000000004</c:v>
                </c:pt>
                <c:pt idx="2">
                  <c:v>5505.75</c:v>
                </c:pt>
                <c:pt idx="3">
                  <c:v>5931.63</c:v>
                </c:pt>
                <c:pt idx="4">
                  <c:v>6751.09</c:v>
                </c:pt>
                <c:pt idx="5">
                  <c:v>17032.150000000001</c:v>
                </c:pt>
                <c:pt idx="6">
                  <c:v>17315.62</c:v>
                </c:pt>
                <c:pt idx="7">
                  <c:v>18415.72</c:v>
                </c:pt>
                <c:pt idx="8">
                  <c:v>20638.25</c:v>
                </c:pt>
                <c:pt idx="9">
                  <c:v>39461.370000000003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939-4D1F-A263-E533E668C0C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82"/>
        <c:gapDepth val="53"/>
        <c:shape val="box"/>
        <c:axId val="239417903"/>
        <c:axId val="239437039"/>
        <c:axId val="0"/>
      </c:bar3DChart>
      <c:catAx>
        <c:axId val="23941790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39437039"/>
        <c:crosses val="autoZero"/>
        <c:auto val="1"/>
        <c:lblAlgn val="ctr"/>
        <c:lblOffset val="100"/>
        <c:noMultiLvlLbl val="0"/>
      </c:catAx>
      <c:valAx>
        <c:axId val="239437039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crossAx val="2394179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41092473092144027"/>
          <c:y val="0.90781271862481927"/>
          <c:w val="0.17815030444504015"/>
          <c:h val="9.218728137518081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DAEDEF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5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chemeClr val="accent1">
                <a:lumMod val="75000"/>
              </a:schemeClr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CB9-4BCF-9AC0-F18F44456369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CB9-4BCF-9AC0-F18F44456369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CB9-4BCF-9AC0-F18F44456369}"/>
              </c:ext>
            </c:extLst>
          </c:dPt>
          <c:dLbls>
            <c:dLbl>
              <c:idx val="1"/>
              <c:layout>
                <c:manualLayout>
                  <c:x val="-8.8530080011674974E-3"/>
                  <c:y val="-5.9470543584181417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CB9-4BCF-9AC0-F18F44456369}"/>
                </c:ext>
              </c:extLst>
            </c:dLbl>
            <c:dLbl>
              <c:idx val="2"/>
              <c:layout>
                <c:manualLayout>
                  <c:x val="-1.4755013335278981E-2"/>
                  <c:y val="4.6827199678035625E-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CB9-4BCF-9AC0-F18F44456369}"/>
                </c:ext>
              </c:extLst>
            </c:dLbl>
            <c:dLbl>
              <c:idx val="3"/>
              <c:layout>
                <c:manualLayout>
                  <c:x val="-1.1804010668223185E-2"/>
                  <c:y val="4.6827199672584221E-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CB9-4BCF-9AC0-F18F44456369}"/>
                </c:ext>
              </c:extLst>
            </c:dLbl>
            <c:dLbl>
              <c:idx val="4"/>
              <c:layout>
                <c:manualLayout>
                  <c:x val="-8.8530080011673343E-3"/>
                  <c:y val="1.0902807040276057E-16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CB9-4BCF-9AC0-F18F4445636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'March 2024'!$C$28:$C$32</c:f>
              <c:strCache>
                <c:ptCount val="5"/>
                <c:pt idx="0">
                  <c:v>PHIL BUSINESS BANK</c:v>
                </c:pt>
                <c:pt idx="1">
                  <c:v>STERLING BANK OF ASIA</c:v>
                </c:pt>
                <c:pt idx="2">
                  <c:v>BANK OF MAKATI</c:v>
                </c:pt>
                <c:pt idx="3">
                  <c:v>PRODUCERS SAVINGS BANK</c:v>
                </c:pt>
                <c:pt idx="4">
                  <c:v>FIRST CONSOLIDATED BANK</c:v>
                </c:pt>
              </c:strCache>
            </c:strRef>
          </c:cat>
          <c:val>
            <c:numRef>
              <c:f>'March 2024'!$D$28:$D$32</c:f>
              <c:numCache>
                <c:formatCode>#,##0</c:formatCode>
                <c:ptCount val="5"/>
                <c:pt idx="0">
                  <c:v>111261.48</c:v>
                </c:pt>
                <c:pt idx="1">
                  <c:v>35906.69</c:v>
                </c:pt>
                <c:pt idx="2">
                  <c:v>31700.03</c:v>
                </c:pt>
                <c:pt idx="3">
                  <c:v>24702.14</c:v>
                </c:pt>
                <c:pt idx="4">
                  <c:v>19442.52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CB9-4BCF-9AC0-F18F444563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86736776"/>
        <c:axId val="486730896"/>
      </c:barChart>
      <c:catAx>
        <c:axId val="486736776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6730896"/>
        <c:crosses val="autoZero"/>
        <c:auto val="0"/>
        <c:lblAlgn val="ctr"/>
        <c:lblOffset val="100"/>
        <c:noMultiLvlLbl val="0"/>
      </c:catAx>
      <c:valAx>
        <c:axId val="486730896"/>
        <c:scaling>
          <c:orientation val="minMax"/>
        </c:scaling>
        <c:delete val="1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crossAx val="4867367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accent2">
        <a:lumMod val="20000"/>
        <a:lumOff val="80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chemeClr val="accent1">
                <a:lumMod val="75000"/>
              </a:schemeClr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0F9-4BB2-930D-E5DFEDFB8F60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90F9-4BB2-930D-E5DFEDFB8F60}"/>
              </c:ext>
            </c:extLst>
          </c:dPt>
          <c:dLbls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90F9-4BB2-930D-E5DFEDFB8F6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'March 2024'!$C$7:$C$11</c:f>
              <c:strCache>
                <c:ptCount val="5"/>
                <c:pt idx="0">
                  <c:v>PHIL BUSINESS BANK</c:v>
                </c:pt>
                <c:pt idx="1">
                  <c:v>STERLING BANK OF ASIA</c:v>
                </c:pt>
                <c:pt idx="2">
                  <c:v>BANK OF MAKATI</c:v>
                </c:pt>
                <c:pt idx="3">
                  <c:v>PRODUCERS SAVINGS BANK</c:v>
                </c:pt>
                <c:pt idx="4">
                  <c:v>FIRST CONSOLIDATED BANK</c:v>
                </c:pt>
              </c:strCache>
            </c:strRef>
          </c:cat>
          <c:val>
            <c:numRef>
              <c:f>'March 2024'!$D$7:$D$11</c:f>
              <c:numCache>
                <c:formatCode>#,##0</c:formatCode>
                <c:ptCount val="5"/>
                <c:pt idx="0">
                  <c:v>119116.05</c:v>
                </c:pt>
                <c:pt idx="1">
                  <c:v>40050.080000000002</c:v>
                </c:pt>
                <c:pt idx="2">
                  <c:v>34494.78</c:v>
                </c:pt>
                <c:pt idx="3">
                  <c:v>21474.28</c:v>
                </c:pt>
                <c:pt idx="4">
                  <c:v>17859.150000000001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0F9-4BB2-930D-E5DFEDFB8F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44847288"/>
        <c:axId val="144847680"/>
      </c:barChart>
      <c:catAx>
        <c:axId val="14484728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4847680"/>
        <c:crosses val="autoZero"/>
        <c:auto val="1"/>
        <c:lblAlgn val="ctr"/>
        <c:lblOffset val="100"/>
        <c:noMultiLvlLbl val="0"/>
      </c:catAx>
      <c:valAx>
        <c:axId val="144847680"/>
        <c:scaling>
          <c:orientation val="minMax"/>
        </c:scaling>
        <c:delete val="1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crossAx val="1448472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rgbClr val="DAEDEF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chemeClr val="accent1">
                <a:lumMod val="75000"/>
              </a:schemeClr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4C4-4442-8433-F7AA29D57379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4C4-4442-8433-F7AA29D57379}"/>
              </c:ext>
            </c:extLst>
          </c:dPt>
          <c:dLbls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34C4-4442-8433-F7AA29D5737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'March 2024'!$C$41:$C$46</c:f>
              <c:strCache>
                <c:ptCount val="6"/>
                <c:pt idx="0">
                  <c:v>CARD SME BANK</c:v>
                </c:pt>
                <c:pt idx="1">
                  <c:v>STERLING BANK OF ASIA</c:v>
                </c:pt>
                <c:pt idx="2">
                  <c:v>PRODUCERS SAVINGS BANK</c:v>
                </c:pt>
                <c:pt idx="3">
                  <c:v>FIRST CONSOLIDATED BANK</c:v>
                </c:pt>
                <c:pt idx="4">
                  <c:v>BANK OF MAKATI</c:v>
                </c:pt>
                <c:pt idx="5">
                  <c:v>PHIL BUSINESS BANK</c:v>
                </c:pt>
              </c:strCache>
            </c:strRef>
          </c:cat>
          <c:val>
            <c:numRef>
              <c:f>'March 2024'!$D$41:$D$46</c:f>
              <c:numCache>
                <c:formatCode>#,##0</c:formatCode>
                <c:ptCount val="6"/>
                <c:pt idx="0">
                  <c:v>2510.12</c:v>
                </c:pt>
                <c:pt idx="1">
                  <c:v>4413.8500000000004</c:v>
                </c:pt>
                <c:pt idx="2">
                  <c:v>5505.75</c:v>
                </c:pt>
                <c:pt idx="3">
                  <c:v>6751.09</c:v>
                </c:pt>
                <c:pt idx="4">
                  <c:v>17315.62</c:v>
                </c:pt>
                <c:pt idx="5">
                  <c:v>18415.72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4C4-4442-8433-F7AA29D5737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44848856"/>
        <c:axId val="106024032"/>
      </c:barChart>
      <c:catAx>
        <c:axId val="14484885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6024032"/>
        <c:crosses val="autoZero"/>
        <c:auto val="1"/>
        <c:lblAlgn val="ctr"/>
        <c:lblOffset val="100"/>
        <c:noMultiLvlLbl val="0"/>
      </c:catAx>
      <c:valAx>
        <c:axId val="106024032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crossAx val="1448488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rgbClr val="DAEDEF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0455914415634955"/>
          <c:y val="5.2501467560707407E-2"/>
          <c:w val="0.62988290219769438"/>
          <c:h val="0.89499706487858521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chemeClr val="accent1">
                <a:lumMod val="75000"/>
              </a:schemeClr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5B1-42A7-8BBC-B6FFFAB95CD5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5B1-42A7-8BBC-B6FFFAB95CD5}"/>
              </c:ext>
            </c:extLst>
          </c:dPt>
          <c:dLbls>
            <c:dLbl>
              <c:idx val="0"/>
              <c:layout>
                <c:manualLayout>
                  <c:x val="0.28543468734010563"/>
                  <c:y val="1.8112742767355403E-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05B1-42A7-8BBC-B6FFFAB95CD5}"/>
                </c:ext>
              </c:extLst>
            </c:dLbl>
            <c:dLbl>
              <c:idx val="1"/>
              <c:layout>
                <c:manualLayout>
                  <c:x val="0.12731578191579093"/>
                  <c:y val="1.8112742767355403E-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5B1-42A7-8BBC-B6FFFAB95CD5}"/>
                </c:ext>
              </c:extLst>
            </c:dLbl>
            <c:dLbl>
              <c:idx val="2"/>
              <c:layout>
                <c:manualLayout>
                  <c:x val="0.12274916337912571"/>
                  <c:y val="5.7517014657737613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5B1-42A7-8BBC-B6FFFAB95CD5}"/>
                </c:ext>
              </c:extLst>
            </c:dLbl>
            <c:dLbl>
              <c:idx val="3"/>
              <c:layout>
                <c:manualLayout>
                  <c:x val="9.7789489876201952E-2"/>
                  <c:y val="1.8112742767355403E-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5B1-42A7-8BBC-B6FFFAB95CD5}"/>
                </c:ext>
              </c:extLst>
            </c:dLbl>
            <c:dLbl>
              <c:idx val="4"/>
              <c:layout>
                <c:manualLayout>
                  <c:x val="8.8139943517344221E-2"/>
                  <c:y val="1.3584557076570853E-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05B1-42A7-8BBC-B6FFFAB95CD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'March 2024'!$C$17:$C$21</c:f>
              <c:strCache>
                <c:ptCount val="5"/>
                <c:pt idx="0">
                  <c:v>PHIL BUSINESS BANK</c:v>
                </c:pt>
                <c:pt idx="1">
                  <c:v>BANK OF MAKATI</c:v>
                </c:pt>
                <c:pt idx="2">
                  <c:v>STERLING BANK OF ASIA</c:v>
                </c:pt>
                <c:pt idx="3">
                  <c:v>PRODUCERS SAVINGS BANK</c:v>
                </c:pt>
                <c:pt idx="4">
                  <c:v>FIRST CONSOLIDATED BANK</c:v>
                </c:pt>
              </c:strCache>
            </c:strRef>
          </c:cat>
          <c:val>
            <c:numRef>
              <c:f>'March 2024'!$D$17:$D$21</c:f>
              <c:numCache>
                <c:formatCode>#,##0</c:formatCode>
                <c:ptCount val="5"/>
                <c:pt idx="0">
                  <c:v>148143.24</c:v>
                </c:pt>
                <c:pt idx="1">
                  <c:v>54454.69</c:v>
                </c:pt>
                <c:pt idx="2">
                  <c:v>47484.08</c:v>
                </c:pt>
                <c:pt idx="3">
                  <c:v>34070.660000000003</c:v>
                </c:pt>
                <c:pt idx="4">
                  <c:v>26363.599999999999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05B1-42A7-8BBC-B6FFFAB95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44848464"/>
        <c:axId val="144853168"/>
      </c:barChart>
      <c:catAx>
        <c:axId val="14484846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4853168"/>
        <c:crosses val="autoZero"/>
        <c:auto val="1"/>
        <c:lblAlgn val="ctr"/>
        <c:lblOffset val="100"/>
        <c:noMultiLvlLbl val="0"/>
      </c:catAx>
      <c:valAx>
        <c:axId val="144853168"/>
        <c:scaling>
          <c:orientation val="minMax"/>
        </c:scaling>
        <c:delete val="1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crossAx val="1448484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accent2">
        <a:lumMod val="20000"/>
        <a:lumOff val="80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34858914506276367"/>
          <c:y val="6.7798518527146343E-2"/>
          <c:w val="0.61866541591747115"/>
          <c:h val="0.77272014741931272"/>
        </c:manualLayout>
      </c:layout>
      <c:bar3DChart>
        <c:barDir val="bar"/>
        <c:grouping val="clustered"/>
        <c:varyColors val="0"/>
        <c:ser>
          <c:idx val="0"/>
          <c:order val="0"/>
          <c:tx>
            <c:v>2024</c:v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-8.930574278117772E-3"/>
                  <c:y val="1.849147568304461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D5B4-425D-B8EB-2E87D81EA63D}"/>
                </c:ext>
              </c:extLst>
            </c:dLbl>
            <c:dLbl>
              <c:idx val="1"/>
              <c:layout>
                <c:manualLayout>
                  <c:x val="-8.9305742781178813E-3"/>
                  <c:y val="1.2328459313851814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800" b="1" i="0" u="none" strike="noStrike" kern="1200" baseline="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5B4-425D-B8EB-2E87D81EA63D}"/>
                </c:ext>
              </c:extLst>
            </c:dLbl>
            <c:dLbl>
              <c:idx val="2"/>
              <c:layout>
                <c:manualLayout>
                  <c:x val="-8.930574278117772E-3"/>
                  <c:y val="6.164472314472532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5B4-425D-B8EB-2E87D81EA63D}"/>
                </c:ext>
              </c:extLst>
            </c:dLbl>
            <c:dLbl>
              <c:idx val="3"/>
              <c:layout>
                <c:manualLayout>
                  <c:x val="-8.9305742781178275E-3"/>
                  <c:y val="1.232797399875856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D5B4-425D-B8EB-2E87D81EA63D}"/>
                </c:ext>
              </c:extLst>
            </c:dLbl>
            <c:dLbl>
              <c:idx val="4"/>
              <c:layout>
                <c:manualLayout>
                  <c:x val="-8.930574278117772E-3"/>
                  <c:y val="6.16398699937939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D5B4-425D-B8EB-2E87D81EA63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'2023 v 2024'!$C$76:$C$80</c:f>
              <c:strCache>
                <c:ptCount val="5"/>
                <c:pt idx="0">
                  <c:v>PHIL BUSINESS BANK</c:v>
                </c:pt>
                <c:pt idx="1">
                  <c:v>STERLING BANK OF ASIA</c:v>
                </c:pt>
                <c:pt idx="2">
                  <c:v>BANK OF MAKATI</c:v>
                </c:pt>
                <c:pt idx="3">
                  <c:v>PRODUCERS SAVINGS BANK</c:v>
                </c:pt>
                <c:pt idx="4">
                  <c:v>FIRST CONSOLIDATED BANK</c:v>
                </c:pt>
              </c:strCache>
            </c:strRef>
          </c:cat>
          <c:val>
            <c:numRef>
              <c:f>'2023 v 2024'!$D$76:$D$80</c:f>
              <c:numCache>
                <c:formatCode>#,##0</c:formatCode>
                <c:ptCount val="5"/>
                <c:pt idx="0">
                  <c:v>119116.05</c:v>
                </c:pt>
                <c:pt idx="1">
                  <c:v>40050.080000000002</c:v>
                </c:pt>
                <c:pt idx="2">
                  <c:v>34494.78</c:v>
                </c:pt>
                <c:pt idx="3">
                  <c:v>21474.28</c:v>
                </c:pt>
                <c:pt idx="4">
                  <c:v>17859.150000000001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5B4-425D-B8EB-2E87D81EA63D}"/>
            </c:ext>
          </c:extLst>
        </c:ser>
        <c:ser>
          <c:idx val="1"/>
          <c:order val="1"/>
          <c:tx>
            <c:v>2023</c:v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-8.930574278117772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5B4-425D-B8EB-2E87D81EA63D}"/>
                </c:ext>
              </c:extLst>
            </c:dLbl>
            <c:dLbl>
              <c:idx val="1"/>
              <c:layout>
                <c:manualLayout>
                  <c:x val="-1.1907432370823751E-2"/>
                  <c:y val="-6.1635016842859743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800" b="1" i="0" u="none" strike="noStrike" kern="1200" baseline="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D5B4-425D-B8EB-2E87D81EA63D}"/>
                </c:ext>
              </c:extLst>
            </c:dLbl>
            <c:dLbl>
              <c:idx val="2"/>
              <c:layout>
                <c:manualLayout>
                  <c:x val="-8.9305742781178275E-3"/>
                  <c:y val="1.4559452797526059E-6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D5B4-425D-B8EB-2E87D81EA63D}"/>
                </c:ext>
              </c:extLst>
            </c:dLbl>
            <c:dLbl>
              <c:idx val="3"/>
              <c:layout>
                <c:manualLayout>
                  <c:x val="-8.930574278117772E-3"/>
                  <c:y val="4.8531509325086855E-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D5B4-425D-B8EB-2E87D81EA63D}"/>
                </c:ext>
              </c:extLst>
            </c:dLbl>
            <c:dLbl>
              <c:idx val="4"/>
              <c:layout>
                <c:manualLayout>
                  <c:x val="-1.1907432370823751E-2"/>
                  <c:y val="9.706301865017371E-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D5B4-425D-B8EB-2E87D81EA63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'2023 v 2024'!$C$76:$C$80</c:f>
              <c:strCache>
                <c:ptCount val="5"/>
                <c:pt idx="0">
                  <c:v>PHIL BUSINESS BANK</c:v>
                </c:pt>
                <c:pt idx="1">
                  <c:v>STERLING BANK OF ASIA</c:v>
                </c:pt>
                <c:pt idx="2">
                  <c:v>BANK OF MAKATI</c:v>
                </c:pt>
                <c:pt idx="3">
                  <c:v>PRODUCERS SAVINGS BANK</c:v>
                </c:pt>
                <c:pt idx="4">
                  <c:v>FIRST CONSOLIDATED BANK</c:v>
                </c:pt>
              </c:strCache>
            </c:strRef>
          </c:cat>
          <c:val>
            <c:numRef>
              <c:f>'2023 v 2024'!$H$76:$H$80</c:f>
              <c:numCache>
                <c:formatCode>#,##0</c:formatCode>
                <c:ptCount val="5"/>
                <c:pt idx="0">
                  <c:v>110982.42</c:v>
                </c:pt>
                <c:pt idx="1">
                  <c:v>33238.730000000003</c:v>
                </c:pt>
                <c:pt idx="2">
                  <c:v>31062.959999999999</c:v>
                </c:pt>
                <c:pt idx="3">
                  <c:v>19907.32</c:v>
                </c:pt>
                <c:pt idx="4">
                  <c:v>16335.64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5B4-425D-B8EB-2E87D81EA63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82"/>
        <c:gapDepth val="53"/>
        <c:shape val="box"/>
        <c:axId val="1691757152"/>
        <c:axId val="1691744672"/>
        <c:axId val="0"/>
      </c:bar3DChart>
      <c:catAx>
        <c:axId val="1691757152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91744672"/>
        <c:crosses val="autoZero"/>
        <c:auto val="1"/>
        <c:lblAlgn val="ctr"/>
        <c:lblOffset val="100"/>
        <c:noMultiLvlLbl val="0"/>
      </c:catAx>
      <c:valAx>
        <c:axId val="1691744672"/>
        <c:scaling>
          <c:orientation val="minMax"/>
        </c:scaling>
        <c:delete val="1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crossAx val="16917571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DAEDEF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5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bar"/>
        <c:grouping val="clustered"/>
        <c:varyColors val="0"/>
        <c:ser>
          <c:idx val="1"/>
          <c:order val="0"/>
          <c:tx>
            <c:v>2023</c:v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-1.1853945392047077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B3D4-4AE2-900F-60339E462CE1}"/>
                </c:ext>
              </c:extLst>
            </c:dLbl>
            <c:dLbl>
              <c:idx val="1"/>
              <c:layout>
                <c:manualLayout>
                  <c:x val="-8.8904590440352527E-3"/>
                  <c:y val="5.9631748130521221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800" b="1" i="0" u="none" strike="noStrike" kern="1200" baseline="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B3D4-4AE2-900F-60339E462CE1}"/>
                </c:ext>
              </c:extLst>
            </c:dLbl>
            <c:dLbl>
              <c:idx val="2"/>
              <c:layout>
                <c:manualLayout>
                  <c:x val="-5.9269726960235383E-3"/>
                  <c:y val="5.963174813052122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B3D4-4AE2-900F-60339E462CE1}"/>
                </c:ext>
              </c:extLst>
            </c:dLbl>
            <c:dLbl>
              <c:idx val="3"/>
              <c:layout>
                <c:manualLayout>
                  <c:x val="-8.8904590440353065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B3D4-4AE2-900F-60339E462CE1}"/>
                </c:ext>
              </c:extLst>
            </c:dLbl>
            <c:dLbl>
              <c:idx val="4"/>
              <c:layout>
                <c:manualLayout>
                  <c:x val="-8.8904590440353065E-3"/>
                  <c:y val="1.192634962610424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B3D4-4AE2-900F-60339E462CE1}"/>
                </c:ext>
              </c:extLst>
            </c:dLbl>
            <c:dLbl>
              <c:idx val="5"/>
              <c:layout>
                <c:manualLayout>
                  <c:x val="-8.8904590440353065E-3"/>
                  <c:y val="1.192634962610424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3D4-4AE2-900F-60339E462CE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'2023 v 2024'!$C$108:$C$113</c:f>
              <c:strCache>
                <c:ptCount val="6"/>
                <c:pt idx="0">
                  <c:v>CARD SME BANK</c:v>
                </c:pt>
                <c:pt idx="1">
                  <c:v>STERLING BANK OF ASIA</c:v>
                </c:pt>
                <c:pt idx="2">
                  <c:v>PRODUCERS SAVINGS BANK</c:v>
                </c:pt>
                <c:pt idx="3">
                  <c:v>FIRST CONSOLIDATED BANK</c:v>
                </c:pt>
                <c:pt idx="4">
                  <c:v>BANK OF MAKATI</c:v>
                </c:pt>
                <c:pt idx="5">
                  <c:v>PHIL BUSINESS BANK</c:v>
                </c:pt>
              </c:strCache>
            </c:strRef>
          </c:cat>
          <c:val>
            <c:numRef>
              <c:f>'2023 v 2024'!$H$108:$H$113</c:f>
              <c:numCache>
                <c:formatCode>#,##0</c:formatCode>
                <c:ptCount val="6"/>
                <c:pt idx="0">
                  <c:v>2134.4699999999998</c:v>
                </c:pt>
                <c:pt idx="1">
                  <c:v>3886.22</c:v>
                </c:pt>
                <c:pt idx="2">
                  <c:v>4081.5</c:v>
                </c:pt>
                <c:pt idx="3">
                  <c:v>6463.13</c:v>
                </c:pt>
                <c:pt idx="4">
                  <c:v>16656.310000000001</c:v>
                </c:pt>
                <c:pt idx="5">
                  <c:v>16827.09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3D4-4AE2-900F-60339E462CE1}"/>
            </c:ext>
          </c:extLst>
        </c:ser>
        <c:ser>
          <c:idx val="0"/>
          <c:order val="1"/>
          <c:tx>
            <c:v>2024</c:v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-5.9269726960235383E-3"/>
                  <c:y val="-1.192634962610424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B3D4-4AE2-900F-60339E462CE1}"/>
                </c:ext>
              </c:extLst>
            </c:dLbl>
            <c:dLbl>
              <c:idx val="1"/>
              <c:layout>
                <c:manualLayout>
                  <c:x val="-5.9269726960235383E-3"/>
                  <c:y val="-5.9631748130521221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800" b="1" i="0" u="none" strike="noStrike" kern="1200" baseline="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B3D4-4AE2-900F-60339E462CE1}"/>
                </c:ext>
              </c:extLst>
            </c:dLbl>
            <c:dLbl>
              <c:idx val="2"/>
              <c:layout>
                <c:manualLayout>
                  <c:x val="-8.8904590440353065E-3"/>
                  <c:y val="-1.192634962610429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B3D4-4AE2-900F-60339E462CE1}"/>
                </c:ext>
              </c:extLst>
            </c:dLbl>
            <c:dLbl>
              <c:idx val="3"/>
              <c:layout>
                <c:manualLayout>
                  <c:x val="-2.9634863480117691E-3"/>
                  <c:y val="-1.192634962610424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3D4-4AE2-900F-60339E462CE1}"/>
                </c:ext>
              </c:extLst>
            </c:dLbl>
            <c:dLbl>
              <c:idx val="4"/>
              <c:layout>
                <c:manualLayout>
                  <c:x val="-8.8904590440353065E-3"/>
                  <c:y val="-5.963174813052122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3D4-4AE2-900F-60339E462CE1}"/>
                </c:ext>
              </c:extLst>
            </c:dLbl>
            <c:dLbl>
              <c:idx val="5"/>
              <c:layout>
                <c:manualLayout>
                  <c:x val="-5.9269726960237551E-3"/>
                  <c:y val="-5.963174813052122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B3D4-4AE2-900F-60339E462CE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'2023 v 2024'!$C$108:$C$113</c:f>
              <c:strCache>
                <c:ptCount val="6"/>
                <c:pt idx="0">
                  <c:v>CARD SME BANK</c:v>
                </c:pt>
                <c:pt idx="1">
                  <c:v>STERLING BANK OF ASIA</c:v>
                </c:pt>
                <c:pt idx="2">
                  <c:v>PRODUCERS SAVINGS BANK</c:v>
                </c:pt>
                <c:pt idx="3">
                  <c:v>FIRST CONSOLIDATED BANK</c:v>
                </c:pt>
                <c:pt idx="4">
                  <c:v>BANK OF MAKATI</c:v>
                </c:pt>
                <c:pt idx="5">
                  <c:v>PHIL BUSINESS BANK</c:v>
                </c:pt>
              </c:strCache>
            </c:strRef>
          </c:cat>
          <c:val>
            <c:numRef>
              <c:f>'2023 v 2024'!$D$108:$D$113</c:f>
              <c:numCache>
                <c:formatCode>#,##0</c:formatCode>
                <c:ptCount val="6"/>
                <c:pt idx="0">
                  <c:v>2510.12</c:v>
                </c:pt>
                <c:pt idx="1">
                  <c:v>4413.8500000000004</c:v>
                </c:pt>
                <c:pt idx="2">
                  <c:v>5505.75</c:v>
                </c:pt>
                <c:pt idx="3">
                  <c:v>6751.09</c:v>
                </c:pt>
                <c:pt idx="4">
                  <c:v>17315.62</c:v>
                </c:pt>
                <c:pt idx="5">
                  <c:v>18415.72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D4-4AE2-900F-60339E462CE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82"/>
        <c:gapDepth val="53"/>
        <c:shape val="box"/>
        <c:axId val="1862258928"/>
        <c:axId val="1862258096"/>
        <c:axId val="0"/>
      </c:bar3DChart>
      <c:catAx>
        <c:axId val="186225892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62258096"/>
        <c:crosses val="autoZero"/>
        <c:auto val="1"/>
        <c:lblAlgn val="ctr"/>
        <c:lblOffset val="100"/>
        <c:noMultiLvlLbl val="0"/>
      </c:catAx>
      <c:valAx>
        <c:axId val="1862258096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crossAx val="18622589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DAEDEF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31148356622048812"/>
          <c:y val="6.790113555778815E-2"/>
          <c:w val="0.65582299016060741"/>
          <c:h val="0.76620331553905563"/>
        </c:manualLayout>
      </c:layout>
      <c:bar3DChart>
        <c:barDir val="bar"/>
        <c:grouping val="clustered"/>
        <c:varyColors val="0"/>
        <c:ser>
          <c:idx val="0"/>
          <c:order val="0"/>
          <c:tx>
            <c:v>2024</c:v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-5.9442624761644434E-3"/>
                  <c:y val="6.174774703837813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3678-4A87-9395-1C2E9FAD759B}"/>
                </c:ext>
              </c:extLst>
            </c:dLbl>
            <c:dLbl>
              <c:idx val="1"/>
              <c:layout>
                <c:manualLayout>
                  <c:x val="-5.9442624761645527E-3"/>
                  <c:y val="6.1752607534838822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800" b="1" i="0" u="none" strike="noStrike" kern="1200" baseline="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678-4A87-9395-1C2E9FAD759B}"/>
                </c:ext>
              </c:extLst>
            </c:dLbl>
            <c:dLbl>
              <c:idx val="2"/>
              <c:layout>
                <c:manualLayout>
                  <c:x val="-8.9163937142467207E-3"/>
                  <c:y val="1.851946361505256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3678-4A87-9395-1C2E9FAD759B}"/>
                </c:ext>
              </c:extLst>
            </c:dLbl>
            <c:dLbl>
              <c:idx val="3"/>
              <c:layout>
                <c:manualLayout>
                  <c:x val="-8.9163937142467207E-3"/>
                  <c:y val="1.234614706015301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3678-4A87-9395-1C2E9FAD759B}"/>
                </c:ext>
              </c:extLst>
            </c:dLbl>
            <c:dLbl>
              <c:idx val="4"/>
              <c:layout>
                <c:manualLayout>
                  <c:x val="-5.9442624761644434E-3"/>
                  <c:y val="6.176232852776047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3678-4A87-9395-1C2E9FAD759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'2023 v 2024'!$C$97:$C$101</c:f>
              <c:strCache>
                <c:ptCount val="5"/>
                <c:pt idx="0">
                  <c:v>PHIL BUSINESS BANK</c:v>
                </c:pt>
                <c:pt idx="1">
                  <c:v>STERLING BANK OF ASIA</c:v>
                </c:pt>
                <c:pt idx="2">
                  <c:v>BANK OF MAKATI</c:v>
                </c:pt>
                <c:pt idx="3">
                  <c:v>PRODUCERS SAVINGS BANK</c:v>
                </c:pt>
                <c:pt idx="4">
                  <c:v>FIRST CONSOLIDATED BANK</c:v>
                </c:pt>
              </c:strCache>
            </c:strRef>
          </c:cat>
          <c:val>
            <c:numRef>
              <c:f>'2023 v 2024'!$D$97:$D$101</c:f>
              <c:numCache>
                <c:formatCode>#,##0</c:formatCode>
                <c:ptCount val="5"/>
                <c:pt idx="0">
                  <c:v>111261.48</c:v>
                </c:pt>
                <c:pt idx="1">
                  <c:v>35906.69</c:v>
                </c:pt>
                <c:pt idx="2">
                  <c:v>31700.03</c:v>
                </c:pt>
                <c:pt idx="3">
                  <c:v>24702.14</c:v>
                </c:pt>
                <c:pt idx="4">
                  <c:v>19442.52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78-4A87-9395-1C2E9FAD759B}"/>
            </c:ext>
          </c:extLst>
        </c:ser>
        <c:ser>
          <c:idx val="1"/>
          <c:order val="1"/>
          <c:tx>
            <c:v>2023</c:v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-2.9721312380822217E-3"/>
                  <c:y val="-6.171372356315190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678-4A87-9395-1C2E9FAD759B}"/>
                </c:ext>
              </c:extLst>
            </c:dLbl>
            <c:dLbl>
              <c:idx val="1"/>
              <c:layout>
                <c:manualLayout>
                  <c:x val="-1.1888524952328833E-2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800" b="1" i="0" u="none" strike="noStrike" kern="1200" baseline="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3678-4A87-9395-1C2E9FAD759B}"/>
                </c:ext>
              </c:extLst>
            </c:dLbl>
            <c:dLbl>
              <c:idx val="2"/>
              <c:layout>
                <c:manualLayout>
                  <c:x val="-8.9163937142466652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3678-4A87-9395-1C2E9FAD759B}"/>
                </c:ext>
              </c:extLst>
            </c:dLbl>
            <c:dLbl>
              <c:idx val="3"/>
              <c:layout>
                <c:manualLayout>
                  <c:x val="-8.9163937142467207E-3"/>
                  <c:y val="-6.171372356315219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3678-4A87-9395-1C2E9FAD759B}"/>
                </c:ext>
              </c:extLst>
            </c:dLbl>
            <c:dLbl>
              <c:idx val="4"/>
              <c:layout>
                <c:manualLayout>
                  <c:x val="-8.9163937142467207E-3"/>
                  <c:y val="-6.169914207376970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3678-4A87-9395-1C2E9FAD759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'2023 v 2024'!$C$97:$C$101</c:f>
              <c:strCache>
                <c:ptCount val="5"/>
                <c:pt idx="0">
                  <c:v>PHIL BUSINESS BANK</c:v>
                </c:pt>
                <c:pt idx="1">
                  <c:v>STERLING BANK OF ASIA</c:v>
                </c:pt>
                <c:pt idx="2">
                  <c:v>BANK OF MAKATI</c:v>
                </c:pt>
                <c:pt idx="3">
                  <c:v>PRODUCERS SAVINGS BANK</c:v>
                </c:pt>
                <c:pt idx="4">
                  <c:v>FIRST CONSOLIDATED BANK</c:v>
                </c:pt>
              </c:strCache>
            </c:strRef>
          </c:cat>
          <c:val>
            <c:numRef>
              <c:f>'2023 v 2024'!$H$97:$H$101</c:f>
              <c:numCache>
                <c:formatCode>#,##0</c:formatCode>
                <c:ptCount val="5"/>
                <c:pt idx="0">
                  <c:v>102849.26</c:v>
                </c:pt>
                <c:pt idx="1">
                  <c:v>31008.45</c:v>
                </c:pt>
                <c:pt idx="2">
                  <c:v>32958.870000000003</c:v>
                </c:pt>
                <c:pt idx="3">
                  <c:v>21538.38</c:v>
                </c:pt>
                <c:pt idx="4">
                  <c:v>19205.990000000002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678-4A87-9395-1C2E9FAD759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82"/>
        <c:gapDepth val="53"/>
        <c:shape val="box"/>
        <c:axId val="1691758400"/>
        <c:axId val="1691757984"/>
        <c:axId val="0"/>
      </c:bar3DChart>
      <c:catAx>
        <c:axId val="169175840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91757984"/>
        <c:crosses val="autoZero"/>
        <c:auto val="1"/>
        <c:lblAlgn val="ctr"/>
        <c:lblOffset val="100"/>
        <c:noMultiLvlLbl val="0"/>
      </c:catAx>
      <c:valAx>
        <c:axId val="1691757984"/>
        <c:scaling>
          <c:orientation val="minMax"/>
        </c:scaling>
        <c:delete val="1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crossAx val="16917584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accent2">
        <a:lumMod val="20000"/>
        <a:lumOff val="80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5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30864858430245234"/>
          <c:y val="6.7310638839154072E-2"/>
          <c:w val="0.60154069003395605"/>
          <c:h val="0.81718970132771074"/>
        </c:manualLayout>
      </c:layout>
      <c:bar3DChart>
        <c:barDir val="bar"/>
        <c:grouping val="clustered"/>
        <c:varyColors val="0"/>
        <c:ser>
          <c:idx val="0"/>
          <c:order val="0"/>
          <c:tx>
            <c:v>2024</c:v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-5.9442638672772248E-3"/>
                  <c:y val="1.76561854112640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B028-4DEA-B8F0-450A5FF00D6E}"/>
                </c:ext>
              </c:extLst>
            </c:dLbl>
            <c:dLbl>
              <c:idx val="1"/>
              <c:layout>
                <c:manualLayout>
                  <c:x val="-2.9721319336386124E-3"/>
                  <c:y val="1.177218052499578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B028-4DEA-B8F0-450A5FF00D6E}"/>
                </c:ext>
              </c:extLst>
            </c:dLbl>
            <c:dLbl>
              <c:idx val="2"/>
              <c:layout>
                <c:manualLayout>
                  <c:x val="-8.9163958009158377E-3"/>
                  <c:y val="5.8853951370879988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800" b="1" i="0" u="none" strike="noStrike" kern="1200" baseline="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B028-4DEA-B8F0-450A5FF00D6E}"/>
                </c:ext>
              </c:extLst>
            </c:dLbl>
            <c:dLbl>
              <c:idx val="3"/>
              <c:layout>
                <c:manualLayout>
                  <c:x val="-8.9163958009158932E-3"/>
                  <c:y val="5.885858554027927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B028-4DEA-B8F0-450A5FF00D6E}"/>
                </c:ext>
              </c:extLst>
            </c:dLbl>
            <c:dLbl>
              <c:idx val="4"/>
              <c:layout>
                <c:manualLayout>
                  <c:x val="-5.9442638672772248E-3"/>
                  <c:y val="1.17712536911159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B028-4DEA-B8F0-450A5FF00D6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'2023 v 2024'!$C$87:$C$91</c:f>
              <c:strCache>
                <c:ptCount val="5"/>
                <c:pt idx="0">
                  <c:v>PHIL BUSINESS BANK</c:v>
                </c:pt>
                <c:pt idx="1">
                  <c:v>BANK OF MAKATI</c:v>
                </c:pt>
                <c:pt idx="2">
                  <c:v>STERLING BANK OF ASIA</c:v>
                </c:pt>
                <c:pt idx="3">
                  <c:v>PRODUCERS SAVINGS BANK</c:v>
                </c:pt>
                <c:pt idx="4">
                  <c:v>FIRST CONSOLIDATED BANK</c:v>
                </c:pt>
              </c:strCache>
            </c:strRef>
          </c:cat>
          <c:val>
            <c:numRef>
              <c:f>'2023 v 2024'!$D$87:$D$91</c:f>
              <c:numCache>
                <c:formatCode>#,##0</c:formatCode>
                <c:ptCount val="5"/>
                <c:pt idx="0">
                  <c:v>148143.24</c:v>
                </c:pt>
                <c:pt idx="1">
                  <c:v>54454.69</c:v>
                </c:pt>
                <c:pt idx="2">
                  <c:v>47484.08</c:v>
                </c:pt>
                <c:pt idx="3">
                  <c:v>34070.660000000003</c:v>
                </c:pt>
                <c:pt idx="4">
                  <c:v>26363.599999999999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028-4DEA-B8F0-450A5FF00D6E}"/>
            </c:ext>
          </c:extLst>
        </c:ser>
        <c:ser>
          <c:idx val="1"/>
          <c:order val="1"/>
          <c:tx>
            <c:v>2023</c:v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-2.9721319336387217E-3"/>
                  <c:y val="-5.885395137087998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028-4DEA-B8F0-450A5FF00D6E}"/>
                </c:ext>
              </c:extLst>
            </c:dLbl>
            <c:dLbl>
              <c:idx val="1"/>
              <c:layout>
                <c:manualLayout>
                  <c:x val="-2.9721319336386124E-3"/>
                  <c:y val="-5.884931720148070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028-4DEA-B8F0-450A5FF00D6E}"/>
                </c:ext>
              </c:extLst>
            </c:dLbl>
            <c:dLbl>
              <c:idx val="2"/>
              <c:layout>
                <c:manualLayout>
                  <c:x val="-5.9442638672771711E-3"/>
                  <c:y val="-5.3948832201793427E-17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800" b="1" i="0" u="none" strike="noStrike" kern="1200" baseline="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028-4DEA-B8F0-450A5FF00D6E}"/>
                </c:ext>
              </c:extLst>
            </c:dLbl>
            <c:dLbl>
              <c:idx val="3"/>
              <c:layout>
                <c:manualLayout>
                  <c:x val="-8.9163958009157839E-3"/>
                  <c:y val="1.0789766440358685E-16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B028-4DEA-B8F0-450A5FF00D6E}"/>
                </c:ext>
              </c:extLst>
            </c:dLbl>
            <c:dLbl>
              <c:idx val="4"/>
              <c:layout>
                <c:manualLayout>
                  <c:x val="-5.9442638672772795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B028-4DEA-B8F0-450A5FF00D6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'2023 v 2024'!$C$87:$C$91</c:f>
              <c:strCache>
                <c:ptCount val="5"/>
                <c:pt idx="0">
                  <c:v>PHIL BUSINESS BANK</c:v>
                </c:pt>
                <c:pt idx="1">
                  <c:v>BANK OF MAKATI</c:v>
                </c:pt>
                <c:pt idx="2">
                  <c:v>STERLING BANK OF ASIA</c:v>
                </c:pt>
                <c:pt idx="3">
                  <c:v>PRODUCERS SAVINGS BANK</c:v>
                </c:pt>
                <c:pt idx="4">
                  <c:v>FIRST CONSOLIDATED BANK</c:v>
                </c:pt>
              </c:strCache>
            </c:strRef>
          </c:cat>
          <c:val>
            <c:numRef>
              <c:f>'2023 v 2024'!$H$87:$H$91</c:f>
              <c:numCache>
                <c:formatCode>#,##0</c:formatCode>
                <c:ptCount val="5"/>
                <c:pt idx="0">
                  <c:v>135626.98000000001</c:v>
                </c:pt>
                <c:pt idx="1">
                  <c:v>49745.45</c:v>
                </c:pt>
                <c:pt idx="2">
                  <c:v>40183.599999999999</c:v>
                </c:pt>
                <c:pt idx="3">
                  <c:v>31008.55</c:v>
                </c:pt>
                <c:pt idx="4">
                  <c:v>24846.39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028-4DEA-B8F0-450A5FF00D6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82"/>
        <c:gapDepth val="53"/>
        <c:shape val="box"/>
        <c:axId val="1687291936"/>
        <c:axId val="1864518784"/>
        <c:axId val="0"/>
      </c:bar3DChart>
      <c:catAx>
        <c:axId val="1687291936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64518784"/>
        <c:crosses val="autoZero"/>
        <c:auto val="1"/>
        <c:lblAlgn val="ctr"/>
        <c:lblOffset val="100"/>
        <c:noMultiLvlLbl val="0"/>
      </c:catAx>
      <c:valAx>
        <c:axId val="1864518784"/>
        <c:scaling>
          <c:orientation val="minMax"/>
        </c:scaling>
        <c:delete val="1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crossAx val="16872919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accent2">
        <a:lumMod val="20000"/>
        <a:lumOff val="80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6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0455914415634955"/>
          <c:y val="5.2501467560707407E-2"/>
          <c:w val="0.5661106552949805"/>
          <c:h val="0.89499706487858521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chemeClr val="accent1">
                <a:lumMod val="75000"/>
              </a:schemeClr>
            </a:solidFill>
            <a:ln>
              <a:noFill/>
            </a:ln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1C7-4924-95C8-480F1B414195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61C7-4924-95C8-480F1B414195}"/>
              </c:ext>
            </c:extLst>
          </c:dPt>
          <c:dLbls>
            <c:dLbl>
              <c:idx val="0"/>
              <c:layout>
                <c:manualLayout>
                  <c:x val="0.34228194348454277"/>
                  <c:y val="1.4329104904471387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2325685273349575"/>
                      <c:h val="8.584008736965767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61C7-4924-95C8-480F1B414195}"/>
                </c:ext>
              </c:extLst>
            </c:dLbl>
            <c:dLbl>
              <c:idx val="1"/>
              <c:layout>
                <c:manualLayout>
                  <c:x val="0.28599687752099229"/>
                  <c:y val="3.6513447722353483E-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1C7-4924-95C8-480F1B414195}"/>
                </c:ext>
              </c:extLst>
            </c:dLbl>
            <c:dLbl>
              <c:idx val="2"/>
              <c:layout>
                <c:manualLayout>
                  <c:x val="0.22153443876235643"/>
                  <c:y val="8.8687194505491972E-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61C7-4924-95C8-480F1B414195}"/>
                </c:ext>
              </c:extLst>
            </c:dLbl>
            <c:dLbl>
              <c:idx val="3"/>
              <c:layout>
                <c:manualLayout>
                  <c:x val="0.21016840394947756"/>
                  <c:y val="3.0561607224813612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1C7-4924-95C8-480F1B414195}"/>
                </c:ext>
              </c:extLst>
            </c:dLbl>
            <c:dLbl>
              <c:idx val="4"/>
              <c:layout>
                <c:manualLayout>
                  <c:x val="0.15977681005872274"/>
                  <c:y val="3.7581580215252258E-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61C7-4924-95C8-480F1B414195}"/>
                </c:ext>
              </c:extLst>
            </c:dLbl>
            <c:dLbl>
              <c:idx val="5"/>
              <c:layout>
                <c:manualLayout>
                  <c:x val="9.3201006124234417E-2"/>
                  <c:y val="8.4875562720133283E-17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1C7-4924-95C8-480F1B414195}"/>
                </c:ext>
              </c:extLst>
            </c:dLbl>
            <c:dLbl>
              <c:idx val="6"/>
              <c:layout>
                <c:manualLayout>
                  <c:x val="9.1286914367512975E-2"/>
                  <c:y val="3.7581580215252258E-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1C7-4924-95C8-480F1B414195}"/>
                </c:ext>
              </c:extLst>
            </c:dLbl>
            <c:dLbl>
              <c:idx val="7"/>
              <c:layout>
                <c:manualLayout>
                  <c:x val="7.3959973753280783E-2"/>
                  <c:y val="8.4875562720133283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61C7-4924-95C8-480F1B414195}"/>
                </c:ext>
              </c:extLst>
            </c:dLbl>
            <c:dLbl>
              <c:idx val="8"/>
              <c:layout>
                <c:manualLayout>
                  <c:x val="7.2187007874015691E-2"/>
                  <c:y val="9.2596237970253726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61C7-4924-95C8-480F1B414195}"/>
                </c:ext>
              </c:extLst>
            </c:dLbl>
            <c:dLbl>
              <c:idx val="9"/>
              <c:layout>
                <c:manualLayout>
                  <c:x val="7.7479440069991204E-2"/>
                  <c:y val="4.6296296296297994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61C7-4924-95C8-480F1B41419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'2023 September'!$C$22:$C$31</c:f>
              <c:strCache>
                <c:ptCount val="10"/>
                <c:pt idx="0">
                  <c:v>PHIL SAVINGS BANK</c:v>
                </c:pt>
                <c:pt idx="1">
                  <c:v>CITY SAVINGS BANK</c:v>
                </c:pt>
                <c:pt idx="2">
                  <c:v>CHINA BANK SAVINGS</c:v>
                </c:pt>
                <c:pt idx="3">
                  <c:v>PHIL BUSINESS BANK</c:v>
                </c:pt>
                <c:pt idx="4">
                  <c:v>BANK OF MAKATI</c:v>
                </c:pt>
                <c:pt idx="5">
                  <c:v>STERLING BANK OF ASIA</c:v>
                </c:pt>
                <c:pt idx="6">
                  <c:v>BPI DIRECT BANKO</c:v>
                </c:pt>
                <c:pt idx="7">
                  <c:v>PRODUCERS SAVINGS BANK</c:v>
                </c:pt>
                <c:pt idx="8">
                  <c:v>FIRST CONSOLIDATED BANK</c:v>
                </c:pt>
                <c:pt idx="9">
                  <c:v>UCPB SAVINGS BANK</c:v>
                </c:pt>
              </c:strCache>
            </c:strRef>
          </c:cat>
          <c:val>
            <c:numRef>
              <c:f>'2023 September'!$D$22:$D$31</c:f>
              <c:numCache>
                <c:formatCode>#,##0</c:formatCode>
                <c:ptCount val="10"/>
                <c:pt idx="0">
                  <c:v>234431.59</c:v>
                </c:pt>
                <c:pt idx="1">
                  <c:v>155420.93</c:v>
                </c:pt>
                <c:pt idx="2">
                  <c:v>152739.78</c:v>
                </c:pt>
                <c:pt idx="3">
                  <c:v>140971.35999999999</c:v>
                </c:pt>
                <c:pt idx="4">
                  <c:v>50679.15</c:v>
                </c:pt>
                <c:pt idx="5">
                  <c:v>42616.23</c:v>
                </c:pt>
                <c:pt idx="6">
                  <c:v>38502.379999999997</c:v>
                </c:pt>
                <c:pt idx="7">
                  <c:v>32844.58</c:v>
                </c:pt>
                <c:pt idx="8">
                  <c:v>25972.66</c:v>
                </c:pt>
                <c:pt idx="9">
                  <c:v>16683.490000000002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61C7-4924-95C8-480F1B4141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486738344"/>
        <c:axId val="486737168"/>
      </c:barChart>
      <c:catAx>
        <c:axId val="48673834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6737168"/>
        <c:crosses val="autoZero"/>
        <c:auto val="1"/>
        <c:lblAlgn val="ctr"/>
        <c:lblOffset val="100"/>
        <c:noMultiLvlLbl val="0"/>
      </c:catAx>
      <c:valAx>
        <c:axId val="486737168"/>
        <c:scaling>
          <c:orientation val="minMax"/>
        </c:scaling>
        <c:delete val="1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crossAx val="4867383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accent2">
        <a:lumMod val="20000"/>
        <a:lumOff val="80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chemeClr val="accent1">
                <a:lumMod val="75000"/>
              </a:schemeClr>
            </a:solidFill>
            <a:ln>
              <a:noFill/>
            </a:ln>
            <a:effectLst/>
          </c:spPr>
          <c:invertIfNegative val="0"/>
          <c:dPt>
            <c:idx val="4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D34-4E77-AE08-FF9A16ED1B06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9D34-4E77-AE08-FF9A16ED1B06}"/>
              </c:ext>
            </c:extLst>
          </c:dPt>
          <c:dLbls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9D34-4E77-AE08-FF9A16ED1B0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'2023 September'!$C$7:$C$16</c:f>
              <c:strCache>
                <c:ptCount val="10"/>
                <c:pt idx="0">
                  <c:v>PHIL SAVINGS BANK</c:v>
                </c:pt>
                <c:pt idx="1">
                  <c:v>CHINA BANK SAVINGS</c:v>
                </c:pt>
                <c:pt idx="2">
                  <c:v>PHIL BUSINESS BANK</c:v>
                </c:pt>
                <c:pt idx="3">
                  <c:v>CITY SAVINGS BANK</c:v>
                </c:pt>
                <c:pt idx="4">
                  <c:v>STERLING BANK OF ASIA</c:v>
                </c:pt>
                <c:pt idx="5">
                  <c:v>BANK OF MAKATI</c:v>
                </c:pt>
                <c:pt idx="6">
                  <c:v>BPI DIRECT BANKO</c:v>
                </c:pt>
                <c:pt idx="7">
                  <c:v>PRODUCERS SAVINGS BANK</c:v>
                </c:pt>
                <c:pt idx="8">
                  <c:v>FIRST CONSOLIDATED BANK</c:v>
                </c:pt>
                <c:pt idx="9">
                  <c:v>UCPB SAVINGS BANK</c:v>
                </c:pt>
              </c:strCache>
            </c:strRef>
          </c:cat>
          <c:val>
            <c:numRef>
              <c:f>'2023 September'!$D$7:$D$16</c:f>
              <c:numCache>
                <c:formatCode>#,##0</c:formatCode>
                <c:ptCount val="10"/>
                <c:pt idx="0">
                  <c:v>188073.26</c:v>
                </c:pt>
                <c:pt idx="1">
                  <c:v>133458.17000000001</c:v>
                </c:pt>
                <c:pt idx="2">
                  <c:v>115965.83</c:v>
                </c:pt>
                <c:pt idx="3">
                  <c:v>101900.43</c:v>
                </c:pt>
                <c:pt idx="4">
                  <c:v>35677.1</c:v>
                </c:pt>
                <c:pt idx="5">
                  <c:v>30640.95</c:v>
                </c:pt>
                <c:pt idx="6">
                  <c:v>29807.119999999999</c:v>
                </c:pt>
                <c:pt idx="7">
                  <c:v>20426.95</c:v>
                </c:pt>
                <c:pt idx="8">
                  <c:v>16849.96</c:v>
                </c:pt>
                <c:pt idx="9">
                  <c:v>13846.17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D34-4E77-AE08-FF9A16ED1B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486739912"/>
        <c:axId val="486739520"/>
      </c:barChart>
      <c:catAx>
        <c:axId val="486739912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6739520"/>
        <c:crosses val="autoZero"/>
        <c:auto val="1"/>
        <c:lblAlgn val="ctr"/>
        <c:lblOffset val="100"/>
        <c:noMultiLvlLbl val="0"/>
      </c:catAx>
      <c:valAx>
        <c:axId val="486739520"/>
        <c:scaling>
          <c:orientation val="minMax"/>
        </c:scaling>
        <c:delete val="1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crossAx val="4867399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rgbClr val="DAEDEF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chemeClr val="accent1">
                <a:lumMod val="75000"/>
              </a:schemeClr>
            </a:solidFill>
            <a:ln>
              <a:noFill/>
            </a:ln>
            <a:effectLst/>
          </c:spPr>
          <c:invertIfNegative val="0"/>
          <c:dPt>
            <c:idx val="4"/>
            <c:invertIfNegative val="0"/>
            <c:bubble3D val="0"/>
            <c:spPr>
              <a:solidFill>
                <a:schemeClr val="accent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CF6-4E85-9100-4E20580E4D6D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2CF6-4E85-9100-4E20580E4D6D}"/>
              </c:ext>
            </c:extLst>
          </c:dPt>
          <c:dPt>
            <c:idx val="6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2CF6-4E85-9100-4E20580E4D6D}"/>
              </c:ext>
            </c:extLst>
          </c:dPt>
          <c:dLbls>
            <c:dLbl>
              <c:idx val="0"/>
              <c:layout>
                <c:manualLayout>
                  <c:x val="0"/>
                  <c:y val="4.623893587824669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2CF6-4E85-9100-4E20580E4D6D}"/>
                </c:ext>
              </c:extLst>
            </c:dLbl>
            <c:dLbl>
              <c:idx val="6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2CF6-4E85-9100-4E20580E4D6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'2023 September'!$C$38:$C$47</c:f>
              <c:strCache>
                <c:ptCount val="10"/>
                <c:pt idx="0">
                  <c:v>PHIL SAVINGS BANK</c:v>
                </c:pt>
                <c:pt idx="1">
                  <c:v>CHINA BANK SAVINGS</c:v>
                </c:pt>
                <c:pt idx="2">
                  <c:v>PHIL BUSINESS BANK</c:v>
                </c:pt>
                <c:pt idx="3">
                  <c:v>CITY SAVINGS BANK</c:v>
                </c:pt>
                <c:pt idx="4">
                  <c:v>BANK OF MAKATI</c:v>
                </c:pt>
                <c:pt idx="5">
                  <c:v>BPI DIRECT BANKO</c:v>
                </c:pt>
                <c:pt idx="6">
                  <c:v>STERLING BANK OF ASIA</c:v>
                </c:pt>
                <c:pt idx="7">
                  <c:v>PRODUCERS SAVINGS BANK</c:v>
                </c:pt>
                <c:pt idx="8">
                  <c:v>FIRST CONSOLIDATED BANK</c:v>
                </c:pt>
                <c:pt idx="9">
                  <c:v>UCPB SAVINGS BANK</c:v>
                </c:pt>
              </c:strCache>
            </c:strRef>
          </c:cat>
          <c:val>
            <c:numRef>
              <c:f>'2023 September'!$D$38:$D$47</c:f>
              <c:numCache>
                <c:formatCode>#,##0</c:formatCode>
                <c:ptCount val="10"/>
                <c:pt idx="0">
                  <c:v>121685.56</c:v>
                </c:pt>
                <c:pt idx="1">
                  <c:v>109076.6</c:v>
                </c:pt>
                <c:pt idx="2">
                  <c:v>105869.61</c:v>
                </c:pt>
                <c:pt idx="3">
                  <c:v>92414.06</c:v>
                </c:pt>
                <c:pt idx="4">
                  <c:v>33623.35</c:v>
                </c:pt>
                <c:pt idx="5">
                  <c:v>32778.5</c:v>
                </c:pt>
                <c:pt idx="6">
                  <c:v>30885.01</c:v>
                </c:pt>
                <c:pt idx="7">
                  <c:v>23716.98</c:v>
                </c:pt>
                <c:pt idx="8">
                  <c:v>19759.46</c:v>
                </c:pt>
                <c:pt idx="9">
                  <c:v>11733.4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2CF6-4E85-9100-4E20580E4D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86727760"/>
        <c:axId val="486728152"/>
      </c:barChart>
      <c:catAx>
        <c:axId val="48672776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6728152"/>
        <c:crosses val="autoZero"/>
        <c:auto val="0"/>
        <c:lblAlgn val="ctr"/>
        <c:lblOffset val="100"/>
        <c:noMultiLvlLbl val="0"/>
      </c:catAx>
      <c:valAx>
        <c:axId val="486728152"/>
        <c:scaling>
          <c:orientation val="minMax"/>
        </c:scaling>
        <c:delete val="1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crossAx val="4867277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accent2">
        <a:lumMod val="20000"/>
        <a:lumOff val="80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chemeClr val="accent5">
                <a:lumMod val="75000"/>
              </a:schemeClr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1FA-4890-8D7E-591964C21A76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5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1FA-4890-8D7E-591964C21A76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5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B1FA-4890-8D7E-591964C21A76}"/>
              </c:ext>
            </c:extLst>
          </c:dPt>
          <c:dLbls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B1FA-4890-8D7E-591964C21A7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'2023 September'!$C$55:$C$64</c:f>
              <c:strCache>
                <c:ptCount val="10"/>
                <c:pt idx="0">
                  <c:v>1st VALLEY BANK</c:v>
                </c:pt>
                <c:pt idx="1">
                  <c:v>STERLING BANK OF ASIA</c:v>
                </c:pt>
                <c:pt idx="2">
                  <c:v>PRODUCERS SAVINGS BANK</c:v>
                </c:pt>
                <c:pt idx="3">
                  <c:v>BPI DIRECT BANKO</c:v>
                </c:pt>
                <c:pt idx="4">
                  <c:v>FIRST CONSOLIDATED BANK</c:v>
                </c:pt>
                <c:pt idx="5">
                  <c:v>CHINA BANK SAVINGS</c:v>
                </c:pt>
                <c:pt idx="6">
                  <c:v>BANK OF MAKATI</c:v>
                </c:pt>
                <c:pt idx="7">
                  <c:v>PHIL BUSINESS BANK</c:v>
                </c:pt>
                <c:pt idx="8">
                  <c:v>CITY SAVINGS BANK</c:v>
                </c:pt>
                <c:pt idx="9">
                  <c:v>PHIL SAVINGS BANK</c:v>
                </c:pt>
              </c:strCache>
            </c:strRef>
          </c:cat>
          <c:val>
            <c:numRef>
              <c:f>'2023 September'!$D$55:$D$64</c:f>
              <c:numCache>
                <c:formatCode>#,##0</c:formatCode>
                <c:ptCount val="10"/>
                <c:pt idx="0">
                  <c:v>2613.7199999999998</c:v>
                </c:pt>
                <c:pt idx="1">
                  <c:v>3982.98</c:v>
                </c:pt>
                <c:pt idx="2">
                  <c:v>4629.13</c:v>
                </c:pt>
                <c:pt idx="3">
                  <c:v>5135.84</c:v>
                </c:pt>
                <c:pt idx="4">
                  <c:v>6918.37</c:v>
                </c:pt>
                <c:pt idx="5">
                  <c:v>15116.1</c:v>
                </c:pt>
                <c:pt idx="6">
                  <c:v>15575.1</c:v>
                </c:pt>
                <c:pt idx="7">
                  <c:v>16966.21</c:v>
                </c:pt>
                <c:pt idx="8">
                  <c:v>20064.38</c:v>
                </c:pt>
                <c:pt idx="9">
                  <c:v>38068.129999999997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1FA-4890-8D7E-591964C21A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486739128"/>
        <c:axId val="486740304"/>
      </c:barChart>
      <c:catAx>
        <c:axId val="48673912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6740304"/>
        <c:crosses val="autoZero"/>
        <c:auto val="1"/>
        <c:lblAlgn val="ctr"/>
        <c:lblOffset val="100"/>
        <c:noMultiLvlLbl val="0"/>
      </c:catAx>
      <c:valAx>
        <c:axId val="486740304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crossAx val="4867391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rgbClr val="DAEDEF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chemeClr val="accent1">
                <a:lumMod val="75000"/>
              </a:schemeClr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4C8-4A34-8F34-3ADC9940B738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4C8-4A34-8F34-3ADC9940B738}"/>
              </c:ext>
            </c:extLst>
          </c:dPt>
          <c:dLbls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34C8-4A34-8F34-3ADC9940B73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'September 2023'!$C$7:$C$11</c:f>
              <c:strCache>
                <c:ptCount val="5"/>
                <c:pt idx="0">
                  <c:v>PHIL BUSINESS BANK</c:v>
                </c:pt>
                <c:pt idx="1">
                  <c:v>STERLING BANK OF ASIA</c:v>
                </c:pt>
                <c:pt idx="2">
                  <c:v>BANK OF MAKATI</c:v>
                </c:pt>
                <c:pt idx="3">
                  <c:v>PRODUCERS SAVINGS BANK</c:v>
                </c:pt>
                <c:pt idx="4">
                  <c:v>FIRST CONSOLIDATED BANK</c:v>
                </c:pt>
              </c:strCache>
            </c:strRef>
          </c:cat>
          <c:val>
            <c:numRef>
              <c:f>'September 2023'!$D$7:$D$11</c:f>
              <c:numCache>
                <c:formatCode>#,##0</c:formatCode>
                <c:ptCount val="5"/>
                <c:pt idx="0">
                  <c:v>115965.83</c:v>
                </c:pt>
                <c:pt idx="1">
                  <c:v>35677.1</c:v>
                </c:pt>
                <c:pt idx="2">
                  <c:v>30640.95</c:v>
                </c:pt>
                <c:pt idx="3">
                  <c:v>20426.95</c:v>
                </c:pt>
                <c:pt idx="4">
                  <c:v>16849.96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4C8-4A34-8F34-3ADC9940B7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44847288"/>
        <c:axId val="144847680"/>
      </c:barChart>
      <c:catAx>
        <c:axId val="14484728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4847680"/>
        <c:crosses val="autoZero"/>
        <c:auto val="1"/>
        <c:lblAlgn val="ctr"/>
        <c:lblOffset val="100"/>
        <c:noMultiLvlLbl val="0"/>
      </c:catAx>
      <c:valAx>
        <c:axId val="144847680"/>
        <c:scaling>
          <c:orientation val="minMax"/>
        </c:scaling>
        <c:delete val="1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crossAx val="1448472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rgbClr val="DAEDEF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chemeClr val="accent1">
                <a:lumMod val="75000"/>
              </a:schemeClr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1964-4FF1-9068-B6CD96496731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964-4FF1-9068-B6CD96496731}"/>
              </c:ext>
            </c:extLst>
          </c:dPt>
          <c:dLbls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1964-4FF1-9068-B6CD9649673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'September 2023'!$C$40:$C$45</c:f>
              <c:strCache>
                <c:ptCount val="6"/>
                <c:pt idx="0">
                  <c:v>1st VALLEY BANK</c:v>
                </c:pt>
                <c:pt idx="1">
                  <c:v>STERLING BANK OF ASIA</c:v>
                </c:pt>
                <c:pt idx="2">
                  <c:v>PRODUCERS SAVINGS BANK</c:v>
                </c:pt>
                <c:pt idx="3">
                  <c:v>FIRST CONSOLIDATED BANK</c:v>
                </c:pt>
                <c:pt idx="4">
                  <c:v>BANK OF MAKATI</c:v>
                </c:pt>
                <c:pt idx="5">
                  <c:v>PHIL BUSINESS BANK</c:v>
                </c:pt>
              </c:strCache>
            </c:strRef>
          </c:cat>
          <c:val>
            <c:numRef>
              <c:f>'September 2023'!$D$40:$D$45</c:f>
              <c:numCache>
                <c:formatCode>#,##0</c:formatCode>
                <c:ptCount val="6"/>
                <c:pt idx="0">
                  <c:v>2613.7199999999998</c:v>
                </c:pt>
                <c:pt idx="1">
                  <c:v>3982.98</c:v>
                </c:pt>
                <c:pt idx="2">
                  <c:v>4629.13</c:v>
                </c:pt>
                <c:pt idx="3">
                  <c:v>6918.37</c:v>
                </c:pt>
                <c:pt idx="4">
                  <c:v>15575.1</c:v>
                </c:pt>
                <c:pt idx="5">
                  <c:v>16966.21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964-4FF1-9068-B6CD964967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44848856"/>
        <c:axId val="106024032"/>
      </c:barChart>
      <c:catAx>
        <c:axId val="14484885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6024032"/>
        <c:crosses val="autoZero"/>
        <c:auto val="1"/>
        <c:lblAlgn val="ctr"/>
        <c:lblOffset val="100"/>
        <c:noMultiLvlLbl val="0"/>
      </c:catAx>
      <c:valAx>
        <c:axId val="106024032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crossAx val="1448488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rgbClr val="DAEDEF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chemeClr val="accent1">
                <a:lumMod val="75000"/>
              </a:schemeClr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3BF-41E4-9D60-4EC1A4C489F3}"/>
              </c:ext>
            </c:extLst>
          </c:dPt>
          <c:dPt>
            <c:idx val="2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23BF-41E4-9D60-4EC1A4C489F3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23BF-41E4-9D60-4EC1A4C489F3}"/>
              </c:ext>
            </c:extLst>
          </c:dPt>
          <c:dLbls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23BF-41E4-9D60-4EC1A4C489F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'September 2023'!$C$28:$C$32</c:f>
              <c:strCache>
                <c:ptCount val="5"/>
                <c:pt idx="0">
                  <c:v>PHIL BUSINESS BANK</c:v>
                </c:pt>
                <c:pt idx="1">
                  <c:v>BANK OF MAKATI</c:v>
                </c:pt>
                <c:pt idx="2">
                  <c:v>STERLING BANK OF ASIA</c:v>
                </c:pt>
                <c:pt idx="3">
                  <c:v>PRODUCERS SAVINGS BANK</c:v>
                </c:pt>
                <c:pt idx="4">
                  <c:v>FIRST CONSOLIDATED BANK</c:v>
                </c:pt>
              </c:strCache>
            </c:strRef>
          </c:cat>
          <c:val>
            <c:numRef>
              <c:f>'September 2023'!$D$28:$D$32</c:f>
              <c:numCache>
                <c:formatCode>#,##0</c:formatCode>
                <c:ptCount val="5"/>
                <c:pt idx="0">
                  <c:v>105869.61</c:v>
                </c:pt>
                <c:pt idx="1">
                  <c:v>33623.35</c:v>
                </c:pt>
                <c:pt idx="2">
                  <c:v>30885.01</c:v>
                </c:pt>
                <c:pt idx="3">
                  <c:v>23716.98</c:v>
                </c:pt>
                <c:pt idx="4">
                  <c:v>19759.46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3BF-41E4-9D60-4EC1A4C489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86736776"/>
        <c:axId val="486730896"/>
      </c:barChart>
      <c:catAx>
        <c:axId val="486736776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6730896"/>
        <c:crosses val="autoZero"/>
        <c:auto val="0"/>
        <c:lblAlgn val="ctr"/>
        <c:lblOffset val="100"/>
        <c:noMultiLvlLbl val="0"/>
      </c:catAx>
      <c:valAx>
        <c:axId val="486730896"/>
        <c:scaling>
          <c:orientation val="minMax"/>
        </c:scaling>
        <c:delete val="1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crossAx val="4867367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accent2">
        <a:lumMod val="20000"/>
        <a:lumOff val="80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0455914415634955"/>
          <c:y val="5.2501467560707407E-2"/>
          <c:w val="0.62988290219769438"/>
          <c:h val="0.89499706487858521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chemeClr val="accent1">
                <a:lumMod val="75000"/>
              </a:schemeClr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A3D-4A45-B8FF-A8C9CAFE796D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9A3D-4A45-B8FF-A8C9CAFE796D}"/>
              </c:ext>
            </c:extLst>
          </c:dPt>
          <c:dLbls>
            <c:dLbl>
              <c:idx val="0"/>
              <c:layout>
                <c:manualLayout>
                  <c:x val="0.34445483835264251"/>
                  <c:y val="1.2112205045273024E-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9A3D-4A45-B8FF-A8C9CAFE796D}"/>
                </c:ext>
              </c:extLst>
            </c:dLbl>
            <c:dLbl>
              <c:idx val="1"/>
              <c:layout>
                <c:manualLayout>
                  <c:x val="0.15977681005872274"/>
                  <c:y val="3.7581580215252258E-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A3D-4A45-B8FF-A8C9CAFE796D}"/>
                </c:ext>
              </c:extLst>
            </c:dLbl>
            <c:dLbl>
              <c:idx val="2"/>
              <c:layout>
                <c:manualLayout>
                  <c:x val="0.17291629746904955"/>
                  <c:y val="6.0561025225483833E-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A3D-4A45-B8FF-A8C9CAFE796D}"/>
                </c:ext>
              </c:extLst>
            </c:dLbl>
            <c:dLbl>
              <c:idx val="3"/>
              <c:layout>
                <c:manualLayout>
                  <c:x val="0.11254440571196749"/>
                  <c:y val="1.2112205045096767E-6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A3D-4A45-B8FF-A8C9CAFE796D}"/>
                </c:ext>
              </c:extLst>
            </c:dLbl>
            <c:dLbl>
              <c:idx val="4"/>
              <c:layout>
                <c:manualLayout>
                  <c:x val="0.10584601891114757"/>
                  <c:y val="6.0561025239584295E-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9A3D-4A45-B8FF-A8C9CAFE796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'September 2023'!$C$17:$C$21</c:f>
              <c:strCache>
                <c:ptCount val="5"/>
                <c:pt idx="0">
                  <c:v>PHIL BUSINESS BANK</c:v>
                </c:pt>
                <c:pt idx="1">
                  <c:v>BANK OF MAKATI</c:v>
                </c:pt>
                <c:pt idx="2">
                  <c:v>STERLING BANK OF ASIA</c:v>
                </c:pt>
                <c:pt idx="3">
                  <c:v>PRODUCERS SAVINGS BANK</c:v>
                </c:pt>
                <c:pt idx="4">
                  <c:v>FIRST CONSOLIDATED BANK</c:v>
                </c:pt>
              </c:strCache>
            </c:strRef>
          </c:cat>
          <c:val>
            <c:numRef>
              <c:f>'September 2023'!$D$17:$D$21</c:f>
              <c:numCache>
                <c:formatCode>#,##0</c:formatCode>
                <c:ptCount val="5"/>
                <c:pt idx="0">
                  <c:v>140971.35999999999</c:v>
                </c:pt>
                <c:pt idx="1">
                  <c:v>50679.15</c:v>
                </c:pt>
                <c:pt idx="2">
                  <c:v>42616.23</c:v>
                </c:pt>
                <c:pt idx="3">
                  <c:v>32844.58</c:v>
                </c:pt>
                <c:pt idx="4">
                  <c:v>25972.66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9A3D-4A45-B8FF-A8C9CAFE79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44848464"/>
        <c:axId val="144853168"/>
      </c:barChart>
      <c:catAx>
        <c:axId val="14484846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4853168"/>
        <c:crosses val="autoZero"/>
        <c:auto val="1"/>
        <c:lblAlgn val="ctr"/>
        <c:lblOffset val="100"/>
        <c:noMultiLvlLbl val="0"/>
      </c:catAx>
      <c:valAx>
        <c:axId val="144853168"/>
        <c:scaling>
          <c:orientation val="minMax"/>
        </c:scaling>
        <c:delete val="1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crossAx val="1448484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accent2">
        <a:lumMod val="20000"/>
        <a:lumOff val="80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chemeClr val="accent5">
                <a:lumMod val="75000"/>
              </a:schemeClr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EBC-4F84-9D94-96808917A2B9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5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EBC-4F84-9D94-96808917A2B9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5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0EBC-4F84-9D94-96808917A2B9}"/>
              </c:ext>
            </c:extLst>
          </c:dPt>
          <c:dLbls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0EBC-4F84-9D94-96808917A2B9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0EBC-4F84-9D94-96808917A2B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'2023 June'!$C$55:$C$64</c:f>
              <c:strCache>
                <c:ptCount val="10"/>
                <c:pt idx="0">
                  <c:v>1st VALLEY BANK</c:v>
                </c:pt>
                <c:pt idx="1">
                  <c:v>STERLING BANK OF ASIA</c:v>
                </c:pt>
                <c:pt idx="2">
                  <c:v>PRODUCERS SAVINGS BANK</c:v>
                </c:pt>
                <c:pt idx="3">
                  <c:v>BPI DIRECT BANKO</c:v>
                </c:pt>
                <c:pt idx="4">
                  <c:v>FIRST CONSOLIDATED BANK</c:v>
                </c:pt>
                <c:pt idx="5">
                  <c:v>CHINA BANK SAVINGS</c:v>
                </c:pt>
                <c:pt idx="6">
                  <c:v>PHIL BUSINESS BANK</c:v>
                </c:pt>
                <c:pt idx="7">
                  <c:v>BANK OF MAKATI</c:v>
                </c:pt>
                <c:pt idx="8">
                  <c:v>CITY SAVINGS BANK</c:v>
                </c:pt>
                <c:pt idx="9">
                  <c:v>PHIL SAVINGS BANK</c:v>
                </c:pt>
              </c:strCache>
            </c:strRef>
          </c:cat>
          <c:val>
            <c:numRef>
              <c:f>'2023 June'!$D$55:$D$64</c:f>
              <c:numCache>
                <c:formatCode>#,##0</c:formatCode>
                <c:ptCount val="10"/>
                <c:pt idx="0">
                  <c:v>2589.14</c:v>
                </c:pt>
                <c:pt idx="1">
                  <c:v>3939.74</c:v>
                </c:pt>
                <c:pt idx="2">
                  <c:v>4323.3500000000004</c:v>
                </c:pt>
                <c:pt idx="3">
                  <c:v>4789.43</c:v>
                </c:pt>
                <c:pt idx="4">
                  <c:v>6667.48</c:v>
                </c:pt>
                <c:pt idx="5">
                  <c:v>14589.82</c:v>
                </c:pt>
                <c:pt idx="6">
                  <c:v>17142.009999999998</c:v>
                </c:pt>
                <c:pt idx="7">
                  <c:v>17377.900000000001</c:v>
                </c:pt>
                <c:pt idx="8">
                  <c:v>19330.23</c:v>
                </c:pt>
                <c:pt idx="9">
                  <c:v>37243.839999999997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EBC-4F84-9D94-96808917A2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486739128"/>
        <c:axId val="486740304"/>
      </c:barChart>
      <c:catAx>
        <c:axId val="48673912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6740304"/>
        <c:crosses val="autoZero"/>
        <c:auto val="1"/>
        <c:lblAlgn val="ctr"/>
        <c:lblOffset val="100"/>
        <c:noMultiLvlLbl val="0"/>
      </c:catAx>
      <c:valAx>
        <c:axId val="486740304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crossAx val="4867391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rgbClr val="DAEDEF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chemeClr val="accent5">
                <a:lumMod val="75000"/>
              </a:schemeClr>
            </a:solidFill>
            <a:ln>
              <a:noFill/>
            </a:ln>
            <a:effectLst/>
          </c:spPr>
          <c:invertIfNegative val="0"/>
          <c:dPt>
            <c:idx val="4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497-4FA4-95CD-CCA19B678A27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5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1497-4FA4-95CD-CCA19B678A27}"/>
              </c:ext>
            </c:extLst>
          </c:dPt>
          <c:dLbls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1497-4FA4-95CD-CCA19B678A2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'2023 June'!$C$7:$C$16</c:f>
              <c:strCache>
                <c:ptCount val="10"/>
                <c:pt idx="0">
                  <c:v>PHIL SAVINGS BANK</c:v>
                </c:pt>
                <c:pt idx="1">
                  <c:v>CHINA BANK SAVINGS</c:v>
                </c:pt>
                <c:pt idx="2">
                  <c:v>PHIL BUSINESS BANK</c:v>
                </c:pt>
                <c:pt idx="3">
                  <c:v>CITY SAVINGS BANK</c:v>
                </c:pt>
                <c:pt idx="4">
                  <c:v>STERLING BANK OF ASIA</c:v>
                </c:pt>
                <c:pt idx="5">
                  <c:v>BANK OF MAKATI</c:v>
                </c:pt>
                <c:pt idx="6">
                  <c:v>BPI DIRECT BANKO</c:v>
                </c:pt>
                <c:pt idx="7">
                  <c:v>PRODUCERS SAVINGS BANK</c:v>
                </c:pt>
                <c:pt idx="8">
                  <c:v>FIRST CONSOLIDATED BANK</c:v>
                </c:pt>
                <c:pt idx="9">
                  <c:v>UCPB SAVINGS BANK</c:v>
                </c:pt>
              </c:strCache>
            </c:strRef>
          </c:cat>
          <c:val>
            <c:numRef>
              <c:f>'2023 June'!$D$7:$D$16</c:f>
              <c:numCache>
                <c:formatCode>#,##0</c:formatCode>
                <c:ptCount val="10"/>
                <c:pt idx="0">
                  <c:v>186948.57</c:v>
                </c:pt>
                <c:pt idx="1">
                  <c:v>121171.07</c:v>
                </c:pt>
                <c:pt idx="2">
                  <c:v>112091.75</c:v>
                </c:pt>
                <c:pt idx="3">
                  <c:v>81674.06</c:v>
                </c:pt>
                <c:pt idx="4">
                  <c:v>33124.120000000003</c:v>
                </c:pt>
                <c:pt idx="5">
                  <c:v>30450.32</c:v>
                </c:pt>
                <c:pt idx="6">
                  <c:v>26404.05</c:v>
                </c:pt>
                <c:pt idx="7">
                  <c:v>20390.599999999999</c:v>
                </c:pt>
                <c:pt idx="8">
                  <c:v>16440.71</c:v>
                </c:pt>
                <c:pt idx="9">
                  <c:v>13465.29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497-4FA4-95CD-CCA19B678A2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486739912"/>
        <c:axId val="486739520"/>
      </c:barChart>
      <c:catAx>
        <c:axId val="486739912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6739520"/>
        <c:crosses val="autoZero"/>
        <c:auto val="1"/>
        <c:lblAlgn val="ctr"/>
        <c:lblOffset val="100"/>
        <c:noMultiLvlLbl val="0"/>
      </c:catAx>
      <c:valAx>
        <c:axId val="486739520"/>
        <c:scaling>
          <c:orientation val="minMax"/>
        </c:scaling>
        <c:delete val="1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crossAx val="4867399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rgbClr val="DAEDEF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chemeClr val="accent5">
                <a:lumMod val="75000"/>
              </a:schemeClr>
            </a:solidFill>
            <a:ln>
              <a:noFill/>
            </a:ln>
            <a:effectLst/>
          </c:spPr>
          <c:invertIfNegative val="0"/>
          <c:dPt>
            <c:idx val="4"/>
            <c:invertIfNegative val="0"/>
            <c:bubble3D val="0"/>
            <c:spPr>
              <a:solidFill>
                <a:schemeClr val="accent5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CF7-42F7-BACC-DA53CAB4A847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9CF7-42F7-BACC-DA53CAB4A847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5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9CF7-42F7-BACC-DA53CAB4A847}"/>
              </c:ext>
            </c:extLst>
          </c:dPt>
          <c:dLbls>
            <c:dLbl>
              <c:idx val="0"/>
              <c:layout>
                <c:manualLayout>
                  <c:x val="0"/>
                  <c:y val="4.623893587824669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9CF7-42F7-BACC-DA53CAB4A847}"/>
                </c:ext>
              </c:extLst>
            </c:dLbl>
            <c:dLbl>
              <c:idx val="5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9CF7-42F7-BACC-DA53CAB4A84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'2023 June'!$C$38:$C$47</c:f>
              <c:strCache>
                <c:ptCount val="10"/>
                <c:pt idx="0">
                  <c:v>PHIL SAVINGS BANK</c:v>
                </c:pt>
                <c:pt idx="1">
                  <c:v>PHIL BUSINESS BANK</c:v>
                </c:pt>
                <c:pt idx="2">
                  <c:v>CHINA BANK SAVINGS</c:v>
                </c:pt>
                <c:pt idx="3">
                  <c:v>CITY SAVINGS BANK</c:v>
                </c:pt>
                <c:pt idx="4">
                  <c:v>BANK OF MAKATI</c:v>
                </c:pt>
                <c:pt idx="5">
                  <c:v>STERLING BANK OF ASIA</c:v>
                </c:pt>
                <c:pt idx="6">
                  <c:v>PRODUCERS SAVINGS BANK</c:v>
                </c:pt>
                <c:pt idx="7">
                  <c:v>BPI DIRECT BANKO</c:v>
                </c:pt>
                <c:pt idx="8">
                  <c:v>FIRST CONSOLIDATED BANK</c:v>
                </c:pt>
                <c:pt idx="9">
                  <c:v>UCPB SAVINGS BANK</c:v>
                </c:pt>
              </c:strCache>
            </c:strRef>
          </c:cat>
          <c:val>
            <c:numRef>
              <c:f>'2023 June'!$D$38:$D$47</c:f>
              <c:numCache>
                <c:formatCode>#,##0</c:formatCode>
                <c:ptCount val="10"/>
                <c:pt idx="0">
                  <c:v>118382.56</c:v>
                </c:pt>
                <c:pt idx="1">
                  <c:v>103149.78</c:v>
                </c:pt>
                <c:pt idx="2">
                  <c:v>102433.37</c:v>
                </c:pt>
                <c:pt idx="3">
                  <c:v>92179.25</c:v>
                </c:pt>
                <c:pt idx="4">
                  <c:v>32532.76</c:v>
                </c:pt>
                <c:pt idx="5">
                  <c:v>30174.15</c:v>
                </c:pt>
                <c:pt idx="6">
                  <c:v>21907.46</c:v>
                </c:pt>
                <c:pt idx="7">
                  <c:v>21603.59</c:v>
                </c:pt>
                <c:pt idx="8">
                  <c:v>19461.439999999999</c:v>
                </c:pt>
                <c:pt idx="9">
                  <c:v>11103.13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9CF7-42F7-BACC-DA53CAB4A8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86727760"/>
        <c:axId val="486728152"/>
      </c:barChart>
      <c:catAx>
        <c:axId val="48672776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6728152"/>
        <c:crosses val="autoZero"/>
        <c:auto val="0"/>
        <c:lblAlgn val="ctr"/>
        <c:lblOffset val="100"/>
        <c:noMultiLvlLbl val="0"/>
      </c:catAx>
      <c:valAx>
        <c:axId val="486728152"/>
        <c:scaling>
          <c:orientation val="minMax"/>
        </c:scaling>
        <c:delete val="1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crossAx val="4867277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accent2">
        <a:lumMod val="20000"/>
        <a:lumOff val="80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0455914415634955"/>
          <c:y val="5.2501467560707407E-2"/>
          <c:w val="0.5661106552949805"/>
          <c:h val="0.89499706487858521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chemeClr val="accent5">
                <a:lumMod val="75000"/>
              </a:schemeClr>
            </a:solidFill>
            <a:ln>
              <a:noFill/>
            </a:ln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BFC-4B09-9BEC-906E625C6B5F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5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7BFC-4B09-9BEC-906E625C6B5F}"/>
              </c:ext>
            </c:extLst>
          </c:dPt>
          <c:dLbls>
            <c:dLbl>
              <c:idx val="0"/>
              <c:layout>
                <c:manualLayout>
                  <c:x val="0.31019254733287777"/>
                  <c:y val="3.0212119309709507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2325685273349575"/>
                      <c:h val="8.584008736965767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7BFC-4B09-9BEC-906E625C6B5F}"/>
                </c:ext>
              </c:extLst>
            </c:dLbl>
            <c:dLbl>
              <c:idx val="1"/>
              <c:layout>
                <c:manualLayout>
                  <c:x val="0.21014936343955115"/>
                  <c:y val="2.6714717538612784E-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BFC-4B09-9BEC-906E625C6B5F}"/>
                </c:ext>
              </c:extLst>
            </c:dLbl>
            <c:dLbl>
              <c:idx val="2"/>
              <c:layout>
                <c:manualLayout>
                  <c:x val="0.20707710507123619"/>
                  <c:y val="8.9049058462042615E-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7BFC-4B09-9BEC-906E625C6B5F}"/>
                </c:ext>
              </c:extLst>
            </c:dLbl>
            <c:dLbl>
              <c:idx val="3"/>
              <c:layout>
                <c:manualLayout>
                  <c:x val="0.20151832731323827"/>
                  <c:y val="-2.6443117910303557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7BFC-4B09-9BEC-906E625C6B5F}"/>
                </c:ext>
              </c:extLst>
            </c:dLbl>
            <c:dLbl>
              <c:idx val="4"/>
              <c:layout>
                <c:manualLayout>
                  <c:x val="9.8515323965337978E-2"/>
                  <c:y val="1.3357358769306392E-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7BFC-4B09-9BEC-906E625C6B5F}"/>
                </c:ext>
              </c:extLst>
            </c:dLbl>
            <c:dLbl>
              <c:idx val="5"/>
              <c:layout>
                <c:manualLayout>
                  <c:x val="9.3201006124234417E-2"/>
                  <c:y val="8.4875562720133283E-17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BFC-4B09-9BEC-906E625C6B5F}"/>
                </c:ext>
              </c:extLst>
            </c:dLbl>
            <c:dLbl>
              <c:idx val="6"/>
              <c:layout>
                <c:manualLayout>
                  <c:x val="9.1286914367512975E-2"/>
                  <c:y val="3.7581580215252258E-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BFC-4B09-9BEC-906E625C6B5F}"/>
                </c:ext>
              </c:extLst>
            </c:dLbl>
            <c:dLbl>
              <c:idx val="7"/>
              <c:layout>
                <c:manualLayout>
                  <c:x val="7.3959973753280783E-2"/>
                  <c:y val="8.4875562720133283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7BFC-4B09-9BEC-906E625C6B5F}"/>
                </c:ext>
              </c:extLst>
            </c:dLbl>
            <c:dLbl>
              <c:idx val="8"/>
              <c:layout>
                <c:manualLayout>
                  <c:x val="7.2187007874015691E-2"/>
                  <c:y val="9.2596237970253726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7BFC-4B09-9BEC-906E625C6B5F}"/>
                </c:ext>
              </c:extLst>
            </c:dLbl>
            <c:dLbl>
              <c:idx val="9"/>
              <c:layout>
                <c:manualLayout>
                  <c:x val="6.2893435703662015E-2"/>
                  <c:y val="-1.0231736817287659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7BFC-4B09-9BEC-906E625C6B5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'2023 June'!$C$22:$C$31</c:f>
              <c:strCache>
                <c:ptCount val="10"/>
                <c:pt idx="0">
                  <c:v>PHIL SAVINGS BANK</c:v>
                </c:pt>
                <c:pt idx="1">
                  <c:v>CHINA BANK SAVINGS</c:v>
                </c:pt>
                <c:pt idx="2">
                  <c:v>PHIL BUSINESS BANK</c:v>
                </c:pt>
                <c:pt idx="3">
                  <c:v>CITY SAVINGS BANK</c:v>
                </c:pt>
                <c:pt idx="4">
                  <c:v>BANK OF MAKATI</c:v>
                </c:pt>
                <c:pt idx="5">
                  <c:v>STERLING BANK OF ASIA</c:v>
                </c:pt>
                <c:pt idx="6">
                  <c:v>BPI DIRECT BANKO</c:v>
                </c:pt>
                <c:pt idx="7">
                  <c:v>PRODUCERS SAVINGS BANK</c:v>
                </c:pt>
                <c:pt idx="8">
                  <c:v>FIRST CONSOLIDATED BANK</c:v>
                </c:pt>
                <c:pt idx="9">
                  <c:v>UCPB SAVINGS BANK</c:v>
                </c:pt>
              </c:strCache>
            </c:strRef>
          </c:cat>
          <c:val>
            <c:numRef>
              <c:f>'2023 June'!$D$22:$D$31</c:f>
              <c:numCache>
                <c:formatCode>#,##0</c:formatCode>
                <c:ptCount val="10"/>
                <c:pt idx="0">
                  <c:v>233245.11</c:v>
                </c:pt>
                <c:pt idx="1">
                  <c:v>139796.60999999999</c:v>
                </c:pt>
                <c:pt idx="2">
                  <c:v>137949.35</c:v>
                </c:pt>
                <c:pt idx="3">
                  <c:v>133783.35999999999</c:v>
                </c:pt>
                <c:pt idx="4">
                  <c:v>49571.08</c:v>
                </c:pt>
                <c:pt idx="5">
                  <c:v>39980.53</c:v>
                </c:pt>
                <c:pt idx="6">
                  <c:v>33357.800000000003</c:v>
                </c:pt>
                <c:pt idx="7">
                  <c:v>31398.34</c:v>
                </c:pt>
                <c:pt idx="8">
                  <c:v>25787.3</c:v>
                </c:pt>
                <c:pt idx="9">
                  <c:v>16242.62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7BFC-4B09-9BEC-906E625C6B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486738344"/>
        <c:axId val="486737168"/>
      </c:barChart>
      <c:catAx>
        <c:axId val="48673834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6737168"/>
        <c:crosses val="autoZero"/>
        <c:auto val="1"/>
        <c:lblAlgn val="ctr"/>
        <c:lblOffset val="100"/>
        <c:noMultiLvlLbl val="0"/>
      </c:catAx>
      <c:valAx>
        <c:axId val="486737168"/>
        <c:scaling>
          <c:orientation val="minMax"/>
        </c:scaling>
        <c:delete val="1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crossAx val="4867383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accent2">
        <a:lumMod val="20000"/>
        <a:lumOff val="80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chemeClr val="accent5">
                <a:lumMod val="75000"/>
              </a:schemeClr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4BA-4948-BEE5-583A75371C4C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5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4BA-4948-BEE5-583A75371C4C}"/>
              </c:ext>
            </c:extLst>
          </c:dPt>
          <c:dLbls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A4BA-4948-BEE5-583A75371C4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'June 2023'!$C$7:$C$11</c:f>
              <c:strCache>
                <c:ptCount val="5"/>
                <c:pt idx="0">
                  <c:v>PHIL BUSINESS BANK</c:v>
                </c:pt>
                <c:pt idx="1">
                  <c:v>STERLING BANK OF ASIA</c:v>
                </c:pt>
                <c:pt idx="2">
                  <c:v>BANK OF MAKATI</c:v>
                </c:pt>
                <c:pt idx="3">
                  <c:v>PRODUCERS SAVINGS BANK</c:v>
                </c:pt>
                <c:pt idx="4">
                  <c:v>FIRST CONSOLIDATED BANK</c:v>
                </c:pt>
              </c:strCache>
            </c:strRef>
          </c:cat>
          <c:val>
            <c:numRef>
              <c:f>'June 2023'!$D$7:$D$11</c:f>
              <c:numCache>
                <c:formatCode>#,##0</c:formatCode>
                <c:ptCount val="5"/>
                <c:pt idx="0">
                  <c:v>112091.75</c:v>
                </c:pt>
                <c:pt idx="1">
                  <c:v>33124.120000000003</c:v>
                </c:pt>
                <c:pt idx="2">
                  <c:v>30450</c:v>
                </c:pt>
                <c:pt idx="3">
                  <c:v>20390.599999999999</c:v>
                </c:pt>
                <c:pt idx="4">
                  <c:v>16440.71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4BA-4948-BEE5-583A75371C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44847288"/>
        <c:axId val="144847680"/>
      </c:barChart>
      <c:catAx>
        <c:axId val="14484728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4847680"/>
        <c:crosses val="autoZero"/>
        <c:auto val="1"/>
        <c:lblAlgn val="ctr"/>
        <c:lblOffset val="100"/>
        <c:noMultiLvlLbl val="0"/>
      </c:catAx>
      <c:valAx>
        <c:axId val="144847680"/>
        <c:scaling>
          <c:orientation val="minMax"/>
        </c:scaling>
        <c:delete val="1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crossAx val="1448472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rgbClr val="DAEDEF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chemeClr val="accent5">
                <a:lumMod val="75000"/>
              </a:schemeClr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5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787-481D-A666-866ECA0F236A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787-481D-A666-866ECA0F236A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5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787-481D-A666-866ECA0F236A}"/>
              </c:ext>
            </c:extLst>
          </c:dPt>
          <c:dLbls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F787-481D-A666-866ECA0F236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'June 2023'!$C$28:$C$32</c:f>
              <c:strCache>
                <c:ptCount val="5"/>
                <c:pt idx="0">
                  <c:v>PHIL BUSINESS BANK</c:v>
                </c:pt>
                <c:pt idx="1">
                  <c:v>BANK OF MAKATI</c:v>
                </c:pt>
                <c:pt idx="2">
                  <c:v>STERLING BANK OF ASIA</c:v>
                </c:pt>
                <c:pt idx="3">
                  <c:v>PRODUCERS SAVINGS BANK</c:v>
                </c:pt>
                <c:pt idx="4">
                  <c:v>FIRST CONSOLIDATED BANK</c:v>
                </c:pt>
              </c:strCache>
            </c:strRef>
          </c:cat>
          <c:val>
            <c:numRef>
              <c:f>'June 2023'!$D$28:$D$32</c:f>
              <c:numCache>
                <c:formatCode>#,##0</c:formatCode>
                <c:ptCount val="5"/>
                <c:pt idx="0">
                  <c:v>103149.78</c:v>
                </c:pt>
                <c:pt idx="1">
                  <c:v>32532.76</c:v>
                </c:pt>
                <c:pt idx="2">
                  <c:v>30174.15</c:v>
                </c:pt>
                <c:pt idx="3">
                  <c:v>21907.46</c:v>
                </c:pt>
                <c:pt idx="4">
                  <c:v>19461.439999999999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787-481D-A666-866ECA0F23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86736776"/>
        <c:axId val="486730896"/>
      </c:barChart>
      <c:catAx>
        <c:axId val="486736776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6730896"/>
        <c:crosses val="autoZero"/>
        <c:auto val="0"/>
        <c:lblAlgn val="ctr"/>
        <c:lblOffset val="100"/>
        <c:noMultiLvlLbl val="0"/>
      </c:catAx>
      <c:valAx>
        <c:axId val="486730896"/>
        <c:scaling>
          <c:orientation val="minMax"/>
        </c:scaling>
        <c:delete val="1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crossAx val="4867367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accent2">
        <a:lumMod val="20000"/>
        <a:lumOff val="80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chemeClr val="accent5">
                <a:lumMod val="75000"/>
              </a:schemeClr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5AFD-49A0-BBB2-4F0AA9F07388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5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FA9-4D2A-9DF3-FF9E46A76672}"/>
              </c:ext>
            </c:extLst>
          </c:dPt>
          <c:dLbls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5AFD-49A0-BBB2-4F0AA9F0738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'June 2023'!$C$40:$C$45</c:f>
              <c:strCache>
                <c:ptCount val="6"/>
                <c:pt idx="0">
                  <c:v>1st VALLEY BANK</c:v>
                </c:pt>
                <c:pt idx="1">
                  <c:v>STERLING BANK OF ASIA</c:v>
                </c:pt>
                <c:pt idx="2">
                  <c:v>PRODUCERS SAVINGS BANK</c:v>
                </c:pt>
                <c:pt idx="3">
                  <c:v>FIRST CONSOLIDATED BANK</c:v>
                </c:pt>
                <c:pt idx="4">
                  <c:v>PHIL BUSINESS BANK</c:v>
                </c:pt>
                <c:pt idx="5">
                  <c:v>BANK OF MAKATI</c:v>
                </c:pt>
              </c:strCache>
            </c:strRef>
          </c:cat>
          <c:val>
            <c:numRef>
              <c:f>'June 2023'!$D$40:$D$45</c:f>
              <c:numCache>
                <c:formatCode>#,##0</c:formatCode>
                <c:ptCount val="6"/>
                <c:pt idx="0">
                  <c:v>2589.14</c:v>
                </c:pt>
                <c:pt idx="1">
                  <c:v>3939.74</c:v>
                </c:pt>
                <c:pt idx="2">
                  <c:v>4323.3500000000004</c:v>
                </c:pt>
                <c:pt idx="3">
                  <c:v>6667.48</c:v>
                </c:pt>
                <c:pt idx="4">
                  <c:v>17142.009999999998</c:v>
                </c:pt>
                <c:pt idx="5">
                  <c:v>17377.900000000001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FA9-4D2A-9DF3-FF9E46A766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44848856"/>
        <c:axId val="106024032"/>
      </c:barChart>
      <c:catAx>
        <c:axId val="14484885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6024032"/>
        <c:crosses val="autoZero"/>
        <c:auto val="1"/>
        <c:lblAlgn val="ctr"/>
        <c:lblOffset val="100"/>
        <c:noMultiLvlLbl val="0"/>
      </c:catAx>
      <c:valAx>
        <c:axId val="106024032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crossAx val="1448488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rgbClr val="DAEDEF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0455914415634955"/>
          <c:y val="5.2501467560707407E-2"/>
          <c:w val="0.62988290219769438"/>
          <c:h val="0.89499706487858521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chemeClr val="accent5">
                <a:lumMod val="75000"/>
              </a:schemeClr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172-492D-A0CE-C84E071F5728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5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6172-492D-A0CE-C84E071F5728}"/>
              </c:ext>
            </c:extLst>
          </c:dPt>
          <c:dLbls>
            <c:dLbl>
              <c:idx val="0"/>
              <c:layout>
                <c:manualLayout>
                  <c:x val="0.34445483835264251"/>
                  <c:y val="1.2112205045273024E-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6172-492D-A0CE-C84E071F5728}"/>
                </c:ext>
              </c:extLst>
            </c:dLbl>
            <c:dLbl>
              <c:idx val="1"/>
              <c:layout>
                <c:manualLayout>
                  <c:x val="0.15977681005872274"/>
                  <c:y val="3.7581580215252258E-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172-492D-A0CE-C84E071F5728}"/>
                </c:ext>
              </c:extLst>
            </c:dLbl>
            <c:dLbl>
              <c:idx val="2"/>
              <c:layout>
                <c:manualLayout>
                  <c:x val="0.13250676596444874"/>
                  <c:y val="9.0607778864304676E-7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172-492D-A0CE-C84E071F5728}"/>
                </c:ext>
              </c:extLst>
            </c:dLbl>
            <c:dLbl>
              <c:idx val="3"/>
              <c:layout>
                <c:manualLayout>
                  <c:x val="0.11254440571196749"/>
                  <c:y val="1.2112205045096767E-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172-492D-A0CE-C84E071F5728}"/>
                </c:ext>
              </c:extLst>
            </c:dLbl>
            <c:dLbl>
              <c:idx val="4"/>
              <c:layout>
                <c:manualLayout>
                  <c:x val="0.10584601891114757"/>
                  <c:y val="6.0561025239584295E-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6172-492D-A0CE-C84E071F572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'June 2023'!$C$17:$C$21</c:f>
              <c:strCache>
                <c:ptCount val="5"/>
                <c:pt idx="0">
                  <c:v>PHIL BUSINESS BANK</c:v>
                </c:pt>
                <c:pt idx="1">
                  <c:v>BANK OF MAKATI</c:v>
                </c:pt>
                <c:pt idx="2">
                  <c:v>STERLING BANK OF ASIA</c:v>
                </c:pt>
                <c:pt idx="3">
                  <c:v>PRODUCERS SAVINGS BANK</c:v>
                </c:pt>
                <c:pt idx="4">
                  <c:v>FIRST CONSOLIDATED BANK</c:v>
                </c:pt>
              </c:strCache>
            </c:strRef>
          </c:cat>
          <c:val>
            <c:numRef>
              <c:f>'June 2023'!$D$17:$D$21</c:f>
              <c:numCache>
                <c:formatCode>#,##0</c:formatCode>
                <c:ptCount val="5"/>
                <c:pt idx="0">
                  <c:v>137949.35</c:v>
                </c:pt>
                <c:pt idx="1">
                  <c:v>49571.08</c:v>
                </c:pt>
                <c:pt idx="2">
                  <c:v>39980.53</c:v>
                </c:pt>
                <c:pt idx="3">
                  <c:v>31398.34</c:v>
                </c:pt>
                <c:pt idx="4">
                  <c:v>25787.3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6172-492D-A0CE-C84E071F57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44848464"/>
        <c:axId val="144853168"/>
      </c:barChart>
      <c:catAx>
        <c:axId val="14484846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4853168"/>
        <c:crosses val="autoZero"/>
        <c:auto val="1"/>
        <c:lblAlgn val="ctr"/>
        <c:lblOffset val="100"/>
        <c:noMultiLvlLbl val="0"/>
      </c:catAx>
      <c:valAx>
        <c:axId val="144853168"/>
        <c:scaling>
          <c:orientation val="minMax"/>
        </c:scaling>
        <c:delete val="1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crossAx val="1448484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accent2">
        <a:lumMod val="20000"/>
        <a:lumOff val="80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chemeClr val="accent1">
                <a:lumMod val="75000"/>
              </a:schemeClr>
            </a:solidFill>
            <a:ln>
              <a:noFill/>
            </a:ln>
            <a:effectLst/>
          </c:spPr>
          <c:invertIfNegative val="0"/>
          <c:dPt>
            <c:idx val="4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A17-4E49-A1C6-A4E3B9B38355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A17-4E49-A1C6-A4E3B9B38355}"/>
              </c:ext>
            </c:extLst>
          </c:dPt>
          <c:dLbls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0A17-4E49-A1C6-A4E3B9B3835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'2022'!$C$7:$C$16</c:f>
              <c:strCache>
                <c:ptCount val="10"/>
                <c:pt idx="0">
                  <c:v>PHIL SAVINGS BANK</c:v>
                </c:pt>
                <c:pt idx="1">
                  <c:v>PHIL BUSINESS BANK</c:v>
                </c:pt>
                <c:pt idx="2">
                  <c:v>CHINA BANK SAVINGS</c:v>
                </c:pt>
                <c:pt idx="3">
                  <c:v>CITY SAVINGS BANK</c:v>
                </c:pt>
                <c:pt idx="4">
                  <c:v>STERLING BANK OF ASIA</c:v>
                </c:pt>
                <c:pt idx="5">
                  <c:v>BANK OF MAKATI</c:v>
                </c:pt>
                <c:pt idx="6">
                  <c:v>PRODUCERS SAVINGS BANK</c:v>
                </c:pt>
                <c:pt idx="7">
                  <c:v>FIRST CONSOLIDATED BANK</c:v>
                </c:pt>
                <c:pt idx="8">
                  <c:v>UCPB SAVINGS BANK</c:v>
                </c:pt>
                <c:pt idx="9">
                  <c:v>BPI DIRECT BANKO</c:v>
                </c:pt>
              </c:strCache>
            </c:strRef>
          </c:cat>
          <c:val>
            <c:numRef>
              <c:f>'2022'!$D$7:$D$16</c:f>
              <c:numCache>
                <c:formatCode>#,##0</c:formatCode>
                <c:ptCount val="10"/>
                <c:pt idx="0">
                  <c:v>217073</c:v>
                </c:pt>
                <c:pt idx="1">
                  <c:v>111240.33</c:v>
                </c:pt>
                <c:pt idx="2">
                  <c:v>84080.22</c:v>
                </c:pt>
                <c:pt idx="3">
                  <c:v>64343.66</c:v>
                </c:pt>
                <c:pt idx="4">
                  <c:v>37729.89</c:v>
                </c:pt>
                <c:pt idx="5">
                  <c:v>33857.519999999997</c:v>
                </c:pt>
                <c:pt idx="6">
                  <c:v>19460.07</c:v>
                </c:pt>
                <c:pt idx="7">
                  <c:v>15636.7</c:v>
                </c:pt>
                <c:pt idx="8">
                  <c:v>15042.69</c:v>
                </c:pt>
                <c:pt idx="9">
                  <c:v>14141.06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A17-4E49-A1C6-A4E3B9B383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207581752"/>
        <c:axId val="207579008"/>
      </c:barChart>
      <c:catAx>
        <c:axId val="207581752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7579008"/>
        <c:crosses val="autoZero"/>
        <c:auto val="1"/>
        <c:lblAlgn val="ctr"/>
        <c:lblOffset val="100"/>
        <c:noMultiLvlLbl val="0"/>
      </c:catAx>
      <c:valAx>
        <c:axId val="207579008"/>
        <c:scaling>
          <c:orientation val="minMax"/>
        </c:scaling>
        <c:delete val="1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crossAx val="2075817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accent1">
        <a:lumMod val="20000"/>
        <a:lumOff val="80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chemeClr val="accent1">
                <a:lumMod val="75000"/>
              </a:schemeClr>
            </a:solidFill>
            <a:ln>
              <a:noFill/>
            </a:ln>
            <a:effectLst/>
          </c:spPr>
          <c:invertIfNegative val="0"/>
          <c:dPt>
            <c:idx val="4"/>
            <c:invertIfNegative val="0"/>
            <c:bubble3D val="0"/>
            <c:spPr>
              <a:solidFill>
                <a:schemeClr val="accent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B38-497C-BE4E-979CBE7E01BE}"/>
              </c:ext>
            </c:extLst>
          </c:dPt>
          <c:dPt>
            <c:idx val="5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1B38-497C-BE4E-979CBE7E01BE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1B38-497C-BE4E-979CBE7E01BE}"/>
              </c:ext>
            </c:extLst>
          </c:dPt>
          <c:dLbls>
            <c:dLbl>
              <c:idx val="0"/>
              <c:layout>
                <c:manualLayout>
                  <c:x val="0"/>
                  <c:y val="4.623893587824669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1B38-497C-BE4E-979CBE7E01BE}"/>
                </c:ext>
              </c:extLst>
            </c:dLbl>
            <c:dLbl>
              <c:idx val="5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1B38-497C-BE4E-979CBE7E01B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'2022'!$C$38:$C$46</c:f>
              <c:strCache>
                <c:ptCount val="9"/>
                <c:pt idx="0">
                  <c:v>PHIL SAVINGS BANK</c:v>
                </c:pt>
                <c:pt idx="1">
                  <c:v>PHIL BUSINESS BANK</c:v>
                </c:pt>
                <c:pt idx="2">
                  <c:v>CHINA BANK SAVINGS</c:v>
                </c:pt>
                <c:pt idx="3">
                  <c:v>CITY SAVINGS BANK</c:v>
                </c:pt>
                <c:pt idx="4">
                  <c:v>BANK OF MAKATI</c:v>
                </c:pt>
                <c:pt idx="5">
                  <c:v>STERLING BANK OF ASIA</c:v>
                </c:pt>
                <c:pt idx="6">
                  <c:v>PRODUCERS SAVINGS BANK</c:v>
                </c:pt>
                <c:pt idx="7">
                  <c:v>FIRST CONSOLIDATED BANK</c:v>
                </c:pt>
                <c:pt idx="8">
                  <c:v>BPI DIRECT BANKO</c:v>
                </c:pt>
              </c:strCache>
            </c:strRef>
          </c:cat>
          <c:val>
            <c:numRef>
              <c:f>'2022'!$D$38:$D$47</c:f>
              <c:numCache>
                <c:formatCode>#,##0</c:formatCode>
                <c:ptCount val="10"/>
                <c:pt idx="0">
                  <c:v>114034.05</c:v>
                </c:pt>
                <c:pt idx="1">
                  <c:v>86917.15</c:v>
                </c:pt>
                <c:pt idx="2">
                  <c:v>71290.44</c:v>
                </c:pt>
                <c:pt idx="3">
                  <c:v>62454.22</c:v>
                </c:pt>
                <c:pt idx="4">
                  <c:v>31128.76</c:v>
                </c:pt>
                <c:pt idx="5">
                  <c:v>30256.15</c:v>
                </c:pt>
                <c:pt idx="6">
                  <c:v>19461.759999999998</c:v>
                </c:pt>
                <c:pt idx="7">
                  <c:v>15098.8</c:v>
                </c:pt>
                <c:pt idx="8">
                  <c:v>12856.55</c:v>
                </c:pt>
                <c:pt idx="9">
                  <c:v>10826.55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1B38-497C-BE4E-979CBE7E01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76234160"/>
        <c:axId val="76230632"/>
      </c:barChart>
      <c:catAx>
        <c:axId val="7623416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6230632"/>
        <c:crosses val="autoZero"/>
        <c:auto val="0"/>
        <c:lblAlgn val="ctr"/>
        <c:lblOffset val="100"/>
        <c:noMultiLvlLbl val="0"/>
      </c:catAx>
      <c:valAx>
        <c:axId val="76230632"/>
        <c:scaling>
          <c:orientation val="minMax"/>
        </c:scaling>
        <c:delete val="1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crossAx val="762341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accent4">
        <a:lumMod val="20000"/>
        <a:lumOff val="80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chemeClr val="accent1">
                <a:lumMod val="75000"/>
              </a:schemeClr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chemeClr val="accent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18A-4EB9-A375-BC09D78CE35A}"/>
              </c:ext>
            </c:extLst>
          </c:dPt>
          <c:dPt>
            <c:idx val="3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18A-4EB9-A375-BC09D78CE35A}"/>
              </c:ext>
            </c:extLst>
          </c:dPt>
          <c:dLbls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B18A-4EB9-A375-BC09D78CE35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'2022'!$C$55:$C$64</c:f>
              <c:strCache>
                <c:ptCount val="10"/>
                <c:pt idx="0">
                  <c:v>1st VALLEY BANK</c:v>
                </c:pt>
                <c:pt idx="1">
                  <c:v>PRODUCERS SAVINGS BANK</c:v>
                </c:pt>
                <c:pt idx="2">
                  <c:v>BPI DIRECT BANKO</c:v>
                </c:pt>
                <c:pt idx="3">
                  <c:v>STERLING BANK OF ASIA</c:v>
                </c:pt>
                <c:pt idx="4">
                  <c:v>FIRST CONSOLIDATED BANK</c:v>
                </c:pt>
                <c:pt idx="5">
                  <c:v>CHINA BANK SAVINGS</c:v>
                </c:pt>
                <c:pt idx="6">
                  <c:v>BANK OF MAKATI</c:v>
                </c:pt>
                <c:pt idx="7">
                  <c:v>PHIL BUSINESS BANK</c:v>
                </c:pt>
                <c:pt idx="8">
                  <c:v>CITY SAVINGS BANK</c:v>
                </c:pt>
                <c:pt idx="9">
                  <c:v>PHIL SAVINGS BANK</c:v>
                </c:pt>
              </c:strCache>
            </c:strRef>
          </c:cat>
          <c:val>
            <c:numRef>
              <c:f>'2022'!$D$55:$D$64</c:f>
              <c:numCache>
                <c:formatCode>#,##0</c:formatCode>
                <c:ptCount val="10"/>
                <c:pt idx="0">
                  <c:v>2583.9699999999998</c:v>
                </c:pt>
                <c:pt idx="1">
                  <c:v>3308.63</c:v>
                </c:pt>
                <c:pt idx="2">
                  <c:v>3479.94</c:v>
                </c:pt>
                <c:pt idx="3">
                  <c:v>3520.97</c:v>
                </c:pt>
                <c:pt idx="4">
                  <c:v>6230.88</c:v>
                </c:pt>
                <c:pt idx="5">
                  <c:v>12218.24</c:v>
                </c:pt>
                <c:pt idx="6">
                  <c:v>13413.15</c:v>
                </c:pt>
                <c:pt idx="7">
                  <c:v>14118.89</c:v>
                </c:pt>
                <c:pt idx="8">
                  <c:v>16018.74</c:v>
                </c:pt>
                <c:pt idx="9">
                  <c:v>34040.93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18A-4EB9-A375-BC09D78CE3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310879279"/>
        <c:axId val="310879695"/>
      </c:barChart>
      <c:catAx>
        <c:axId val="31087927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10879695"/>
        <c:crosses val="autoZero"/>
        <c:auto val="1"/>
        <c:lblAlgn val="ctr"/>
        <c:lblOffset val="100"/>
        <c:noMultiLvlLbl val="0"/>
      </c:catAx>
      <c:valAx>
        <c:axId val="310879695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crossAx val="3108792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accent1">
        <a:lumMod val="20000"/>
        <a:lumOff val="80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0455914415634955"/>
          <c:y val="5.2501467560707407E-2"/>
          <c:w val="0.5661106552949805"/>
          <c:h val="0.89499706487858521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chemeClr val="accent1">
                <a:lumMod val="75000"/>
              </a:schemeClr>
            </a:solidFill>
            <a:ln>
              <a:noFill/>
            </a:ln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463-4CF6-8433-3268EDDAEAEA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463-4CF6-8433-3268EDDAEAEA}"/>
              </c:ext>
            </c:extLst>
          </c:dPt>
          <c:dLbls>
            <c:dLbl>
              <c:idx val="0"/>
              <c:layout>
                <c:manualLayout>
                  <c:x val="0.34228194348454277"/>
                  <c:y val="1.4329104904471387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2325685273349575"/>
                      <c:h val="8.584008736965767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5463-4CF6-8433-3268EDDAEAEA}"/>
                </c:ext>
              </c:extLst>
            </c:dLbl>
            <c:dLbl>
              <c:idx val="1"/>
              <c:layout>
                <c:manualLayout>
                  <c:x val="0.28599687752099229"/>
                  <c:y val="3.6513447722353483E-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463-4CF6-8433-3268EDDAEAEA}"/>
                </c:ext>
              </c:extLst>
            </c:dLbl>
            <c:dLbl>
              <c:idx val="2"/>
              <c:layout>
                <c:manualLayout>
                  <c:x val="0.1838010379562274"/>
                  <c:y val="4.6304264983212306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5463-4CF6-8433-3268EDDAEAEA}"/>
                </c:ext>
              </c:extLst>
            </c:dLbl>
            <c:dLbl>
              <c:idx val="3"/>
              <c:layout>
                <c:manualLayout>
                  <c:x val="0.14430686789151345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463-4CF6-8433-3268EDDAEAEA}"/>
                </c:ext>
              </c:extLst>
            </c:dLbl>
            <c:dLbl>
              <c:idx val="4"/>
              <c:layout>
                <c:manualLayout>
                  <c:x val="0.15977681005872274"/>
                  <c:y val="3.7581580215252258E-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5463-4CF6-8433-3268EDDAEAEA}"/>
                </c:ext>
              </c:extLst>
            </c:dLbl>
            <c:dLbl>
              <c:idx val="5"/>
              <c:layout>
                <c:manualLayout>
                  <c:x val="9.3201006124234417E-2"/>
                  <c:y val="8.4875562720133283E-17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463-4CF6-8433-3268EDDAEAEA}"/>
                </c:ext>
              </c:extLst>
            </c:dLbl>
            <c:dLbl>
              <c:idx val="6"/>
              <c:layout>
                <c:manualLayout>
                  <c:x val="9.1286914367512975E-2"/>
                  <c:y val="3.7581580215252258E-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463-4CF6-8433-3268EDDAEAEA}"/>
                </c:ext>
              </c:extLst>
            </c:dLbl>
            <c:dLbl>
              <c:idx val="7"/>
              <c:layout>
                <c:manualLayout>
                  <c:x val="7.3959973753280783E-2"/>
                  <c:y val="8.4875562720133283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5463-4CF6-8433-3268EDDAEAEA}"/>
                </c:ext>
              </c:extLst>
            </c:dLbl>
            <c:dLbl>
              <c:idx val="8"/>
              <c:layout>
                <c:manualLayout>
                  <c:x val="7.2187007874015691E-2"/>
                  <c:y val="9.2596237970253726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5463-4CF6-8433-3268EDDAEAEA}"/>
                </c:ext>
              </c:extLst>
            </c:dLbl>
            <c:dLbl>
              <c:idx val="9"/>
              <c:layout>
                <c:manualLayout>
                  <c:x val="7.7479440069991204E-2"/>
                  <c:y val="4.6296296296297994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5463-4CF6-8433-3268EDDAEAE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'2022'!$C$22:$C$31</c:f>
              <c:strCache>
                <c:ptCount val="10"/>
                <c:pt idx="0">
                  <c:v>PHIL SAVINGS BANK</c:v>
                </c:pt>
                <c:pt idx="1">
                  <c:v>PHIL BUSINESS BANK</c:v>
                </c:pt>
                <c:pt idx="2">
                  <c:v>CITY SAVINGS BANK</c:v>
                </c:pt>
                <c:pt idx="3">
                  <c:v>CHINA BANK SAVINGS</c:v>
                </c:pt>
                <c:pt idx="4">
                  <c:v>BANK OF MAKATI</c:v>
                </c:pt>
                <c:pt idx="5">
                  <c:v>STERLING BANK OF ASIA</c:v>
                </c:pt>
                <c:pt idx="6">
                  <c:v>PRODUCERS SAVINGS BANK</c:v>
                </c:pt>
                <c:pt idx="7">
                  <c:v>FIRST CONSOLIDATED BANK</c:v>
                </c:pt>
                <c:pt idx="8">
                  <c:v>BPI DIRECT BANKO</c:v>
                </c:pt>
                <c:pt idx="9">
                  <c:v>UCPB SAVINGS BANK</c:v>
                </c:pt>
              </c:strCache>
            </c:strRef>
          </c:cat>
          <c:val>
            <c:numRef>
              <c:f>'2022'!$D$22:$D$31</c:f>
              <c:numCache>
                <c:formatCode>#,##0</c:formatCode>
                <c:ptCount val="10"/>
                <c:pt idx="0">
                  <c:v>262074.92</c:v>
                </c:pt>
                <c:pt idx="1">
                  <c:v>132270.67000000001</c:v>
                </c:pt>
                <c:pt idx="2">
                  <c:v>110809.68</c:v>
                </c:pt>
                <c:pt idx="3">
                  <c:v>99498.31</c:v>
                </c:pt>
                <c:pt idx="4">
                  <c:v>49303.56</c:v>
                </c:pt>
                <c:pt idx="5">
                  <c:v>44338.93</c:v>
                </c:pt>
                <c:pt idx="6">
                  <c:v>28304.29</c:v>
                </c:pt>
                <c:pt idx="7">
                  <c:v>22489.97</c:v>
                </c:pt>
                <c:pt idx="8">
                  <c:v>19016.98</c:v>
                </c:pt>
                <c:pt idx="9">
                  <c:v>17730.68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5463-4CF6-8433-3268EDDAEA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60159560"/>
        <c:axId val="207577832"/>
      </c:barChart>
      <c:catAx>
        <c:axId val="16015956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7577832"/>
        <c:crosses val="autoZero"/>
        <c:auto val="1"/>
        <c:lblAlgn val="ctr"/>
        <c:lblOffset val="100"/>
        <c:noMultiLvlLbl val="0"/>
      </c:catAx>
      <c:valAx>
        <c:axId val="207577832"/>
        <c:scaling>
          <c:orientation val="minMax"/>
        </c:scaling>
        <c:delete val="1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crossAx val="1601595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accent4">
        <a:lumMod val="20000"/>
        <a:lumOff val="80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0455914415634955"/>
          <c:y val="5.2501467560707407E-2"/>
          <c:w val="0.5661106552949805"/>
          <c:h val="0.89499706487858521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chemeClr val="accent5">
                <a:lumMod val="75000"/>
              </a:schemeClr>
            </a:solidFill>
            <a:ln>
              <a:noFill/>
            </a:ln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rgbClr val="FDBA2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665-42C7-BAB9-C714E123FD85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5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6665-42C7-BAB9-C714E123FD85}"/>
              </c:ext>
            </c:extLst>
          </c:dPt>
          <c:dLbls>
            <c:dLbl>
              <c:idx val="0"/>
              <c:layout>
                <c:manualLayout>
                  <c:x val="0.34228194348454277"/>
                  <c:y val="1.4329104904471387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2325685273349575"/>
                      <c:h val="8.584008736965767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6665-42C7-BAB9-C714E123FD85}"/>
                </c:ext>
              </c:extLst>
            </c:dLbl>
            <c:dLbl>
              <c:idx val="1"/>
              <c:layout>
                <c:manualLayout>
                  <c:x val="0.28599687752099229"/>
                  <c:y val="3.6513447722353483E-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665-42C7-BAB9-C714E123FD85}"/>
                </c:ext>
              </c:extLst>
            </c:dLbl>
            <c:dLbl>
              <c:idx val="2"/>
              <c:layout>
                <c:manualLayout>
                  <c:x val="0.16623613977772986"/>
                  <c:y val="3.7581580215252258E-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6665-42C7-BAB9-C714E123FD85}"/>
                </c:ext>
              </c:extLst>
            </c:dLbl>
            <c:dLbl>
              <c:idx val="3"/>
              <c:layout>
                <c:manualLayout>
                  <c:x val="0.16651183814644743"/>
                  <c:y val="1.4318582062011155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665-42C7-BAB9-C714E123FD85}"/>
                </c:ext>
              </c:extLst>
            </c:dLbl>
            <c:dLbl>
              <c:idx val="4"/>
              <c:layout>
                <c:manualLayout>
                  <c:x val="0.15977681005872274"/>
                  <c:y val="3.7581580215252258E-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6665-42C7-BAB9-C714E123FD85}"/>
                </c:ext>
              </c:extLst>
            </c:dLbl>
            <c:dLbl>
              <c:idx val="5"/>
              <c:layout>
                <c:manualLayout>
                  <c:x val="9.3201006124234417E-2"/>
                  <c:y val="8.4875562720133283E-17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665-42C7-BAB9-C714E123FD85}"/>
                </c:ext>
              </c:extLst>
            </c:dLbl>
            <c:dLbl>
              <c:idx val="6"/>
              <c:layout>
                <c:manualLayout>
                  <c:x val="9.1286914367512975E-2"/>
                  <c:y val="3.7581580215252258E-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665-42C7-BAB9-C714E123FD85}"/>
                </c:ext>
              </c:extLst>
            </c:dLbl>
            <c:dLbl>
              <c:idx val="7"/>
              <c:layout>
                <c:manualLayout>
                  <c:x val="7.3959973753280783E-2"/>
                  <c:y val="8.4875562720133283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6665-42C7-BAB9-C714E123FD85}"/>
                </c:ext>
              </c:extLst>
            </c:dLbl>
            <c:dLbl>
              <c:idx val="8"/>
              <c:layout>
                <c:manualLayout>
                  <c:x val="7.2187007874015691E-2"/>
                  <c:y val="9.2596237970253726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6665-42C7-BAB9-C714E123FD85}"/>
                </c:ext>
              </c:extLst>
            </c:dLbl>
            <c:dLbl>
              <c:idx val="9"/>
              <c:layout>
                <c:manualLayout>
                  <c:x val="7.7479440069991204E-2"/>
                  <c:y val="4.6296296296297994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6665-42C7-BAB9-C714E123FD8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'2023 March'!$C$22:$C$31</c:f>
              <c:strCache>
                <c:ptCount val="10"/>
                <c:pt idx="0">
                  <c:v>PHIL SAVINGS BANK</c:v>
                </c:pt>
                <c:pt idx="1">
                  <c:v>PHIL BUSINESS BANK</c:v>
                </c:pt>
                <c:pt idx="2">
                  <c:v>CHINA BANK SAVINGS</c:v>
                </c:pt>
                <c:pt idx="3">
                  <c:v>CITY SAVINGS BANK</c:v>
                </c:pt>
                <c:pt idx="4">
                  <c:v>BANK OF MAKATI</c:v>
                </c:pt>
                <c:pt idx="5">
                  <c:v>STERLING BANK OF ASIA</c:v>
                </c:pt>
                <c:pt idx="6">
                  <c:v>PRODUCERS SAVINGS BANK</c:v>
                </c:pt>
                <c:pt idx="7">
                  <c:v>BPI DIRECT BANKO</c:v>
                </c:pt>
                <c:pt idx="8">
                  <c:v>FIRST CONSOLIDATED BANK</c:v>
                </c:pt>
                <c:pt idx="9">
                  <c:v>UCPB SAVINGS BANK</c:v>
                </c:pt>
              </c:strCache>
            </c:strRef>
          </c:cat>
          <c:val>
            <c:numRef>
              <c:f>'2023 March'!$D$22:$D$31</c:f>
              <c:numCache>
                <c:formatCode>#,##0</c:formatCode>
                <c:ptCount val="10"/>
                <c:pt idx="0">
                  <c:v>254286.35</c:v>
                </c:pt>
                <c:pt idx="1">
                  <c:v>135626.98000000001</c:v>
                </c:pt>
                <c:pt idx="2">
                  <c:v>132676.87</c:v>
                </c:pt>
                <c:pt idx="3">
                  <c:v>131915.74</c:v>
                </c:pt>
                <c:pt idx="4">
                  <c:v>49745.45</c:v>
                </c:pt>
                <c:pt idx="5">
                  <c:v>40183.599999999999</c:v>
                </c:pt>
                <c:pt idx="6">
                  <c:v>31008.55</c:v>
                </c:pt>
                <c:pt idx="7">
                  <c:v>27260.92</c:v>
                </c:pt>
                <c:pt idx="8">
                  <c:v>24846.39</c:v>
                </c:pt>
                <c:pt idx="9">
                  <c:v>15919.09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6665-42C7-BAB9-C714E123FD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486738344"/>
        <c:axId val="486737168"/>
      </c:barChart>
      <c:catAx>
        <c:axId val="48673834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6737168"/>
        <c:crosses val="autoZero"/>
        <c:auto val="1"/>
        <c:lblAlgn val="ctr"/>
        <c:lblOffset val="100"/>
        <c:noMultiLvlLbl val="0"/>
      </c:catAx>
      <c:valAx>
        <c:axId val="486737168"/>
        <c:scaling>
          <c:orientation val="minMax"/>
        </c:scaling>
        <c:delete val="1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crossAx val="4867383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accent2">
        <a:lumMod val="20000"/>
        <a:lumOff val="80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chemeClr val="accent5">
                <a:lumMod val="75000"/>
              </a:schemeClr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rgbClr val="FDBA2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5CA-4C9C-9CDE-712A13497483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5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5CA-4C9C-9CDE-712A13497483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5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D5CA-4C9C-9CDE-712A13497483}"/>
              </c:ext>
            </c:extLst>
          </c:dPt>
          <c:dLbls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D5CA-4C9C-9CDE-712A1349748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'2023 March'!$C$55:$C$64</c:f>
              <c:strCache>
                <c:ptCount val="10"/>
                <c:pt idx="0">
                  <c:v>1st VALLEY BANK</c:v>
                </c:pt>
                <c:pt idx="1">
                  <c:v>STERLING BANK OF ASIA</c:v>
                </c:pt>
                <c:pt idx="2">
                  <c:v>PRODUCERS SAVINGS BANK</c:v>
                </c:pt>
                <c:pt idx="3">
                  <c:v>BPI DIRECT BANKO</c:v>
                </c:pt>
                <c:pt idx="4">
                  <c:v>FIRST CONSOLIDATED BANK</c:v>
                </c:pt>
                <c:pt idx="5">
                  <c:v>CHINA BANK SAVINGS</c:v>
                </c:pt>
                <c:pt idx="6">
                  <c:v>BANK OF MAKATI</c:v>
                </c:pt>
                <c:pt idx="7">
                  <c:v>PHIL BUSINESS BANK</c:v>
                </c:pt>
                <c:pt idx="8">
                  <c:v>CITY SAVINGS BANK</c:v>
                </c:pt>
                <c:pt idx="9">
                  <c:v>PHIL SAVINGS BANK</c:v>
                </c:pt>
              </c:strCache>
            </c:strRef>
          </c:cat>
          <c:val>
            <c:numRef>
              <c:f>'2023 March'!$D$55:$D$64</c:f>
              <c:numCache>
                <c:formatCode>#,##0</c:formatCode>
                <c:ptCount val="10"/>
                <c:pt idx="0">
                  <c:v>2567.19</c:v>
                </c:pt>
                <c:pt idx="1">
                  <c:v>3886.22</c:v>
                </c:pt>
                <c:pt idx="2">
                  <c:v>4081.5</c:v>
                </c:pt>
                <c:pt idx="3">
                  <c:v>4483.8900000000003</c:v>
                </c:pt>
                <c:pt idx="4">
                  <c:v>6463.13</c:v>
                </c:pt>
                <c:pt idx="5">
                  <c:v>14078.34</c:v>
                </c:pt>
                <c:pt idx="6">
                  <c:v>16656.310000000001</c:v>
                </c:pt>
                <c:pt idx="7">
                  <c:v>16827.09</c:v>
                </c:pt>
                <c:pt idx="8">
                  <c:v>18519.63</c:v>
                </c:pt>
                <c:pt idx="9">
                  <c:v>36334.589999999997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5CA-4C9C-9CDE-712A134974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486739128"/>
        <c:axId val="486740304"/>
      </c:barChart>
      <c:catAx>
        <c:axId val="48673912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6740304"/>
        <c:crosses val="autoZero"/>
        <c:auto val="1"/>
        <c:lblAlgn val="ctr"/>
        <c:lblOffset val="100"/>
        <c:noMultiLvlLbl val="0"/>
      </c:catAx>
      <c:valAx>
        <c:axId val="486740304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crossAx val="4867391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rgbClr val="DAEDEF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chemeClr val="accent5">
                <a:lumMod val="75000"/>
              </a:schemeClr>
            </a:solidFill>
            <a:ln>
              <a:noFill/>
            </a:ln>
            <a:effectLst/>
          </c:spPr>
          <c:invertIfNegative val="0"/>
          <c:dPt>
            <c:idx val="4"/>
            <c:invertIfNegative val="0"/>
            <c:bubble3D val="0"/>
            <c:spPr>
              <a:solidFill>
                <a:schemeClr val="accent5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6C0-4218-82E6-463C960A340B}"/>
              </c:ext>
            </c:extLst>
          </c:dPt>
          <c:dPt>
            <c:idx val="5"/>
            <c:invertIfNegative val="0"/>
            <c:bubble3D val="0"/>
            <c:spPr>
              <a:solidFill>
                <a:srgbClr val="FDBA2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6C0-4218-82E6-463C960A340B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5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A6C0-4218-82E6-463C960A340B}"/>
              </c:ext>
            </c:extLst>
          </c:dPt>
          <c:dLbls>
            <c:dLbl>
              <c:idx val="0"/>
              <c:layout>
                <c:manualLayout>
                  <c:x val="0"/>
                  <c:y val="4.623893587824669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A6C0-4218-82E6-463C960A340B}"/>
                </c:ext>
              </c:extLst>
            </c:dLbl>
            <c:dLbl>
              <c:idx val="5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A6C0-4218-82E6-463C960A340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'2023 March'!$C$38:$C$47</c:f>
              <c:strCache>
                <c:ptCount val="10"/>
                <c:pt idx="0">
                  <c:v>PHIL SAVINGS BANK</c:v>
                </c:pt>
                <c:pt idx="1">
                  <c:v>PHIL BUSINESS BANK</c:v>
                </c:pt>
                <c:pt idx="2">
                  <c:v>CHINA BANK SAVINGS</c:v>
                </c:pt>
                <c:pt idx="3">
                  <c:v>CITY SAVINGS BANK</c:v>
                </c:pt>
                <c:pt idx="4">
                  <c:v>BANK OF MAKATI</c:v>
                </c:pt>
                <c:pt idx="5">
                  <c:v>STERLING BANK OF ASIA</c:v>
                </c:pt>
                <c:pt idx="6">
                  <c:v>PRODUCERS SAVINGS BANK</c:v>
                </c:pt>
                <c:pt idx="7">
                  <c:v>BPI DIRECT BANKO</c:v>
                </c:pt>
                <c:pt idx="8">
                  <c:v>FIRST CONSOLIDATED BANK</c:v>
                </c:pt>
                <c:pt idx="9">
                  <c:v>UCPB SAVINGS BANK</c:v>
                </c:pt>
              </c:strCache>
            </c:strRef>
          </c:cat>
          <c:val>
            <c:numRef>
              <c:f>'2023 March'!$D$38:$D$47</c:f>
              <c:numCache>
                <c:formatCode>#,##0</c:formatCode>
                <c:ptCount val="10"/>
                <c:pt idx="0">
                  <c:v>122661.21</c:v>
                </c:pt>
                <c:pt idx="1">
                  <c:v>102849.26</c:v>
                </c:pt>
                <c:pt idx="2">
                  <c:v>97063.55</c:v>
                </c:pt>
                <c:pt idx="3">
                  <c:v>91757.84</c:v>
                </c:pt>
                <c:pt idx="4">
                  <c:v>32958.870000000003</c:v>
                </c:pt>
                <c:pt idx="5">
                  <c:v>31008.45</c:v>
                </c:pt>
                <c:pt idx="6">
                  <c:v>21538.38</c:v>
                </c:pt>
                <c:pt idx="7">
                  <c:v>19293.45</c:v>
                </c:pt>
                <c:pt idx="8">
                  <c:v>19205.990000000002</c:v>
                </c:pt>
                <c:pt idx="9">
                  <c:v>10844.02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A6C0-4218-82E6-463C960A34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86727760"/>
        <c:axId val="486728152"/>
      </c:barChart>
      <c:catAx>
        <c:axId val="48672776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6728152"/>
        <c:crosses val="autoZero"/>
        <c:auto val="0"/>
        <c:lblAlgn val="ctr"/>
        <c:lblOffset val="100"/>
        <c:noMultiLvlLbl val="0"/>
      </c:catAx>
      <c:valAx>
        <c:axId val="486728152"/>
        <c:scaling>
          <c:orientation val="minMax"/>
        </c:scaling>
        <c:delete val="1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crossAx val="4867277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accent2">
        <a:lumMod val="20000"/>
        <a:lumOff val="80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chemeClr val="accent5">
                <a:lumMod val="75000"/>
              </a:schemeClr>
            </a:solidFill>
            <a:ln>
              <a:noFill/>
            </a:ln>
            <a:effectLst/>
          </c:spPr>
          <c:invertIfNegative val="0"/>
          <c:dPt>
            <c:idx val="4"/>
            <c:invertIfNegative val="0"/>
            <c:bubble3D val="0"/>
            <c:spPr>
              <a:solidFill>
                <a:srgbClr val="FDBA2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EB1-4346-82E3-FD465578CD2B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5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EB1-4346-82E3-FD465578CD2B}"/>
              </c:ext>
            </c:extLst>
          </c:dPt>
          <c:dLbls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BEB1-4346-82E3-FD465578CD2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'2023 March'!$C$7:$C$16</c:f>
              <c:strCache>
                <c:ptCount val="10"/>
                <c:pt idx="0">
                  <c:v>PHIL SAVINGS BANK</c:v>
                </c:pt>
                <c:pt idx="1">
                  <c:v>CHINA BANK SAVINGS</c:v>
                </c:pt>
                <c:pt idx="2">
                  <c:v>PHIL BUSINESS BANK</c:v>
                </c:pt>
                <c:pt idx="3">
                  <c:v>CITY SAVINGS BANK</c:v>
                </c:pt>
                <c:pt idx="4">
                  <c:v>STERLING BANK OF ASIA</c:v>
                </c:pt>
                <c:pt idx="5">
                  <c:v>BANK OF MAKATI</c:v>
                </c:pt>
                <c:pt idx="6">
                  <c:v>PRODUCERS SAVINGS BANK</c:v>
                </c:pt>
                <c:pt idx="7">
                  <c:v>BPI DIRECT BANKO</c:v>
                </c:pt>
                <c:pt idx="8">
                  <c:v>FIRST CONSOLIDATED BANK</c:v>
                </c:pt>
                <c:pt idx="9">
                  <c:v>UCPB SAVING BANK</c:v>
                </c:pt>
              </c:strCache>
            </c:strRef>
          </c:cat>
          <c:val>
            <c:numRef>
              <c:f>'2023 March'!$D$7:$D$16</c:f>
              <c:numCache>
                <c:formatCode>#,##0</c:formatCode>
                <c:ptCount val="10"/>
                <c:pt idx="0">
                  <c:v>209818.9</c:v>
                </c:pt>
                <c:pt idx="1">
                  <c:v>114805.18</c:v>
                </c:pt>
                <c:pt idx="2">
                  <c:v>110982.42</c:v>
                </c:pt>
                <c:pt idx="3">
                  <c:v>78076.600000000006</c:v>
                </c:pt>
                <c:pt idx="4">
                  <c:v>33238.730000000003</c:v>
                </c:pt>
                <c:pt idx="5">
                  <c:v>31062.69</c:v>
                </c:pt>
                <c:pt idx="6">
                  <c:v>19907.32</c:v>
                </c:pt>
                <c:pt idx="7">
                  <c:v>19861.7</c:v>
                </c:pt>
                <c:pt idx="8">
                  <c:v>16335.64</c:v>
                </c:pt>
                <c:pt idx="9">
                  <c:v>13165.18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EB1-4346-82E3-FD465578CD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486739912"/>
        <c:axId val="486739520"/>
      </c:barChart>
      <c:catAx>
        <c:axId val="486739912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6739520"/>
        <c:crosses val="autoZero"/>
        <c:auto val="1"/>
        <c:lblAlgn val="ctr"/>
        <c:lblOffset val="100"/>
        <c:noMultiLvlLbl val="0"/>
      </c:catAx>
      <c:valAx>
        <c:axId val="486739520"/>
        <c:scaling>
          <c:orientation val="minMax"/>
        </c:scaling>
        <c:delete val="1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crossAx val="4867399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rgbClr val="DAEDEF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chemeClr val="accent1">
                <a:lumMod val="75000"/>
              </a:schemeClr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A76-4771-A3E3-AD17638CDB70}"/>
              </c:ext>
            </c:extLst>
          </c:dPt>
          <c:dLbls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DA76-4771-A3E3-AD17638CDB7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'2022 (2)'!$C$40:$C$45</c:f>
              <c:strCache>
                <c:ptCount val="6"/>
                <c:pt idx="0">
                  <c:v>1st VALLEY BANK</c:v>
                </c:pt>
                <c:pt idx="1">
                  <c:v>PRODUCERS SAVINGS BANK</c:v>
                </c:pt>
                <c:pt idx="2">
                  <c:v>STERLING BANK OF ASIA</c:v>
                </c:pt>
                <c:pt idx="3">
                  <c:v>FIRST CONSOLIDATED BANK</c:v>
                </c:pt>
                <c:pt idx="4">
                  <c:v>BANK OF MAKATI</c:v>
                </c:pt>
                <c:pt idx="5">
                  <c:v>PHIL BUSINESS BANK</c:v>
                </c:pt>
              </c:strCache>
            </c:strRef>
          </c:cat>
          <c:val>
            <c:numRef>
              <c:f>'2022 (2)'!$D$40:$D$45</c:f>
              <c:numCache>
                <c:formatCode>#,##0</c:formatCode>
                <c:ptCount val="6"/>
                <c:pt idx="0">
                  <c:v>2583.9699999999998</c:v>
                </c:pt>
                <c:pt idx="1">
                  <c:v>3308.63</c:v>
                </c:pt>
                <c:pt idx="2">
                  <c:v>3520.97</c:v>
                </c:pt>
                <c:pt idx="3">
                  <c:v>6230.88</c:v>
                </c:pt>
                <c:pt idx="4">
                  <c:v>13413.15</c:v>
                </c:pt>
                <c:pt idx="5">
                  <c:v>14118.89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A76-4771-A3E3-AD17638CDB7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310879279"/>
        <c:axId val="310879695"/>
      </c:barChart>
      <c:catAx>
        <c:axId val="31087927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10879695"/>
        <c:crosses val="autoZero"/>
        <c:auto val="1"/>
        <c:lblAlgn val="ctr"/>
        <c:lblOffset val="100"/>
        <c:noMultiLvlLbl val="0"/>
      </c:catAx>
      <c:valAx>
        <c:axId val="310879695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crossAx val="3108792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accent4">
        <a:lumMod val="20000"/>
        <a:lumOff val="80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chemeClr val="accent1">
                <a:lumMod val="75000"/>
              </a:schemeClr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C21-4D23-ABE3-C88DF3BE4BF6}"/>
              </c:ext>
            </c:extLst>
          </c:dPt>
          <c:dPt>
            <c:idx val="2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C21-4D23-ABE3-C88DF3BE4BF6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0C21-4D23-ABE3-C88DF3BE4BF6}"/>
              </c:ext>
            </c:extLst>
          </c:dPt>
          <c:dLbls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0C21-4D23-ABE3-C88DF3BE4BF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'2022 (2)'!$C$28:$C$32</c:f>
              <c:strCache>
                <c:ptCount val="5"/>
                <c:pt idx="0">
                  <c:v>PHIL BUSINESS BANK</c:v>
                </c:pt>
                <c:pt idx="1">
                  <c:v>BANK OF MAKATI</c:v>
                </c:pt>
                <c:pt idx="2">
                  <c:v>STERLING BANK OF ASIA</c:v>
                </c:pt>
                <c:pt idx="3">
                  <c:v>PRODUCERS SAVINGS BANK</c:v>
                </c:pt>
                <c:pt idx="4">
                  <c:v>FIRST CONSOLIDATED BANK</c:v>
                </c:pt>
              </c:strCache>
            </c:strRef>
          </c:cat>
          <c:val>
            <c:numRef>
              <c:f>'2022 (2)'!$D$28:$D$32</c:f>
              <c:numCache>
                <c:formatCode>#,##0</c:formatCode>
                <c:ptCount val="5"/>
                <c:pt idx="0">
                  <c:v>86917.15</c:v>
                </c:pt>
                <c:pt idx="1">
                  <c:v>31128.76</c:v>
                </c:pt>
                <c:pt idx="2">
                  <c:v>30256.15</c:v>
                </c:pt>
                <c:pt idx="3">
                  <c:v>19461.759999999998</c:v>
                </c:pt>
                <c:pt idx="4">
                  <c:v>15098.8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C21-4D23-ABE3-C88DF3BE4B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76234160"/>
        <c:axId val="76230632"/>
      </c:barChart>
      <c:catAx>
        <c:axId val="7623416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6230632"/>
        <c:crosses val="autoZero"/>
        <c:auto val="0"/>
        <c:lblAlgn val="ctr"/>
        <c:lblOffset val="100"/>
        <c:noMultiLvlLbl val="0"/>
      </c:catAx>
      <c:valAx>
        <c:axId val="76230632"/>
        <c:scaling>
          <c:orientation val="minMax"/>
        </c:scaling>
        <c:delete val="1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crossAx val="76234160"/>
        <c:crosses val="autoZero"/>
        <c:crossBetween val="between"/>
      </c:valAx>
      <c:spPr>
        <a:solidFill>
          <a:schemeClr val="accent1">
            <a:lumMod val="20000"/>
            <a:lumOff val="80000"/>
          </a:schemeClr>
        </a:solidFill>
        <a:ln>
          <a:noFill/>
        </a:ln>
        <a:effectLst/>
      </c:spPr>
    </c:plotArea>
    <c:plotVisOnly val="1"/>
    <c:dispBlanksAs val="gap"/>
    <c:showDLblsOverMax val="0"/>
  </c:chart>
  <c:spPr>
    <a:solidFill>
      <a:schemeClr val="accent1">
        <a:lumMod val="20000"/>
        <a:lumOff val="80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0455914415634955"/>
          <c:y val="5.2501467560707407E-2"/>
          <c:w val="0.62988290219769438"/>
          <c:h val="0.89499706487858521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chemeClr val="accent1">
                <a:lumMod val="75000"/>
              </a:schemeClr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FFC62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37A-43F7-9CE3-27AF9C43986A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37A-43F7-9CE3-27AF9C43986A}"/>
              </c:ext>
            </c:extLst>
          </c:dPt>
          <c:dLbls>
            <c:dLbl>
              <c:idx val="0"/>
              <c:layout>
                <c:manualLayout>
                  <c:x val="0.34445483835264251"/>
                  <c:y val="1.2112205045273024E-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D37A-43F7-9CE3-27AF9C43986A}"/>
                </c:ext>
              </c:extLst>
            </c:dLbl>
            <c:dLbl>
              <c:idx val="1"/>
              <c:layout>
                <c:manualLayout>
                  <c:x val="0.15977681005872274"/>
                  <c:y val="3.7581580215252258E-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37A-43F7-9CE3-27AF9C43986A}"/>
                </c:ext>
              </c:extLst>
            </c:dLbl>
            <c:dLbl>
              <c:idx val="2"/>
              <c:layout>
                <c:manualLayout>
                  <c:x val="0.17291629746904955"/>
                  <c:y val="6.0561025225483833E-7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37A-43F7-9CE3-27AF9C43986A}"/>
                </c:ext>
              </c:extLst>
            </c:dLbl>
            <c:dLbl>
              <c:idx val="3"/>
              <c:layout>
                <c:manualLayout>
                  <c:x val="0.11254440571196749"/>
                  <c:y val="1.2112205045096767E-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37A-43F7-9CE3-27AF9C43986A}"/>
                </c:ext>
              </c:extLst>
            </c:dLbl>
            <c:dLbl>
              <c:idx val="4"/>
              <c:layout>
                <c:manualLayout>
                  <c:x val="0.10584601891114757"/>
                  <c:y val="6.0561025239584295E-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D37A-43F7-9CE3-27AF9C43986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'2022 (2)'!$C$17:$C$21</c:f>
              <c:strCache>
                <c:ptCount val="5"/>
                <c:pt idx="0">
                  <c:v>PHIL BUSINESS BANK</c:v>
                </c:pt>
                <c:pt idx="1">
                  <c:v>BANK OF MAKATI</c:v>
                </c:pt>
                <c:pt idx="2">
                  <c:v>STERLING BANK OF ASIA</c:v>
                </c:pt>
                <c:pt idx="3">
                  <c:v>PRODUCERS SAVINGS BANK</c:v>
                </c:pt>
                <c:pt idx="4">
                  <c:v>FIRST CONSOLIDATED BANK</c:v>
                </c:pt>
              </c:strCache>
            </c:strRef>
          </c:cat>
          <c:val>
            <c:numRef>
              <c:f>'2022 (2)'!$D$17:$D$21</c:f>
              <c:numCache>
                <c:formatCode>#,##0</c:formatCode>
                <c:ptCount val="5"/>
                <c:pt idx="0">
                  <c:v>132270.67000000001</c:v>
                </c:pt>
                <c:pt idx="1">
                  <c:v>49303.56</c:v>
                </c:pt>
                <c:pt idx="2">
                  <c:v>44338.93</c:v>
                </c:pt>
                <c:pt idx="3">
                  <c:v>28304.29</c:v>
                </c:pt>
                <c:pt idx="4">
                  <c:v>22489.97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D37A-43F7-9CE3-27AF9C4398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60159560"/>
        <c:axId val="207577832"/>
      </c:barChart>
      <c:catAx>
        <c:axId val="16015956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7577832"/>
        <c:crosses val="autoZero"/>
        <c:auto val="1"/>
        <c:lblAlgn val="ctr"/>
        <c:lblOffset val="100"/>
        <c:noMultiLvlLbl val="0"/>
      </c:catAx>
      <c:valAx>
        <c:axId val="207577832"/>
        <c:scaling>
          <c:orientation val="minMax"/>
        </c:scaling>
        <c:delete val="1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crossAx val="1601595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accent1">
        <a:lumMod val="20000"/>
        <a:lumOff val="80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chemeClr val="accent1">
                <a:lumMod val="75000"/>
              </a:schemeClr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F0C-497C-A223-B216655E446A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EF0C-497C-A223-B216655E446A}"/>
              </c:ext>
            </c:extLst>
          </c:dPt>
          <c:dLbls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EF0C-497C-A223-B216655E446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'2022 (2)'!$C$7:$C$11</c:f>
              <c:strCache>
                <c:ptCount val="5"/>
                <c:pt idx="0">
                  <c:v>PHIL BUSINESS BANK</c:v>
                </c:pt>
                <c:pt idx="1">
                  <c:v>STERLING BANK OF ASIA</c:v>
                </c:pt>
                <c:pt idx="2">
                  <c:v>BANK OF MAKATI</c:v>
                </c:pt>
                <c:pt idx="3">
                  <c:v>PRODUCERS SAVINGS BANK</c:v>
                </c:pt>
                <c:pt idx="4">
                  <c:v>FIRST CONSOLIDATED BANK</c:v>
                </c:pt>
              </c:strCache>
            </c:strRef>
          </c:cat>
          <c:val>
            <c:numRef>
              <c:f>'2022 (2)'!$D$7:$D$11</c:f>
              <c:numCache>
                <c:formatCode>#,##0</c:formatCode>
                <c:ptCount val="5"/>
                <c:pt idx="0">
                  <c:v>111240.33</c:v>
                </c:pt>
                <c:pt idx="1">
                  <c:v>37729.89</c:v>
                </c:pt>
                <c:pt idx="2">
                  <c:v>33857.519999999997</c:v>
                </c:pt>
                <c:pt idx="3">
                  <c:v>19460.07</c:v>
                </c:pt>
                <c:pt idx="4">
                  <c:v>15636.7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F0C-497C-A223-B216655E44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207581752"/>
        <c:axId val="207579008"/>
      </c:barChart>
      <c:catAx>
        <c:axId val="207581752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7579008"/>
        <c:crosses val="autoZero"/>
        <c:auto val="1"/>
        <c:lblAlgn val="ctr"/>
        <c:lblOffset val="100"/>
        <c:noMultiLvlLbl val="0"/>
      </c:catAx>
      <c:valAx>
        <c:axId val="207579008"/>
        <c:scaling>
          <c:orientation val="minMax"/>
        </c:scaling>
        <c:delete val="1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crossAx val="2075817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accent4">
        <a:lumMod val="20000"/>
        <a:lumOff val="80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0455914415634955"/>
          <c:y val="5.2501467560707407E-2"/>
          <c:w val="0.62988290219769438"/>
          <c:h val="0.89499706487858521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chemeClr val="accent5">
                <a:lumMod val="75000"/>
              </a:schemeClr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FDBA2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0F0-4AAA-B20F-F1D2DDECE7C8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5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0F0-4AAA-B20F-F1D2DDECE7C8}"/>
              </c:ext>
            </c:extLst>
          </c:dPt>
          <c:dLbls>
            <c:dLbl>
              <c:idx val="0"/>
              <c:layout>
                <c:manualLayout>
                  <c:x val="0.34445483835264251"/>
                  <c:y val="1.2112205045273024E-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30F0-4AAA-B20F-F1D2DDECE7C8}"/>
                </c:ext>
              </c:extLst>
            </c:dLbl>
            <c:dLbl>
              <c:idx val="1"/>
              <c:layout>
                <c:manualLayout>
                  <c:x val="0.15977681005872274"/>
                  <c:y val="3.7581580215252258E-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0F0-4AAA-B20F-F1D2DDECE7C8}"/>
                </c:ext>
              </c:extLst>
            </c:dLbl>
            <c:dLbl>
              <c:idx val="2"/>
              <c:layout>
                <c:manualLayout>
                  <c:x val="0.17291629746904955"/>
                  <c:y val="6.0561025225483833E-7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0F0-4AAA-B20F-F1D2DDECE7C8}"/>
                </c:ext>
              </c:extLst>
            </c:dLbl>
            <c:dLbl>
              <c:idx val="3"/>
              <c:layout>
                <c:manualLayout>
                  <c:x val="0.11254440571196749"/>
                  <c:y val="1.2112205045096767E-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0F0-4AAA-B20F-F1D2DDECE7C8}"/>
                </c:ext>
              </c:extLst>
            </c:dLbl>
            <c:dLbl>
              <c:idx val="4"/>
              <c:layout>
                <c:manualLayout>
                  <c:x val="0.10584601891114757"/>
                  <c:y val="6.0561025239584295E-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30F0-4AAA-B20F-F1D2DDECE7C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'March 2023'!$C$17:$C$21</c:f>
              <c:strCache>
                <c:ptCount val="5"/>
                <c:pt idx="0">
                  <c:v>PHIL BUSINESS BANK</c:v>
                </c:pt>
                <c:pt idx="1">
                  <c:v>BANK OF MAKATI</c:v>
                </c:pt>
                <c:pt idx="2">
                  <c:v>STERLING BANK OF ASIA</c:v>
                </c:pt>
                <c:pt idx="3">
                  <c:v>PRODUCERS SAVINGS BANK</c:v>
                </c:pt>
                <c:pt idx="4">
                  <c:v>FIRST CONSOLIDATED BANK</c:v>
                </c:pt>
              </c:strCache>
            </c:strRef>
          </c:cat>
          <c:val>
            <c:numRef>
              <c:f>'March 2023'!$D$17:$D$21</c:f>
              <c:numCache>
                <c:formatCode>#,##0</c:formatCode>
                <c:ptCount val="5"/>
                <c:pt idx="0">
                  <c:v>135626.98000000001</c:v>
                </c:pt>
                <c:pt idx="1">
                  <c:v>49745.45</c:v>
                </c:pt>
                <c:pt idx="2">
                  <c:v>40183.599999999999</c:v>
                </c:pt>
                <c:pt idx="3">
                  <c:v>31008.55</c:v>
                </c:pt>
                <c:pt idx="4">
                  <c:v>24846.39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30F0-4AAA-B20F-F1D2DDECE7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44848464"/>
        <c:axId val="144853168"/>
      </c:barChart>
      <c:catAx>
        <c:axId val="14484846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4853168"/>
        <c:crosses val="autoZero"/>
        <c:auto val="1"/>
        <c:lblAlgn val="ctr"/>
        <c:lblOffset val="100"/>
        <c:noMultiLvlLbl val="0"/>
      </c:catAx>
      <c:valAx>
        <c:axId val="144853168"/>
        <c:scaling>
          <c:orientation val="minMax"/>
        </c:scaling>
        <c:delete val="1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crossAx val="1448484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accent2">
        <a:lumMod val="20000"/>
        <a:lumOff val="80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0870714810767064"/>
          <c:y val="6.1997325727381293E-2"/>
          <c:w val="0.65560465154945102"/>
          <c:h val="0.87600534854523737"/>
        </c:manualLayout>
      </c:layout>
      <c:barChart>
        <c:barDir val="bar"/>
        <c:grouping val="clustered"/>
        <c:varyColors val="0"/>
        <c:ser>
          <c:idx val="0"/>
          <c:order val="0"/>
          <c:spPr>
            <a:solidFill>
              <a:schemeClr val="accent5">
                <a:lumMod val="75000"/>
              </a:schemeClr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rgbClr val="FDBA2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1F6-4AEA-AEBF-4EC35B459655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5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1F6-4AEA-AEBF-4EC35B459655}"/>
              </c:ext>
            </c:extLst>
          </c:dPt>
          <c:dLbls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D1F6-4AEA-AEBF-4EC35B459655}"/>
                </c:ext>
              </c:extLst>
            </c:dLbl>
            <c:dLbl>
              <c:idx val="5"/>
              <c:layout>
                <c:manualLayout>
                  <c:x val="-1.3865474687020959E-3"/>
                  <c:y val="5.636342415179714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9.5302482086232904E-2"/>
                      <c:h val="7.882136737609297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D1F6-4AEA-AEBF-4EC35B45965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'March 2023'!$C$40:$C$45</c:f>
              <c:strCache>
                <c:ptCount val="6"/>
                <c:pt idx="0">
                  <c:v>1st VALLEY BANK</c:v>
                </c:pt>
                <c:pt idx="1">
                  <c:v>STERLING BANK OF ASIA</c:v>
                </c:pt>
                <c:pt idx="2">
                  <c:v>PRODUCERS SAVINGS BANK</c:v>
                </c:pt>
                <c:pt idx="3">
                  <c:v>FIRST CONSOLIDATED BANK</c:v>
                </c:pt>
                <c:pt idx="4">
                  <c:v>BANK OF MAKATI</c:v>
                </c:pt>
                <c:pt idx="5">
                  <c:v>PHIL BUSINESS BANK</c:v>
                </c:pt>
              </c:strCache>
            </c:strRef>
          </c:cat>
          <c:val>
            <c:numRef>
              <c:f>'March 2023'!$D$40:$D$45</c:f>
              <c:numCache>
                <c:formatCode>#,##0</c:formatCode>
                <c:ptCount val="6"/>
                <c:pt idx="0">
                  <c:v>2567.19</c:v>
                </c:pt>
                <c:pt idx="1">
                  <c:v>3886.22</c:v>
                </c:pt>
                <c:pt idx="2">
                  <c:v>4081.5</c:v>
                </c:pt>
                <c:pt idx="3">
                  <c:v>6463.13</c:v>
                </c:pt>
                <c:pt idx="4">
                  <c:v>16656.310000000001</c:v>
                </c:pt>
                <c:pt idx="5">
                  <c:v>16827.09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D1F6-4AEA-AEBF-4EC35B4596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44848856"/>
        <c:axId val="106024032"/>
      </c:barChart>
      <c:catAx>
        <c:axId val="14484885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6024032"/>
        <c:crosses val="autoZero"/>
        <c:auto val="1"/>
        <c:lblAlgn val="ctr"/>
        <c:lblOffset val="100"/>
        <c:noMultiLvlLbl val="0"/>
      </c:catAx>
      <c:valAx>
        <c:axId val="106024032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crossAx val="1448488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rgbClr val="DAEDEF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chemeClr val="accent5">
                <a:lumMod val="75000"/>
              </a:schemeClr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5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33B-4FB9-859A-E2275C42CEF9}"/>
              </c:ext>
            </c:extLst>
          </c:dPt>
          <c:dPt>
            <c:idx val="2"/>
            <c:invertIfNegative val="0"/>
            <c:bubble3D val="0"/>
            <c:spPr>
              <a:solidFill>
                <a:srgbClr val="FDBA2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33B-4FB9-859A-E2275C42CEF9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5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B33B-4FB9-859A-E2275C42CEF9}"/>
              </c:ext>
            </c:extLst>
          </c:dPt>
          <c:dLbls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B33B-4FB9-859A-E2275C42CEF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'March 2023'!$C$28:$C$32</c:f>
              <c:strCache>
                <c:ptCount val="5"/>
                <c:pt idx="0">
                  <c:v>PHIL BUSINESS BANK</c:v>
                </c:pt>
                <c:pt idx="1">
                  <c:v>BANK OF MAKATI</c:v>
                </c:pt>
                <c:pt idx="2">
                  <c:v>STERLING BANK OF ASIA</c:v>
                </c:pt>
                <c:pt idx="3">
                  <c:v>PRODUCERS SAVINGS BANK</c:v>
                </c:pt>
                <c:pt idx="4">
                  <c:v>FIRST CONSOLIDATED BANK</c:v>
                </c:pt>
              </c:strCache>
            </c:strRef>
          </c:cat>
          <c:val>
            <c:numRef>
              <c:f>'March 2023'!$D$28:$D$32</c:f>
              <c:numCache>
                <c:formatCode>#,##0</c:formatCode>
                <c:ptCount val="5"/>
                <c:pt idx="0">
                  <c:v>102849.26</c:v>
                </c:pt>
                <c:pt idx="1">
                  <c:v>32958.870000000003</c:v>
                </c:pt>
                <c:pt idx="2">
                  <c:v>31008.45</c:v>
                </c:pt>
                <c:pt idx="3">
                  <c:v>21538.38</c:v>
                </c:pt>
                <c:pt idx="4">
                  <c:v>19205.990000000002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33B-4FB9-859A-E2275C42CE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86736776"/>
        <c:axId val="486730896"/>
      </c:barChart>
      <c:catAx>
        <c:axId val="486736776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6730896"/>
        <c:crosses val="autoZero"/>
        <c:auto val="0"/>
        <c:lblAlgn val="ctr"/>
        <c:lblOffset val="100"/>
        <c:noMultiLvlLbl val="0"/>
      </c:catAx>
      <c:valAx>
        <c:axId val="486730896"/>
        <c:scaling>
          <c:orientation val="minMax"/>
        </c:scaling>
        <c:delete val="1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crossAx val="4867367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accent2">
        <a:lumMod val="20000"/>
        <a:lumOff val="80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chemeClr val="accent5">
                <a:lumMod val="75000"/>
              </a:schemeClr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rgbClr val="FDBA2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7A0-43AA-B2F3-8B15AA0EBC36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5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17A0-43AA-B2F3-8B15AA0EBC36}"/>
              </c:ext>
            </c:extLst>
          </c:dPt>
          <c:dLbls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17A0-43AA-B2F3-8B15AA0EBC3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'March 2023'!$C$7:$C$11</c:f>
              <c:strCache>
                <c:ptCount val="5"/>
                <c:pt idx="0">
                  <c:v>PHIL BUSINESS BANK</c:v>
                </c:pt>
                <c:pt idx="1">
                  <c:v>STERLING BANK OF ASIA</c:v>
                </c:pt>
                <c:pt idx="2">
                  <c:v>BANK OF MAKATI</c:v>
                </c:pt>
                <c:pt idx="3">
                  <c:v>PRODUCERS SAVINGS BANK</c:v>
                </c:pt>
                <c:pt idx="4">
                  <c:v>FIRST CONSOLIDATED BANK</c:v>
                </c:pt>
              </c:strCache>
            </c:strRef>
          </c:cat>
          <c:val>
            <c:numRef>
              <c:f>'March 2023'!$D$7:$D$11</c:f>
              <c:numCache>
                <c:formatCode>#,##0</c:formatCode>
                <c:ptCount val="5"/>
                <c:pt idx="0">
                  <c:v>209818.9</c:v>
                </c:pt>
                <c:pt idx="1">
                  <c:v>33238.730000000003</c:v>
                </c:pt>
                <c:pt idx="2">
                  <c:v>31062.959999999999</c:v>
                </c:pt>
                <c:pt idx="3">
                  <c:v>19907.32</c:v>
                </c:pt>
                <c:pt idx="4">
                  <c:v>16335.64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7A0-43AA-B2F3-8B15AA0EBC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44847288"/>
        <c:axId val="144847680"/>
      </c:barChart>
      <c:catAx>
        <c:axId val="14484728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4847680"/>
        <c:crosses val="autoZero"/>
        <c:auto val="1"/>
        <c:lblAlgn val="ctr"/>
        <c:lblOffset val="100"/>
        <c:noMultiLvlLbl val="0"/>
      </c:catAx>
      <c:valAx>
        <c:axId val="144847680"/>
        <c:scaling>
          <c:orientation val="minMax"/>
        </c:scaling>
        <c:delete val="1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crossAx val="1448472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rgbClr val="DAEDEF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8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9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0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7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8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0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6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8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9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0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8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0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5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8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9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0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2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6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0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4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8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9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0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0.06184</cdr:x>
      <cdr:y>0.47615</cdr:y>
    </cdr:from>
    <cdr:to>
      <cdr:x>0.47748</cdr:x>
      <cdr:y>0.54615</cdr:y>
    </cdr:to>
    <cdr:sp macro="" textlink="">
      <cdr:nvSpPr>
        <cdr:cNvPr id="2" name="Rectangle 1"/>
        <cdr:cNvSpPr/>
      </cdr:nvSpPr>
      <cdr:spPr>
        <a:xfrm xmlns:a="http://schemas.openxmlformats.org/drawingml/2006/main">
          <a:off x="264335" y="1033274"/>
          <a:ext cx="1776521" cy="151897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 w="9525">
          <a:solidFill>
            <a:srgbClr val="002060"/>
          </a:solidFill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endParaRPr lang="en-US"/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0.0503</cdr:x>
      <cdr:y>0.5</cdr:y>
    </cdr:from>
    <cdr:to>
      <cdr:x>0.51185</cdr:x>
      <cdr:y>0.58389</cdr:y>
    </cdr:to>
    <cdr:sp macro="" textlink="">
      <cdr:nvSpPr>
        <cdr:cNvPr id="2" name="Rectangle 1"/>
        <cdr:cNvSpPr/>
      </cdr:nvSpPr>
      <cdr:spPr>
        <a:xfrm xmlns:a="http://schemas.openxmlformats.org/drawingml/2006/main">
          <a:off x="215230" y="1079254"/>
          <a:ext cx="1974850" cy="181084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solidFill>
            <a:srgbClr val="002060"/>
          </a:solidFill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endParaRPr lang="en-US"/>
        </a:p>
      </cdr:txBody>
    </cdr:sp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0.05487</cdr:x>
      <cdr:y>0.3912</cdr:y>
    </cdr:from>
    <cdr:to>
      <cdr:x>0.56094</cdr:x>
      <cdr:y>0.46034</cdr:y>
    </cdr:to>
    <cdr:sp macro="" textlink="">
      <cdr:nvSpPr>
        <cdr:cNvPr id="2" name="Rectangle 1"/>
        <cdr:cNvSpPr/>
      </cdr:nvSpPr>
      <cdr:spPr>
        <a:xfrm xmlns:a="http://schemas.openxmlformats.org/drawingml/2006/main">
          <a:off x="234789" y="844413"/>
          <a:ext cx="2165350" cy="149225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solidFill>
            <a:srgbClr val="002060"/>
          </a:solidFill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endParaRPr lang="en-US"/>
        </a:p>
      </cdr:txBody>
    </cdr:sp>
  </cdr:relSizeAnchor>
</c:userShapes>
</file>

<file path=ppt/drawings/drawing4.xml><?xml version="1.0" encoding="utf-8"?>
<c:userShapes xmlns:c="http://schemas.openxmlformats.org/drawingml/2006/chart">
  <cdr:relSizeAnchor xmlns:cdr="http://schemas.openxmlformats.org/drawingml/2006/chartDrawing">
    <cdr:from>
      <cdr:x>0.02915</cdr:x>
      <cdr:y>0.74733</cdr:y>
    </cdr:from>
    <cdr:to>
      <cdr:x>0.43431</cdr:x>
      <cdr:y>0.81942</cdr:y>
    </cdr:to>
    <cdr:sp macro="" textlink="">
      <cdr:nvSpPr>
        <cdr:cNvPr id="2" name="Rectangle 1"/>
        <cdr:cNvSpPr/>
      </cdr:nvSpPr>
      <cdr:spPr>
        <a:xfrm xmlns:a="http://schemas.openxmlformats.org/drawingml/2006/main">
          <a:off x="124743" y="1613016"/>
          <a:ext cx="1733550" cy="155605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solidFill>
            <a:srgbClr val="002060"/>
          </a:solidFill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endParaRPr lang="en-US"/>
        </a:p>
      </cdr:txBody>
    </cdr:sp>
  </cdr:relSizeAnchor>
</c:userShapes>
</file>

<file path=ppt/drawings/drawing5.xml><?xml version="1.0" encoding="utf-8"?>
<c:userShapes xmlns:c="http://schemas.openxmlformats.org/drawingml/2006/chart">
  <cdr:relSizeAnchor xmlns:cdr="http://schemas.openxmlformats.org/drawingml/2006/chartDrawing">
    <cdr:from>
      <cdr:x>0.09185</cdr:x>
      <cdr:y>0.25401</cdr:y>
    </cdr:from>
    <cdr:to>
      <cdr:x>0.62275</cdr:x>
      <cdr:y>0.37266</cdr:y>
    </cdr:to>
    <cdr:sp macro="" textlink="">
      <cdr:nvSpPr>
        <cdr:cNvPr id="2" name="Rectangle 1"/>
        <cdr:cNvSpPr/>
      </cdr:nvSpPr>
      <cdr:spPr>
        <a:xfrm xmlns:a="http://schemas.openxmlformats.org/drawingml/2006/main">
          <a:off x="391864" y="523397"/>
          <a:ext cx="2264942" cy="244475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solidFill>
            <a:srgbClr val="002060"/>
          </a:solidFill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endParaRPr lang="en-US"/>
        </a:p>
      </cdr:txBody>
    </cdr:sp>
  </cdr:relSizeAnchor>
</c:userShapes>
</file>

<file path=ppt/drawings/drawing6.xml><?xml version="1.0" encoding="utf-8"?>
<c:userShapes xmlns:c="http://schemas.openxmlformats.org/drawingml/2006/chart">
  <cdr:relSizeAnchor xmlns:cdr="http://schemas.openxmlformats.org/drawingml/2006/chartDrawing">
    <cdr:from>
      <cdr:x>0.05485</cdr:x>
      <cdr:y>0.25134</cdr:y>
    </cdr:from>
    <cdr:to>
      <cdr:x>0.61212</cdr:x>
      <cdr:y>0.37171</cdr:y>
    </cdr:to>
    <cdr:sp macro="" textlink="">
      <cdr:nvSpPr>
        <cdr:cNvPr id="2" name="Rectangle 1"/>
        <cdr:cNvSpPr/>
      </cdr:nvSpPr>
      <cdr:spPr>
        <a:xfrm xmlns:a="http://schemas.openxmlformats.org/drawingml/2006/main">
          <a:off x="234365" y="517107"/>
          <a:ext cx="2381250" cy="247650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solidFill>
            <a:srgbClr val="002060"/>
          </a:solidFill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endParaRPr lang="en-US"/>
        </a:p>
      </cdr:txBody>
    </cdr:sp>
  </cdr:relSizeAnchor>
</c:userShapes>
</file>

<file path=ppt/drawings/drawing7.xml><?xml version="1.0" encoding="utf-8"?>
<c:userShapes xmlns:c="http://schemas.openxmlformats.org/drawingml/2006/chart">
  <cdr:relSizeAnchor xmlns:cdr="http://schemas.openxmlformats.org/drawingml/2006/chartDrawing">
    <cdr:from>
      <cdr:x>0.04147</cdr:x>
      <cdr:y>0.42054</cdr:y>
    </cdr:from>
    <cdr:to>
      <cdr:x>0.61658</cdr:x>
      <cdr:y>0.55083</cdr:y>
    </cdr:to>
    <cdr:sp macro="" textlink="">
      <cdr:nvSpPr>
        <cdr:cNvPr id="2" name="Rectangle 1"/>
        <cdr:cNvSpPr/>
      </cdr:nvSpPr>
      <cdr:spPr>
        <a:xfrm xmlns:a="http://schemas.openxmlformats.org/drawingml/2006/main">
          <a:off x="177214" y="907483"/>
          <a:ext cx="2457450" cy="281150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solidFill>
            <a:srgbClr val="002060"/>
          </a:solidFill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endParaRPr lang="en-US"/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3633FF-49EC-458D-B54C-29DB03CA074B}" type="datetimeFigureOut">
              <a:rPr lang="en-PH" smtClean="0"/>
              <a:t>12 Aug 2026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8A8365-9FBE-45EE-B684-EDEDD41F025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83291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Total Asset</a:t>
            </a:r>
            <a:r>
              <a:rPr lang="en-US" baseline="0" dirty="0" smtClean="0"/>
              <a:t> – 18%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↑ vs March</a:t>
            </a:r>
            <a:r>
              <a:rPr lang="en-US" baseline="0" dirty="0" smtClean="0">
                <a:latin typeface="Calibri" panose="020F0502020204030204" pitchFamily="34" charset="0"/>
                <a:cs typeface="Calibri" panose="020F0502020204030204" pitchFamily="34" charset="0"/>
              </a:rPr>
              <a:t> 2023</a:t>
            </a:r>
          </a:p>
          <a:p>
            <a:r>
              <a:rPr lang="en-US" baseline="0" dirty="0" smtClean="0">
                <a:latin typeface="Calibri" panose="020F0502020204030204" pitchFamily="34" charset="0"/>
                <a:cs typeface="Calibri" panose="020F0502020204030204" pitchFamily="34" charset="0"/>
              </a:rPr>
              <a:t>Total Loans &amp; Receivables – 16%</a:t>
            </a:r>
            <a:r>
              <a:rPr lang="en-US" dirty="0" smtClean="0"/>
              <a:t>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↑ vs</a:t>
            </a:r>
            <a:r>
              <a:rPr lang="en-US" baseline="0" dirty="0" smtClean="0">
                <a:latin typeface="Calibri" panose="020F0502020204030204" pitchFamily="34" charset="0"/>
                <a:cs typeface="Calibri" panose="020F0502020204030204" pitchFamily="34" charset="0"/>
              </a:rPr>
              <a:t> March 2023</a:t>
            </a:r>
          </a:p>
          <a:p>
            <a:r>
              <a:rPr lang="en-US" baseline="0" dirty="0" smtClean="0">
                <a:latin typeface="Calibri" panose="020F0502020204030204" pitchFamily="34" charset="0"/>
                <a:cs typeface="Calibri" panose="020F0502020204030204" pitchFamily="34" charset="0"/>
              </a:rPr>
              <a:t>Total Capital – 14%</a:t>
            </a:r>
            <a:r>
              <a:rPr lang="en-US" dirty="0" smtClean="0"/>
              <a:t>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↑ vs March 2023</a:t>
            </a:r>
          </a:p>
          <a:p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Total Deposit Liabilities</a:t>
            </a:r>
            <a:r>
              <a:rPr lang="en-US" baseline="0" dirty="0" smtClean="0">
                <a:latin typeface="Calibri" panose="020F0502020204030204" pitchFamily="34" charset="0"/>
                <a:cs typeface="Calibri" panose="020F0502020204030204" pitchFamily="34" charset="0"/>
              </a:rPr>
              <a:t> – 20%</a:t>
            </a:r>
            <a:r>
              <a:rPr lang="en-US" dirty="0" smtClean="0"/>
              <a:t>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↑ vs March 2023</a:t>
            </a:r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8A8365-9FBE-45EE-B684-EDEDD41F025D}" type="slidenum">
              <a:rPr lang="en-PH" smtClean="0"/>
              <a:t>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647158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8A8365-9FBE-45EE-B684-EDEDD41F025D}" type="slidenum">
              <a:rPr lang="en-PH" smtClean="0"/>
              <a:t>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699800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sng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Total Stockholder’s Equity</a:t>
            </a:r>
            <a:r>
              <a:rPr kumimoji="0" lang="en-PH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(previously Total Capital)</a:t>
            </a:r>
            <a:endParaRPr kumimoji="0" lang="en-US" sz="1400" b="0" i="0" u="sng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72F5B-7FCB-4BA3-9CD5-EFA9D6A8F941}" type="slidenum">
              <a:rPr lang="en-PH" smtClean="0"/>
              <a:t>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871172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Total Asset</a:t>
            </a:r>
            <a:r>
              <a:rPr lang="en-US" baseline="0" dirty="0" smtClean="0"/>
              <a:t> – 18%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↑ vs March</a:t>
            </a:r>
            <a:r>
              <a:rPr lang="en-US" baseline="0" dirty="0" smtClean="0">
                <a:latin typeface="Calibri" panose="020F0502020204030204" pitchFamily="34" charset="0"/>
                <a:cs typeface="Calibri" panose="020F0502020204030204" pitchFamily="34" charset="0"/>
              </a:rPr>
              <a:t> 2023</a:t>
            </a:r>
          </a:p>
          <a:p>
            <a:r>
              <a:rPr lang="en-US" baseline="0" dirty="0" smtClean="0">
                <a:latin typeface="Calibri" panose="020F0502020204030204" pitchFamily="34" charset="0"/>
                <a:cs typeface="Calibri" panose="020F0502020204030204" pitchFamily="34" charset="0"/>
              </a:rPr>
              <a:t>Total Loans &amp; Receivables – 16%</a:t>
            </a:r>
            <a:r>
              <a:rPr lang="en-US" dirty="0" smtClean="0"/>
              <a:t>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↑ vs</a:t>
            </a:r>
            <a:r>
              <a:rPr lang="en-US" baseline="0" dirty="0" smtClean="0">
                <a:latin typeface="Calibri" panose="020F0502020204030204" pitchFamily="34" charset="0"/>
                <a:cs typeface="Calibri" panose="020F0502020204030204" pitchFamily="34" charset="0"/>
              </a:rPr>
              <a:t> March 2023</a:t>
            </a:r>
          </a:p>
          <a:p>
            <a:r>
              <a:rPr lang="en-US" baseline="0" dirty="0" smtClean="0">
                <a:latin typeface="Calibri" panose="020F0502020204030204" pitchFamily="34" charset="0"/>
                <a:cs typeface="Calibri" panose="020F0502020204030204" pitchFamily="34" charset="0"/>
              </a:rPr>
              <a:t>Total Capital – 14%</a:t>
            </a:r>
            <a:r>
              <a:rPr lang="en-US" dirty="0" smtClean="0"/>
              <a:t>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↑ vs March 2023</a:t>
            </a:r>
          </a:p>
          <a:p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Total Deposit Liabilities</a:t>
            </a:r>
            <a:r>
              <a:rPr lang="en-US" baseline="0" dirty="0" smtClean="0">
                <a:latin typeface="Calibri" panose="020F0502020204030204" pitchFamily="34" charset="0"/>
                <a:cs typeface="Calibri" panose="020F0502020204030204" pitchFamily="34" charset="0"/>
              </a:rPr>
              <a:t> – 20%</a:t>
            </a:r>
            <a:r>
              <a:rPr lang="en-US" dirty="0" smtClean="0"/>
              <a:t>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↑ vs March 2023</a:t>
            </a:r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8A8365-9FBE-45EE-B684-EDEDD41F025D}" type="slidenum">
              <a:rPr lang="en-PH" smtClean="0"/>
              <a:t>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268842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8A8365-9FBE-45EE-B684-EDEDD41F025D}" type="slidenum">
              <a:rPr lang="en-PH" smtClean="0"/>
              <a:t>10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833424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8A8365-9FBE-45EE-B684-EDEDD41F025D}" type="slidenum">
              <a:rPr lang="en-PH" smtClean="0"/>
              <a:t>11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236036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Total Asset</a:t>
            </a:r>
            <a:r>
              <a:rPr lang="en-US" baseline="0" dirty="0" smtClean="0"/>
              <a:t> – 18%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↑ vs March</a:t>
            </a:r>
            <a:r>
              <a:rPr lang="en-US" baseline="0" dirty="0" smtClean="0">
                <a:latin typeface="Calibri" panose="020F0502020204030204" pitchFamily="34" charset="0"/>
                <a:cs typeface="Calibri" panose="020F0502020204030204" pitchFamily="34" charset="0"/>
              </a:rPr>
              <a:t> 2023</a:t>
            </a:r>
          </a:p>
          <a:p>
            <a:r>
              <a:rPr lang="en-US" baseline="0" dirty="0" smtClean="0">
                <a:latin typeface="Calibri" panose="020F0502020204030204" pitchFamily="34" charset="0"/>
                <a:cs typeface="Calibri" panose="020F0502020204030204" pitchFamily="34" charset="0"/>
              </a:rPr>
              <a:t>Total Loans &amp; Receivables – 16%</a:t>
            </a:r>
            <a:r>
              <a:rPr lang="en-US" dirty="0" smtClean="0"/>
              <a:t>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↑ vs</a:t>
            </a:r>
            <a:r>
              <a:rPr lang="en-US" baseline="0" dirty="0" smtClean="0">
                <a:latin typeface="Calibri" panose="020F0502020204030204" pitchFamily="34" charset="0"/>
                <a:cs typeface="Calibri" panose="020F0502020204030204" pitchFamily="34" charset="0"/>
              </a:rPr>
              <a:t> March 2023</a:t>
            </a:r>
          </a:p>
          <a:p>
            <a:r>
              <a:rPr lang="en-US" baseline="0" dirty="0" smtClean="0">
                <a:latin typeface="Calibri" panose="020F0502020204030204" pitchFamily="34" charset="0"/>
                <a:cs typeface="Calibri" panose="020F0502020204030204" pitchFamily="34" charset="0"/>
              </a:rPr>
              <a:t>Total Capital – 14%</a:t>
            </a:r>
            <a:r>
              <a:rPr lang="en-US" dirty="0" smtClean="0"/>
              <a:t>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↑ vs March 2023</a:t>
            </a:r>
          </a:p>
          <a:p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Total Deposit Liabilities</a:t>
            </a:r>
            <a:r>
              <a:rPr lang="en-US" baseline="0" dirty="0" smtClean="0">
                <a:latin typeface="Calibri" panose="020F0502020204030204" pitchFamily="34" charset="0"/>
                <a:cs typeface="Calibri" panose="020F0502020204030204" pitchFamily="34" charset="0"/>
              </a:rPr>
              <a:t> – 20%</a:t>
            </a:r>
            <a:r>
              <a:rPr lang="en-US" dirty="0" smtClean="0"/>
              <a:t>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↑ vs March 2023</a:t>
            </a:r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8A8365-9FBE-45EE-B684-EDEDD41F025D}" type="slidenum">
              <a:rPr lang="en-PH" smtClean="0"/>
              <a:t>12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52064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8A8365-9FBE-45EE-B684-EDEDD41F025D}" type="slidenum">
              <a:rPr lang="en-PH" smtClean="0"/>
              <a:t>14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7021090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8A8365-9FBE-45EE-B684-EDEDD41F025D}" type="slidenum">
              <a:rPr lang="en-PH" smtClean="0"/>
              <a:t>15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7677727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Total Capital – ranked</a:t>
            </a:r>
            <a:r>
              <a:rPr lang="en-US" baseline="0" dirty="0" smtClean="0"/>
              <a:t> 7th (total, as of march 2022)</a:t>
            </a:r>
          </a:p>
          <a:p>
            <a:r>
              <a:rPr lang="en-US" baseline="0" dirty="0" smtClean="0"/>
              <a:t>                        </a:t>
            </a:r>
            <a:r>
              <a:rPr lang="en-US" dirty="0" smtClean="0"/>
              <a:t>ranked</a:t>
            </a:r>
            <a:r>
              <a:rPr lang="en-US" baseline="0" dirty="0" smtClean="0"/>
              <a:t> 4th (stand alone, as of march 2022)</a:t>
            </a:r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8A8365-9FBE-45EE-B684-EDEDD41F025D}" type="slidenum">
              <a:rPr lang="en-PH" smtClean="0"/>
              <a:t>16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540690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8A8365-9FBE-45EE-B684-EDEDD41F025D}" type="slidenum">
              <a:rPr lang="en-PH" smtClean="0"/>
              <a:t>17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400882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Total Capital – ranked</a:t>
            </a:r>
            <a:r>
              <a:rPr lang="en-US" baseline="0" dirty="0" smtClean="0"/>
              <a:t> 7th (total, as of march 2022)</a:t>
            </a:r>
          </a:p>
          <a:p>
            <a:r>
              <a:rPr lang="en-US" baseline="0" dirty="0" smtClean="0"/>
              <a:t>                        </a:t>
            </a:r>
            <a:r>
              <a:rPr lang="en-US" dirty="0" smtClean="0"/>
              <a:t>ranked</a:t>
            </a:r>
            <a:r>
              <a:rPr lang="en-US" baseline="0" dirty="0" smtClean="0"/>
              <a:t> 4th (stand alone, as of march 2022)</a:t>
            </a:r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A8365-9FBE-45EE-B684-EDEDD41F025D}" type="slidenum">
              <a:rPr kumimoji="0" lang="en-P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P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25692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A8365-9FBE-45EE-B684-EDEDD41F025D}" type="slidenum">
              <a:rPr kumimoji="0" lang="en-P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P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59595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A8365-9FBE-45EE-B684-EDEDD41F025D}" type="slidenum">
              <a:rPr kumimoji="0" lang="en-P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P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22598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A8365-9FBE-45EE-B684-EDEDD41F025D}" type="slidenum">
              <a:rPr kumimoji="0" lang="en-P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P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32183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B1358-1E2D-4290-8044-4D6F98E9908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D6A57-794D-499C-9C90-AAFC7A418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62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B1358-1E2D-4290-8044-4D6F98E9908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D6A57-794D-499C-9C90-AAFC7A418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458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B1358-1E2D-4290-8044-4D6F98E9908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D6A57-794D-499C-9C90-AAFC7A418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118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B1358-1E2D-4290-8044-4D6F98E9908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D6A57-794D-499C-9C90-AAFC7A418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998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B1358-1E2D-4290-8044-4D6F98E9908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D6A57-794D-499C-9C90-AAFC7A418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897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B1358-1E2D-4290-8044-4D6F98E9908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D6A57-794D-499C-9C90-AAFC7A418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673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B1358-1E2D-4290-8044-4D6F98E9908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D6A57-794D-499C-9C90-AAFC7A418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397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B1358-1E2D-4290-8044-4D6F98E9908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D6A57-794D-499C-9C90-AAFC7A418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189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B1358-1E2D-4290-8044-4D6F98E9908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D6A57-794D-499C-9C90-AAFC7A418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954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B1358-1E2D-4290-8044-4D6F98E9908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D6A57-794D-499C-9C90-AAFC7A418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165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B1358-1E2D-4290-8044-4D6F98E9908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D6A57-794D-499C-9C90-AAFC7A418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7444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FFF2E1D-6179-4028-B98B-AC7612AE6E94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12 Aug 2026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991DAA-1079-48E0-B574-382215EBD8B1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11183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FFF2E1D-6179-4028-B98B-AC7612AE6E94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12 Aug 2026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991DAA-1079-48E0-B574-382215EBD8B1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42427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FFF2E1D-6179-4028-B98B-AC7612AE6E94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12 Aug 2026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991DAA-1079-48E0-B574-382215EBD8B1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90540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FFF2E1D-6179-4028-B98B-AC7612AE6E94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12 Aug 2026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991DAA-1079-48E0-B574-382215EBD8B1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93897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FFF2E1D-6179-4028-B98B-AC7612AE6E94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12 Aug 2026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991DAA-1079-48E0-B574-382215EBD8B1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84989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FFF2E1D-6179-4028-B98B-AC7612AE6E94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12 Aug 2026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991DAA-1079-48E0-B574-382215EBD8B1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08937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FFF2E1D-6179-4028-B98B-AC7612AE6E94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12 Aug 2026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991DAA-1079-48E0-B574-382215EBD8B1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690665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FFF2E1D-6179-4028-B98B-AC7612AE6E94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12 Aug 2026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991DAA-1079-48E0-B574-382215EBD8B1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46699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FFF2E1D-6179-4028-B98B-AC7612AE6E94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12 Aug 2026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991DAA-1079-48E0-B574-382215EBD8B1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749430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FFF2E1D-6179-4028-B98B-AC7612AE6E94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12 Aug 2026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991DAA-1079-48E0-B574-382215EBD8B1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95445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FFF2E1D-6179-4028-B98B-AC7612AE6E94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12 Aug 2026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991DAA-1079-48E0-B574-382215EBD8B1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1718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6B1358-1E2D-4290-8044-4D6F98E9908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ED6A57-794D-499C-9C90-AAFC7A418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194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7FFF2E1D-6179-4028-B98B-AC7612AE6E94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12 Aug 2026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F991DAA-1079-48E0-B574-382215EBD8B1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7489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8.xml"/><Relationship Id="rId4" Type="http://schemas.openxmlformats.org/officeDocument/2006/relationships/chart" Target="../charts/char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12.xml"/><Relationship Id="rId5" Type="http://schemas.openxmlformats.org/officeDocument/2006/relationships/chart" Target="../charts/chart11.xml"/><Relationship Id="rId4" Type="http://schemas.openxmlformats.org/officeDocument/2006/relationships/chart" Target="../charts/char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16.xml"/><Relationship Id="rId5" Type="http://schemas.openxmlformats.org/officeDocument/2006/relationships/chart" Target="../charts/chart15.xml"/><Relationship Id="rId4" Type="http://schemas.openxmlformats.org/officeDocument/2006/relationships/chart" Target="../charts/char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8.xml"/><Relationship Id="rId2" Type="http://schemas.openxmlformats.org/officeDocument/2006/relationships/chart" Target="../charts/chart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chart" Target="../charts/chart20.xml"/><Relationship Id="rId4" Type="http://schemas.openxmlformats.org/officeDocument/2006/relationships/chart" Target="../charts/chart19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hart" Target="../charts/chart26.xml"/><Relationship Id="rId3" Type="http://schemas.openxmlformats.org/officeDocument/2006/relationships/chart" Target="../charts/chart21.xml"/><Relationship Id="rId7" Type="http://schemas.openxmlformats.org/officeDocument/2006/relationships/chart" Target="../charts/chart25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24.xml"/><Relationship Id="rId5" Type="http://schemas.openxmlformats.org/officeDocument/2006/relationships/chart" Target="../charts/chart23.xml"/><Relationship Id="rId4" Type="http://schemas.openxmlformats.org/officeDocument/2006/relationships/chart" Target="../charts/chart2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8.xml"/><Relationship Id="rId2" Type="http://schemas.openxmlformats.org/officeDocument/2006/relationships/chart" Target="../charts/chart27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31.xml"/><Relationship Id="rId5" Type="http://schemas.openxmlformats.org/officeDocument/2006/relationships/chart" Target="../charts/chart30.xml"/><Relationship Id="rId4" Type="http://schemas.openxmlformats.org/officeDocument/2006/relationships/chart" Target="../charts/chart2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3.xml"/><Relationship Id="rId2" Type="http://schemas.openxmlformats.org/officeDocument/2006/relationships/chart" Target="../charts/chart32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35.xml"/><Relationship Id="rId4" Type="http://schemas.openxmlformats.org/officeDocument/2006/relationships/chart" Target="../charts/chart3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6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39.xml"/><Relationship Id="rId5" Type="http://schemas.openxmlformats.org/officeDocument/2006/relationships/chart" Target="../charts/chart38.xml"/><Relationship Id="rId4" Type="http://schemas.openxmlformats.org/officeDocument/2006/relationships/chart" Target="../charts/chart3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0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43.xml"/><Relationship Id="rId5" Type="http://schemas.openxmlformats.org/officeDocument/2006/relationships/chart" Target="../charts/chart42.xml"/><Relationship Id="rId4" Type="http://schemas.openxmlformats.org/officeDocument/2006/relationships/chart" Target="../charts/chart4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47.xml"/><Relationship Id="rId5" Type="http://schemas.openxmlformats.org/officeDocument/2006/relationships/chart" Target="../charts/chart46.xml"/><Relationship Id="rId4" Type="http://schemas.openxmlformats.org/officeDocument/2006/relationships/chart" Target="../charts/chart4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9.xml"/><Relationship Id="rId2" Type="http://schemas.openxmlformats.org/officeDocument/2006/relationships/chart" Target="../charts/chart48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51.xml"/><Relationship Id="rId4" Type="http://schemas.openxmlformats.org/officeDocument/2006/relationships/chart" Target="../charts/chart5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55.xml"/><Relationship Id="rId5" Type="http://schemas.openxmlformats.org/officeDocument/2006/relationships/chart" Target="../charts/chart54.xml"/><Relationship Id="rId4" Type="http://schemas.openxmlformats.org/officeDocument/2006/relationships/chart" Target="../charts/chart5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59.xml"/><Relationship Id="rId5" Type="http://schemas.openxmlformats.org/officeDocument/2006/relationships/chart" Target="../charts/chart58.xml"/><Relationship Id="rId4" Type="http://schemas.openxmlformats.org/officeDocument/2006/relationships/chart" Target="../charts/chart5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0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63.xml"/><Relationship Id="rId5" Type="http://schemas.openxmlformats.org/officeDocument/2006/relationships/chart" Target="../charts/chart62.xml"/><Relationship Id="rId4" Type="http://schemas.openxmlformats.org/officeDocument/2006/relationships/chart" Target="../charts/chart6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4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67.xml"/><Relationship Id="rId5" Type="http://schemas.openxmlformats.org/officeDocument/2006/relationships/chart" Target="../charts/chart66.xml"/><Relationship Id="rId4" Type="http://schemas.openxmlformats.org/officeDocument/2006/relationships/chart" Target="../charts/chart6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8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71.xml"/><Relationship Id="rId5" Type="http://schemas.openxmlformats.org/officeDocument/2006/relationships/chart" Target="../charts/chart70.xml"/><Relationship Id="rId4" Type="http://schemas.openxmlformats.org/officeDocument/2006/relationships/chart" Target="../charts/chart6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75.xml"/><Relationship Id="rId5" Type="http://schemas.openxmlformats.org/officeDocument/2006/relationships/chart" Target="../charts/chart74.xml"/><Relationship Id="rId4" Type="http://schemas.openxmlformats.org/officeDocument/2006/relationships/chart" Target="../charts/chart73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chart" Target="../charts/chart81.xml"/><Relationship Id="rId3" Type="http://schemas.openxmlformats.org/officeDocument/2006/relationships/chart" Target="../charts/chart76.xml"/><Relationship Id="rId7" Type="http://schemas.openxmlformats.org/officeDocument/2006/relationships/chart" Target="../charts/chart80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79.xml"/><Relationship Id="rId5" Type="http://schemas.openxmlformats.org/officeDocument/2006/relationships/chart" Target="../charts/chart78.xml"/><Relationship Id="rId10" Type="http://schemas.openxmlformats.org/officeDocument/2006/relationships/chart" Target="../charts/chart83.xml"/><Relationship Id="rId4" Type="http://schemas.openxmlformats.org/officeDocument/2006/relationships/chart" Target="../charts/chart77.xml"/><Relationship Id="rId9" Type="http://schemas.openxmlformats.org/officeDocument/2006/relationships/chart" Target="../charts/chart8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chart" Target="../charts/chart89.xml"/><Relationship Id="rId3" Type="http://schemas.openxmlformats.org/officeDocument/2006/relationships/chart" Target="../charts/chart84.xml"/><Relationship Id="rId7" Type="http://schemas.openxmlformats.org/officeDocument/2006/relationships/chart" Target="../charts/chart88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87.xml"/><Relationship Id="rId5" Type="http://schemas.openxmlformats.org/officeDocument/2006/relationships/chart" Target="../charts/chart86.xml"/><Relationship Id="rId10" Type="http://schemas.openxmlformats.org/officeDocument/2006/relationships/chart" Target="../charts/chart91.xml"/><Relationship Id="rId4" Type="http://schemas.openxmlformats.org/officeDocument/2006/relationships/chart" Target="../charts/chart85.xml"/><Relationship Id="rId9" Type="http://schemas.openxmlformats.org/officeDocument/2006/relationships/chart" Target="../charts/chart9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02659" y="2438335"/>
            <a:ext cx="72468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3600" b="1" dirty="0">
                <a:solidFill>
                  <a:prstClr val="black"/>
                </a:solidFill>
                <a:latin typeface="Calibri" panose="020F0502020204030204"/>
              </a:rPr>
              <a:t>Industry Ranking</a:t>
            </a:r>
          </a:p>
          <a:p>
            <a:pPr>
              <a:defRPr/>
            </a:pPr>
            <a:r>
              <a:rPr lang="en-US" sz="3600" dirty="0">
                <a:solidFill>
                  <a:prstClr val="black"/>
                </a:solidFill>
                <a:latin typeface="Calibri" panose="020F0502020204030204"/>
              </a:rPr>
              <a:t>As of March 31, </a:t>
            </a:r>
            <a:r>
              <a:rPr lang="en-US" sz="3600" dirty="0" smtClean="0">
                <a:solidFill>
                  <a:prstClr val="black"/>
                </a:solidFill>
                <a:latin typeface="Calibri" panose="020F0502020204030204"/>
              </a:rPr>
              <a:t>2026</a:t>
            </a:r>
            <a:endParaRPr lang="en-PH" sz="3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696262" y="1588959"/>
            <a:ext cx="3072984" cy="58461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PH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905616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" name="Chart 46">
            <a:extLst>
              <a:ext uri="{FF2B5EF4-FFF2-40B4-BE49-F238E27FC236}">
                <a16:creationId xmlns:a16="http://schemas.microsoft.com/office/drawing/2014/main" id="{19ED4B82-F47E-4233-9DFD-55420B482C6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80153249"/>
              </p:ext>
            </p:extLst>
          </p:nvPr>
        </p:nvGraphicFramePr>
        <p:xfrm>
          <a:off x="4815499" y="4181769"/>
          <a:ext cx="4188801" cy="21585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5" name="Chart 44">
            <a:extLst>
              <a:ext uri="{FF2B5EF4-FFF2-40B4-BE49-F238E27FC236}">
                <a16:creationId xmlns:a16="http://schemas.microsoft.com/office/drawing/2014/main" id="{1EE2B882-0BCA-4B06-A7A8-043DC4430B9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86350366"/>
              </p:ext>
            </p:extLst>
          </p:nvPr>
        </p:nvGraphicFramePr>
        <p:xfrm>
          <a:off x="43768" y="4181769"/>
          <a:ext cx="4284035" cy="21271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42" name="Chart 41">
            <a:extLst>
              <a:ext uri="{FF2B5EF4-FFF2-40B4-BE49-F238E27FC236}">
                <a16:creationId xmlns:a16="http://schemas.microsoft.com/office/drawing/2014/main" id="{BB45C48E-BFC3-47BB-923E-830CB2ABB74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57570750"/>
              </p:ext>
            </p:extLst>
          </p:nvPr>
        </p:nvGraphicFramePr>
        <p:xfrm>
          <a:off x="4790641" y="1515163"/>
          <a:ext cx="4251328" cy="22279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0" name="Chart 39">
            <a:extLst>
              <a:ext uri="{FF2B5EF4-FFF2-40B4-BE49-F238E27FC236}">
                <a16:creationId xmlns:a16="http://schemas.microsoft.com/office/drawing/2014/main" id="{DF1E4A87-DF6F-49DB-8014-3E4DDF4B18A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69782814"/>
              </p:ext>
            </p:extLst>
          </p:nvPr>
        </p:nvGraphicFramePr>
        <p:xfrm>
          <a:off x="45033" y="1515164"/>
          <a:ext cx="4282770" cy="22172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40647" y="3812438"/>
            <a:ext cx="3459444" cy="473809"/>
          </a:xfrm>
        </p:spPr>
        <p:txBody>
          <a:bodyPr>
            <a:normAutofit/>
          </a:bodyPr>
          <a:lstStyle/>
          <a:p>
            <a:pPr lvl="0"/>
            <a:r>
              <a:rPr lang="en-US" sz="1600" b="1" dirty="0"/>
              <a:t>Total Loans and Receivables</a:t>
            </a:r>
            <a:endParaRPr lang="en-US" sz="1800" dirty="0"/>
          </a:p>
        </p:txBody>
      </p:sp>
      <p:sp>
        <p:nvSpPr>
          <p:cNvPr id="14" name="Title 1"/>
          <p:cNvSpPr txBox="1">
            <a:spLocks/>
          </p:cNvSpPr>
          <p:nvPr/>
        </p:nvSpPr>
        <p:spPr>
          <a:xfrm>
            <a:off x="0" y="1173012"/>
            <a:ext cx="3820090" cy="4810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 dirty="0"/>
              <a:t>Total Assets</a:t>
            </a:r>
            <a:endParaRPr lang="en-US" sz="1600" dirty="0"/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156118" y="89212"/>
            <a:ext cx="713678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100" b="1" dirty="0">
                <a:latin typeface="+mn-lt"/>
              </a:rPr>
              <a:t>INDUSTRY RANKING</a:t>
            </a:r>
            <a:br>
              <a:rPr lang="en-US" sz="3100" b="1" dirty="0">
                <a:latin typeface="+mn-lt"/>
              </a:rPr>
            </a:br>
            <a:r>
              <a:rPr lang="en-US" sz="2000" dirty="0">
                <a:latin typeface="+mn-lt"/>
              </a:rPr>
              <a:t>Thrift Bank Group, as of 31 March </a:t>
            </a:r>
            <a:r>
              <a:rPr lang="en-US" sz="2000" dirty="0" smtClean="0">
                <a:latin typeface="+mn-lt"/>
              </a:rPr>
              <a:t>2026</a:t>
            </a:r>
            <a:endParaRPr lang="en-US" sz="2400" dirty="0">
              <a:latin typeface="+mn-lt"/>
            </a:endParaRPr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4757253" y="3812436"/>
            <a:ext cx="3479180" cy="473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 dirty="0"/>
              <a:t>Total Deposit Liabilities</a:t>
            </a:r>
            <a:endParaRPr lang="en-US" sz="1800" dirty="0"/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4794921" y="1174553"/>
            <a:ext cx="3479180" cy="4817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 dirty="0"/>
              <a:t>Total Capital</a:t>
            </a:r>
            <a:endParaRPr lang="en-US" sz="1800" dirty="0"/>
          </a:p>
        </p:txBody>
      </p:sp>
      <p:sp>
        <p:nvSpPr>
          <p:cNvPr id="21" name="Rectangle 20"/>
          <p:cNvSpPr/>
          <p:nvPr/>
        </p:nvSpPr>
        <p:spPr>
          <a:xfrm>
            <a:off x="3465362" y="5859498"/>
            <a:ext cx="15938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2">
                    <a:lumMod val="50000"/>
                  </a:schemeClr>
                </a:solidFill>
              </a:rPr>
              <a:t>Total: </a:t>
            </a:r>
            <a:r>
              <a:rPr lang="en-US" sz="900" dirty="0" smtClean="0">
                <a:solidFill>
                  <a:schemeClr val="bg2">
                    <a:lumMod val="50000"/>
                  </a:schemeClr>
                </a:solidFill>
              </a:rPr>
              <a:t>6</a:t>
            </a:r>
            <a:r>
              <a:rPr lang="en-US" sz="900" baseline="30000" dirty="0" smtClean="0">
                <a:solidFill>
                  <a:schemeClr val="bg2">
                    <a:lumMod val="50000"/>
                  </a:schemeClr>
                </a:solidFill>
              </a:rPr>
              <a:t>th</a:t>
            </a:r>
            <a:r>
              <a:rPr lang="en-US" sz="900" baseline="30000" dirty="0">
                <a:solidFill>
                  <a:schemeClr val="bg2">
                    <a:lumMod val="50000"/>
                  </a:schemeClr>
                </a:solidFill>
              </a:rPr>
              <a:t>*</a:t>
            </a:r>
            <a:r>
              <a:rPr lang="en-US" sz="900" dirty="0">
                <a:solidFill>
                  <a:schemeClr val="bg2">
                    <a:lumMod val="50000"/>
                  </a:schemeClr>
                </a:solidFill>
              </a:rPr>
              <a:t> </a:t>
            </a:r>
          </a:p>
          <a:p>
            <a:r>
              <a:rPr lang="en-US" sz="900" dirty="0">
                <a:solidFill>
                  <a:schemeClr val="bg2">
                    <a:lumMod val="50000"/>
                  </a:schemeClr>
                </a:solidFill>
              </a:rPr>
              <a:t>Stand alone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: 2</a:t>
            </a:r>
            <a:r>
              <a:rPr lang="en-US" sz="900" baseline="30000" dirty="0">
                <a:solidFill>
                  <a:schemeClr val="bg1">
                    <a:lumMod val="50000"/>
                  </a:schemeClr>
                </a:solidFill>
              </a:rPr>
              <a:t>rd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en-PH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8F2857-9E2B-B404-A6DD-E3F3A2E5CB3A}"/>
              </a:ext>
            </a:extLst>
          </p:cNvPr>
          <p:cNvSpPr txBox="1"/>
          <p:nvPr/>
        </p:nvSpPr>
        <p:spPr>
          <a:xfrm>
            <a:off x="4689742" y="6595045"/>
            <a:ext cx="18820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1000" dirty="0">
                <a:solidFill>
                  <a:schemeClr val="bg1">
                    <a:lumMod val="50000"/>
                  </a:schemeClr>
                </a:solidFill>
              </a:rPr>
              <a:t>Source: BSP website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65364" y="3373829"/>
            <a:ext cx="1329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Total: </a:t>
            </a:r>
            <a:r>
              <a:rPr lang="en-GB" sz="9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6</a:t>
            </a:r>
            <a:r>
              <a:rPr lang="en-GB" sz="900" baseline="30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th*</a:t>
            </a:r>
            <a:r>
              <a:rPr lang="en-GB" sz="9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endParaRPr lang="en-GB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Stand Alone: 2</a:t>
            </a:r>
            <a:r>
              <a:rPr lang="en-GB" sz="900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nd</a:t>
            </a:r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endParaRPr lang="en-PH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015107" y="3344848"/>
            <a:ext cx="1026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Total: </a:t>
            </a:r>
            <a:r>
              <a:rPr lang="en-GB" sz="9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10</a:t>
            </a:r>
            <a:r>
              <a:rPr lang="en-GB" sz="900" baseline="30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th*</a:t>
            </a:r>
            <a:r>
              <a:rPr lang="en-GB" sz="9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endParaRPr lang="en-GB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Stand Alone : 5</a:t>
            </a:r>
            <a:r>
              <a:rPr lang="en-GB" sz="900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</a:t>
            </a:r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</a:t>
            </a:r>
            <a:endParaRPr lang="en-PH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926234" y="5939541"/>
            <a:ext cx="276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Total</a:t>
            </a:r>
            <a:r>
              <a:rPr lang="en-PH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</a:t>
            </a:r>
            <a:r>
              <a:rPr lang="en-PH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6</a:t>
            </a:r>
            <a:r>
              <a:rPr lang="en-PH" sz="900" baseline="30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th</a:t>
            </a:r>
            <a:r>
              <a:rPr lang="en-PH" sz="900" baseline="30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*</a:t>
            </a:r>
            <a:r>
              <a:rPr lang="en-PH" sz="9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endParaRPr lang="en-PH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Stand Alone: 2</a:t>
            </a:r>
            <a:r>
              <a:rPr lang="en-GB" sz="900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nd</a:t>
            </a:r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036" y="6340279"/>
            <a:ext cx="436845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*Total Loans and Receivables – 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  <a:cs typeface="Calibri" panose="020F0502020204030204" pitchFamily="34" charset="0"/>
              </a:rPr>
              <a:t>Stayed at 6th 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from Sept. 2025 to March 2026</a:t>
            </a:r>
            <a:endParaRPr lang="en-PH" sz="1000" i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45034" y="3707699"/>
            <a:ext cx="436845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*Total Assets - 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  <a:cs typeface="Calibri" panose="020F0502020204030204" pitchFamily="34" charset="0"/>
              </a:rPr>
              <a:t>Stayed at 6th 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from Sept. 2025 to March 2026</a:t>
            </a:r>
            <a:endParaRPr lang="en-PH" sz="1000" i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4689742" y="3719961"/>
            <a:ext cx="445425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*Total Capital – 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  <a:cs typeface="Calibri" panose="020F0502020204030204" pitchFamily="34" charset="0"/>
              </a:rPr>
              <a:t>Stayed at </a:t>
            </a:r>
            <a:r>
              <a:rPr lang="en-US" sz="1000" i="1" dirty="0" smtClean="0">
                <a:solidFill>
                  <a:schemeClr val="tx1">
                    <a:lumMod val="85000"/>
                    <a:lumOff val="15000"/>
                  </a:schemeClr>
                </a:solidFill>
                <a:cs typeface="Calibri" panose="020F0502020204030204" pitchFamily="34" charset="0"/>
              </a:rPr>
              <a:t>10</a:t>
            </a:r>
            <a:r>
              <a:rPr lang="en-US" sz="1000" i="1" baseline="30000" dirty="0" smtClean="0">
                <a:solidFill>
                  <a:schemeClr val="tx1">
                    <a:lumMod val="85000"/>
                    <a:lumOff val="15000"/>
                  </a:schemeClr>
                </a:solidFill>
                <a:cs typeface="Calibri" panose="020F0502020204030204" pitchFamily="34" charset="0"/>
              </a:rPr>
              <a:t>th</a:t>
            </a:r>
            <a:r>
              <a:rPr lang="en-US" sz="1000" i="1" dirty="0" smtClean="0">
                <a:solidFill>
                  <a:schemeClr val="tx1">
                    <a:lumMod val="85000"/>
                    <a:lumOff val="15000"/>
                  </a:schemeClr>
                </a:solidFill>
                <a:cs typeface="Calibri" panose="020F0502020204030204" pitchFamily="34" charset="0"/>
              </a:rPr>
              <a:t> 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from Sept. 2025 to March 2026</a:t>
            </a:r>
            <a:endParaRPr lang="en-PH" sz="1000" i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4689742" y="6308875"/>
            <a:ext cx="436845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*Total Deposit Liabilities- 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  <a:cs typeface="Calibri" panose="020F0502020204030204" pitchFamily="34" charset="0"/>
              </a:rPr>
              <a:t>Stayed at 6th 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from Sept. 2025 to March 2026</a:t>
            </a:r>
            <a:endParaRPr lang="en-PH" sz="1000" i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170619" y="3335382"/>
            <a:ext cx="4572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Total Asset – </a:t>
            </a:r>
            <a:r>
              <a:rPr lang="en-US" sz="1400" dirty="0" smtClean="0"/>
              <a:t>12% </a:t>
            </a:r>
            <a:r>
              <a:rPr lang="en-US" sz="1400" dirty="0">
                <a:cs typeface="Calibri" panose="020F0502020204030204" pitchFamily="34" charset="0"/>
              </a:rPr>
              <a:t>↑ vs </a:t>
            </a:r>
            <a:r>
              <a:rPr lang="en-US" sz="1400" dirty="0" smtClean="0">
                <a:cs typeface="Calibri" panose="020F0502020204030204" pitchFamily="34" charset="0"/>
              </a:rPr>
              <a:t>Sept. 2025</a:t>
            </a:r>
            <a:endParaRPr lang="en-US" sz="1400" dirty="0"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cs typeface="Calibri" panose="020F0502020204030204" pitchFamily="34" charset="0"/>
              </a:rPr>
              <a:t>Total Loans &amp; Receivables – </a:t>
            </a:r>
            <a:r>
              <a:rPr lang="en-US" sz="1400" dirty="0" smtClean="0">
                <a:cs typeface="Calibri" panose="020F0502020204030204" pitchFamily="34" charset="0"/>
              </a:rPr>
              <a:t>16%</a:t>
            </a:r>
            <a:r>
              <a:rPr lang="en-US" sz="1400" dirty="0" smtClean="0"/>
              <a:t> </a:t>
            </a:r>
            <a:r>
              <a:rPr lang="en-US" sz="1400" dirty="0">
                <a:cs typeface="Calibri" panose="020F0502020204030204" pitchFamily="34" charset="0"/>
              </a:rPr>
              <a:t>↑ vs </a:t>
            </a:r>
            <a:r>
              <a:rPr lang="en-US" sz="1400" dirty="0" smtClean="0">
                <a:cs typeface="Calibri" panose="020F0502020204030204" pitchFamily="34" charset="0"/>
              </a:rPr>
              <a:t>Sept. 2025</a:t>
            </a:r>
            <a:endParaRPr lang="en-US" sz="1400" dirty="0"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cs typeface="Calibri" panose="020F0502020204030204" pitchFamily="34" charset="0"/>
              </a:rPr>
              <a:t>Total Capital – 3</a:t>
            </a:r>
            <a:r>
              <a:rPr lang="en-US" sz="1400" dirty="0" smtClean="0">
                <a:cs typeface="Calibri" panose="020F0502020204030204" pitchFamily="34" charset="0"/>
              </a:rPr>
              <a:t>%</a:t>
            </a:r>
            <a:r>
              <a:rPr lang="en-US" sz="1400" dirty="0" smtClean="0"/>
              <a:t> </a:t>
            </a:r>
            <a:r>
              <a:rPr lang="en-US" sz="1400" dirty="0">
                <a:cs typeface="Calibri" panose="020F0502020204030204" pitchFamily="34" charset="0"/>
              </a:rPr>
              <a:t>↑ vs </a:t>
            </a:r>
            <a:r>
              <a:rPr lang="en-US" sz="1400" dirty="0" smtClean="0">
                <a:cs typeface="Calibri" panose="020F0502020204030204" pitchFamily="34" charset="0"/>
              </a:rPr>
              <a:t>Sept. 2025</a:t>
            </a:r>
            <a:endParaRPr lang="en-US" sz="1400" dirty="0"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cs typeface="Calibri" panose="020F0502020204030204" pitchFamily="34" charset="0"/>
              </a:rPr>
              <a:t>Total Deposit Liabilities </a:t>
            </a:r>
            <a:r>
              <a:rPr lang="en-US" sz="1400" dirty="0" smtClean="0">
                <a:cs typeface="Calibri" panose="020F0502020204030204" pitchFamily="34" charset="0"/>
              </a:rPr>
              <a:t>– 13%</a:t>
            </a:r>
            <a:r>
              <a:rPr lang="en-US" sz="1400" dirty="0" smtClean="0"/>
              <a:t> </a:t>
            </a:r>
            <a:r>
              <a:rPr lang="en-US" sz="1400" dirty="0">
                <a:cs typeface="Calibri" panose="020F0502020204030204" pitchFamily="34" charset="0"/>
              </a:rPr>
              <a:t>↑ vs </a:t>
            </a:r>
            <a:r>
              <a:rPr lang="en-US" sz="1400" dirty="0" smtClean="0">
                <a:cs typeface="Calibri" panose="020F0502020204030204" pitchFamily="34" charset="0"/>
              </a:rPr>
              <a:t>Sept. 2025</a:t>
            </a:r>
            <a:endParaRPr lang="en-PH" sz="1400" dirty="0"/>
          </a:p>
        </p:txBody>
      </p:sp>
      <p:sp>
        <p:nvSpPr>
          <p:cNvPr id="29" name="Rectangle 28"/>
          <p:cNvSpPr/>
          <p:nvPr/>
        </p:nvSpPr>
        <p:spPr>
          <a:xfrm>
            <a:off x="273050" y="2764490"/>
            <a:ext cx="2254251" cy="166688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4" name="Rectangle 33"/>
          <p:cNvSpPr/>
          <p:nvPr/>
        </p:nvSpPr>
        <p:spPr>
          <a:xfrm>
            <a:off x="4895821" y="3384306"/>
            <a:ext cx="2254251" cy="166688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5" name="Rectangle 34"/>
          <p:cNvSpPr/>
          <p:nvPr/>
        </p:nvSpPr>
        <p:spPr>
          <a:xfrm>
            <a:off x="273050" y="5261024"/>
            <a:ext cx="2647951" cy="172173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6" name="Rectangle 35"/>
          <p:cNvSpPr/>
          <p:nvPr/>
        </p:nvSpPr>
        <p:spPr>
          <a:xfrm>
            <a:off x="4895821" y="5276875"/>
            <a:ext cx="2647951" cy="172173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8" name="Rectangle 37"/>
          <p:cNvSpPr/>
          <p:nvPr/>
        </p:nvSpPr>
        <p:spPr>
          <a:xfrm>
            <a:off x="45036" y="6553248"/>
            <a:ext cx="4572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1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42 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Thrift Banks | </a:t>
            </a:r>
            <a:r>
              <a:rPr lang="en-PH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Amounts in Million Pesos</a:t>
            </a:r>
          </a:p>
        </p:txBody>
      </p:sp>
    </p:spTree>
    <p:extLst>
      <p:ext uri="{BB962C8B-B14F-4D97-AF65-F5344CB8AC3E}">
        <p14:creationId xmlns:p14="http://schemas.microsoft.com/office/powerpoint/2010/main" val="222005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" name="Chart 3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50778318"/>
              </p:ext>
            </p:extLst>
          </p:nvPr>
        </p:nvGraphicFramePr>
        <p:xfrm>
          <a:off x="4800900" y="4191277"/>
          <a:ext cx="4241068" cy="21615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7" name="Chart 3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38627527"/>
              </p:ext>
            </p:extLst>
          </p:nvPr>
        </p:nvGraphicFramePr>
        <p:xfrm>
          <a:off x="50087" y="4191277"/>
          <a:ext cx="4257416" cy="21615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3" name="Chart 3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08591347"/>
              </p:ext>
            </p:extLst>
          </p:nvPr>
        </p:nvGraphicFramePr>
        <p:xfrm>
          <a:off x="4794917" y="1528428"/>
          <a:ext cx="4247051" cy="21792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9" name="Chart 2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83000042"/>
              </p:ext>
            </p:extLst>
          </p:nvPr>
        </p:nvGraphicFramePr>
        <p:xfrm>
          <a:off x="28736" y="1517804"/>
          <a:ext cx="4278767" cy="21759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Title 1"/>
          <p:cNvSpPr txBox="1">
            <a:spLocks/>
          </p:cNvSpPr>
          <p:nvPr/>
        </p:nvSpPr>
        <p:spPr>
          <a:xfrm>
            <a:off x="0" y="1173012"/>
            <a:ext cx="3820090" cy="4810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 dirty="0"/>
              <a:t>Total Assets</a:t>
            </a:r>
            <a:endParaRPr lang="en-US" sz="1600" dirty="0"/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4794921" y="1174553"/>
            <a:ext cx="3479180" cy="4817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 dirty="0"/>
              <a:t>Total Capital</a:t>
            </a:r>
            <a:endParaRPr lang="en-US" sz="1800" dirty="0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-40647" y="3837838"/>
            <a:ext cx="3459444" cy="473809"/>
          </a:xfrm>
        </p:spPr>
        <p:txBody>
          <a:bodyPr>
            <a:normAutofit/>
          </a:bodyPr>
          <a:lstStyle/>
          <a:p>
            <a:pPr lvl="0"/>
            <a:r>
              <a:rPr lang="en-US" sz="1600" b="1" dirty="0"/>
              <a:t>Total Loans and Receivables</a:t>
            </a:r>
            <a:endParaRPr lang="en-US" sz="1800" dirty="0"/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4757253" y="3812436"/>
            <a:ext cx="3479180" cy="473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 dirty="0"/>
              <a:t>Total Deposit Liabilities</a:t>
            </a:r>
            <a:endParaRPr lang="en-US" sz="1800" dirty="0"/>
          </a:p>
        </p:txBody>
      </p:sp>
      <p:sp>
        <p:nvSpPr>
          <p:cNvPr id="17" name="Rectangle 16"/>
          <p:cNvSpPr/>
          <p:nvPr/>
        </p:nvSpPr>
        <p:spPr>
          <a:xfrm>
            <a:off x="246064" y="2451361"/>
            <a:ext cx="2182811" cy="169918"/>
          </a:xfrm>
          <a:prstGeom prst="rect">
            <a:avLst/>
          </a:prstGeom>
          <a:noFill/>
          <a:ln w="952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8" name="TextBox 17"/>
          <p:cNvSpPr txBox="1"/>
          <p:nvPr/>
        </p:nvSpPr>
        <p:spPr>
          <a:xfrm>
            <a:off x="3465364" y="3373829"/>
            <a:ext cx="1329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Total: </a:t>
            </a:r>
            <a:r>
              <a:rPr lang="en-GB" sz="9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6</a:t>
            </a:r>
            <a:r>
              <a:rPr lang="en-GB" sz="900" baseline="30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th</a:t>
            </a:r>
            <a:r>
              <a:rPr lang="en-GB" sz="9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endParaRPr lang="en-GB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Stand Alone: 2</a:t>
            </a:r>
            <a:r>
              <a:rPr lang="en-GB" sz="900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nd</a:t>
            </a:r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endParaRPr lang="en-PH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5034" y="3707699"/>
            <a:ext cx="436845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*Total Assets </a:t>
            </a:r>
            <a:r>
              <a:rPr lang="en-US" sz="1000" i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- 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  <a:cs typeface="Calibri" panose="020F0502020204030204" pitchFamily="34" charset="0"/>
              </a:rPr>
              <a:t>Stayed at 6th 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from Sept. 2025 to March 2026</a:t>
            </a:r>
            <a:endParaRPr lang="en-PH" sz="1000" i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015107" y="3344848"/>
            <a:ext cx="1026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Total: </a:t>
            </a:r>
            <a:r>
              <a:rPr lang="en-GB" sz="9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10</a:t>
            </a:r>
            <a:r>
              <a:rPr lang="en-GB" sz="900" baseline="30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th*</a:t>
            </a:r>
            <a:r>
              <a:rPr lang="en-GB" sz="9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endParaRPr lang="en-GB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Stand Alone : 5</a:t>
            </a:r>
            <a:r>
              <a:rPr lang="en-GB" sz="900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</a:t>
            </a:r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</a:t>
            </a:r>
            <a:endParaRPr lang="en-PH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689742" y="3715907"/>
            <a:ext cx="445425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*Total Capital – 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  <a:cs typeface="Calibri" panose="020F0502020204030204" pitchFamily="34" charset="0"/>
              </a:rPr>
              <a:t>Stayed at </a:t>
            </a:r>
            <a:r>
              <a:rPr lang="en-US" sz="1000" i="1" dirty="0" smtClean="0">
                <a:solidFill>
                  <a:schemeClr val="tx1">
                    <a:lumMod val="85000"/>
                    <a:lumOff val="15000"/>
                  </a:schemeClr>
                </a:solidFill>
                <a:cs typeface="Calibri" panose="020F0502020204030204" pitchFamily="34" charset="0"/>
              </a:rPr>
              <a:t>10</a:t>
            </a:r>
            <a:r>
              <a:rPr lang="en-US" sz="1000" i="1" baseline="30000" dirty="0" smtClean="0">
                <a:solidFill>
                  <a:schemeClr val="tx1">
                    <a:lumMod val="85000"/>
                    <a:lumOff val="15000"/>
                  </a:schemeClr>
                </a:solidFill>
                <a:cs typeface="Calibri" panose="020F0502020204030204" pitchFamily="34" charset="0"/>
              </a:rPr>
              <a:t>th</a:t>
            </a:r>
            <a:r>
              <a:rPr lang="en-US" sz="1000" i="1" dirty="0" smtClean="0">
                <a:solidFill>
                  <a:schemeClr val="tx1">
                    <a:lumMod val="85000"/>
                    <a:lumOff val="15000"/>
                  </a:schemeClr>
                </a:solidFill>
                <a:cs typeface="Calibri" panose="020F0502020204030204" pitchFamily="34" charset="0"/>
              </a:rPr>
              <a:t> 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from Sept. 2025 to March 2026</a:t>
            </a:r>
            <a:endParaRPr lang="en-PH" sz="1000" i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465362" y="5937666"/>
            <a:ext cx="15938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 smtClean="0">
                <a:solidFill>
                  <a:schemeClr val="bg2">
                    <a:lumMod val="50000"/>
                  </a:schemeClr>
                </a:solidFill>
              </a:rPr>
              <a:t>Total: 6</a:t>
            </a:r>
            <a:r>
              <a:rPr lang="en-US" sz="900" baseline="30000" dirty="0" smtClean="0">
                <a:solidFill>
                  <a:schemeClr val="bg2">
                    <a:lumMod val="50000"/>
                  </a:schemeClr>
                </a:solidFill>
              </a:rPr>
              <a:t>th</a:t>
            </a:r>
            <a:r>
              <a:rPr lang="en-US" sz="900" baseline="30000" dirty="0">
                <a:solidFill>
                  <a:schemeClr val="bg2">
                    <a:lumMod val="50000"/>
                  </a:schemeClr>
                </a:solidFill>
              </a:rPr>
              <a:t>*</a:t>
            </a:r>
            <a:r>
              <a:rPr lang="en-US" sz="900" dirty="0">
                <a:solidFill>
                  <a:schemeClr val="bg2">
                    <a:lumMod val="50000"/>
                  </a:schemeClr>
                </a:solidFill>
              </a:rPr>
              <a:t> </a:t>
            </a:r>
          </a:p>
          <a:p>
            <a:r>
              <a:rPr lang="en-US" sz="900" dirty="0">
                <a:solidFill>
                  <a:schemeClr val="bg2">
                    <a:lumMod val="50000"/>
                  </a:schemeClr>
                </a:solidFill>
              </a:rPr>
              <a:t>Stand alone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: 2</a:t>
            </a:r>
            <a:r>
              <a:rPr lang="en-US" sz="900" baseline="30000" dirty="0">
                <a:solidFill>
                  <a:schemeClr val="bg1">
                    <a:lumMod val="50000"/>
                  </a:schemeClr>
                </a:solidFill>
              </a:rPr>
              <a:t>rd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en-PH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8736" y="6314925"/>
            <a:ext cx="436845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*Total Loans and Receivables – 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  <a:cs typeface="Calibri" panose="020F0502020204030204" pitchFamily="34" charset="0"/>
              </a:rPr>
              <a:t>Stayed at 6th 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from Sept. 2025 to March 2026</a:t>
            </a:r>
            <a:endParaRPr lang="en-PH" sz="1000" i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n-PH" sz="1000" i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015107" y="5945593"/>
            <a:ext cx="276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Total</a:t>
            </a:r>
            <a:r>
              <a:rPr lang="en-PH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</a:t>
            </a:r>
            <a:r>
              <a:rPr lang="en-PH" sz="9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6</a:t>
            </a:r>
            <a:r>
              <a:rPr lang="en-PH" sz="900" baseline="30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th</a:t>
            </a:r>
            <a:r>
              <a:rPr lang="en-PH" sz="9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endParaRPr lang="en-PH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Stand Alone: 2</a:t>
            </a:r>
            <a:r>
              <a:rPr lang="en-GB" sz="900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nd</a:t>
            </a:r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00670" y="6320941"/>
            <a:ext cx="436845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*Total Deposit Liabilities- </a:t>
            </a:r>
            <a:r>
              <a:rPr lang="en-US" sz="1000" i="1" dirty="0" smtClean="0">
                <a:solidFill>
                  <a:schemeClr val="tx1">
                    <a:lumMod val="85000"/>
                    <a:lumOff val="15000"/>
                  </a:schemeClr>
                </a:solidFill>
                <a:cs typeface="Calibri" panose="020F0502020204030204" pitchFamily="34" charset="0"/>
              </a:rPr>
              <a:t>Stayed at 6th </a:t>
            </a:r>
            <a:r>
              <a:rPr lang="en-US" sz="1000" i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from Sept. 2025 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to March </a:t>
            </a:r>
            <a:r>
              <a:rPr lang="en-US" sz="1000" i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2026</a:t>
            </a:r>
            <a:endParaRPr lang="en-PH" sz="1000" i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5036" y="6553248"/>
            <a:ext cx="4572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1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42 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Thrift Banks | </a:t>
            </a:r>
            <a:r>
              <a:rPr lang="en-PH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Amounts in Million Pesos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28F2857-9E2B-B404-A6DD-E3F3A2E5CB3A}"/>
              </a:ext>
            </a:extLst>
          </p:cNvPr>
          <p:cNvSpPr txBox="1"/>
          <p:nvPr/>
        </p:nvSpPr>
        <p:spPr>
          <a:xfrm>
            <a:off x="4689742" y="6595045"/>
            <a:ext cx="18820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1000" dirty="0">
                <a:solidFill>
                  <a:schemeClr val="bg1">
                    <a:lumMod val="50000"/>
                  </a:schemeClr>
                </a:solidFill>
              </a:rPr>
              <a:t>Source: BSP website</a:t>
            </a:r>
          </a:p>
        </p:txBody>
      </p:sp>
      <p:sp>
        <p:nvSpPr>
          <p:cNvPr id="28" name="Title 1"/>
          <p:cNvSpPr txBox="1">
            <a:spLocks/>
          </p:cNvSpPr>
          <p:nvPr/>
        </p:nvSpPr>
        <p:spPr>
          <a:xfrm>
            <a:off x="-40647" y="75510"/>
            <a:ext cx="7136780" cy="12203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100" b="1" dirty="0">
                <a:latin typeface="+mn-lt"/>
              </a:rPr>
              <a:t>INDUSTRY RANKING</a:t>
            </a:r>
            <a:br>
              <a:rPr lang="en-US" sz="3100" b="1" dirty="0">
                <a:latin typeface="+mn-lt"/>
              </a:rPr>
            </a:br>
            <a:r>
              <a:rPr lang="en-US" sz="2000" dirty="0">
                <a:latin typeface="+mn-lt"/>
              </a:rPr>
              <a:t>Thrift Bank Group, </a:t>
            </a:r>
            <a:r>
              <a:rPr lang="en-US" sz="2000" dirty="0" smtClean="0">
                <a:latin typeface="+mn-lt"/>
              </a:rPr>
              <a:t>September 2025 </a:t>
            </a:r>
            <a:r>
              <a:rPr lang="en-US" sz="2000" dirty="0">
                <a:latin typeface="+mn-lt"/>
              </a:rPr>
              <a:t>vs March </a:t>
            </a:r>
            <a:r>
              <a:rPr lang="en-US" sz="2000" dirty="0" smtClean="0">
                <a:latin typeface="+mn-lt"/>
              </a:rPr>
              <a:t>2026</a:t>
            </a:r>
            <a:endParaRPr lang="en-US" sz="2400" dirty="0">
              <a:latin typeface="+mn-lt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5000197" y="3063874"/>
            <a:ext cx="1610153" cy="182207"/>
          </a:xfrm>
          <a:prstGeom prst="rect">
            <a:avLst/>
          </a:prstGeom>
          <a:noFill/>
          <a:ln w="952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4" name="Rectangle 33"/>
          <p:cNvSpPr/>
          <p:nvPr/>
        </p:nvSpPr>
        <p:spPr>
          <a:xfrm>
            <a:off x="195264" y="5107293"/>
            <a:ext cx="2493106" cy="18376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6" name="Rectangle 35"/>
          <p:cNvSpPr/>
          <p:nvPr/>
        </p:nvSpPr>
        <p:spPr>
          <a:xfrm>
            <a:off x="5000197" y="5115221"/>
            <a:ext cx="2330878" cy="175841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01383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" name="Chart 45">
            <a:extLst>
              <a:ext uri="{FF2B5EF4-FFF2-40B4-BE49-F238E27FC236}">
                <a16:creationId xmlns:a16="http://schemas.microsoft.com/office/drawing/2014/main" id="{03CBC2B6-A71C-46B1-8ECE-BBA8AD17AD0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49056116"/>
              </p:ext>
            </p:extLst>
          </p:nvPr>
        </p:nvGraphicFramePr>
        <p:xfrm>
          <a:off x="4689568" y="4201466"/>
          <a:ext cx="4371593" cy="20807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3" name="Chart 42">
            <a:extLst>
              <a:ext uri="{FF2B5EF4-FFF2-40B4-BE49-F238E27FC236}">
                <a16:creationId xmlns:a16="http://schemas.microsoft.com/office/drawing/2014/main" id="{B2DCDBD3-5942-4818-91C4-BC181F66B1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3703777"/>
              </p:ext>
            </p:extLst>
          </p:nvPr>
        </p:nvGraphicFramePr>
        <p:xfrm>
          <a:off x="45036" y="4168979"/>
          <a:ext cx="4302347" cy="21162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41" name="Chart 40">
            <a:extLst>
              <a:ext uri="{FF2B5EF4-FFF2-40B4-BE49-F238E27FC236}">
                <a16:creationId xmlns:a16="http://schemas.microsoft.com/office/drawing/2014/main" id="{B3064AEA-7A42-4F89-BF35-7BDA3FBB934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95244688"/>
              </p:ext>
            </p:extLst>
          </p:nvPr>
        </p:nvGraphicFramePr>
        <p:xfrm>
          <a:off x="4689569" y="1510758"/>
          <a:ext cx="4327432" cy="21888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33" name="Chart 32">
            <a:extLst>
              <a:ext uri="{FF2B5EF4-FFF2-40B4-BE49-F238E27FC236}">
                <a16:creationId xmlns:a16="http://schemas.microsoft.com/office/drawing/2014/main" id="{51F086AC-2D88-4D85-8210-26166A48A36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45559907"/>
              </p:ext>
            </p:extLst>
          </p:nvPr>
        </p:nvGraphicFramePr>
        <p:xfrm>
          <a:off x="45036" y="1512312"/>
          <a:ext cx="4302347" cy="21948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924621"/>
            <a:ext cx="3479180" cy="236124"/>
          </a:xfrm>
        </p:spPr>
        <p:txBody>
          <a:bodyPr>
            <a:noAutofit/>
          </a:bodyPr>
          <a:lstStyle/>
          <a:p>
            <a:pPr lvl="0"/>
            <a:r>
              <a:rPr lang="en-US" sz="1600" b="1" dirty="0"/>
              <a:t>Total Loans and Receivables</a:t>
            </a:r>
            <a:endParaRPr lang="en-US" sz="1800" dirty="0"/>
          </a:p>
        </p:txBody>
      </p:sp>
      <p:sp>
        <p:nvSpPr>
          <p:cNvPr id="14" name="Title 1"/>
          <p:cNvSpPr txBox="1">
            <a:spLocks/>
          </p:cNvSpPr>
          <p:nvPr/>
        </p:nvSpPr>
        <p:spPr>
          <a:xfrm>
            <a:off x="0" y="1151157"/>
            <a:ext cx="3820090" cy="481046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 dirty="0"/>
              <a:t>Total Assets</a:t>
            </a:r>
            <a:endParaRPr lang="en-US" sz="1600" dirty="0"/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4689568" y="3926210"/>
            <a:ext cx="3479180" cy="3026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 dirty="0"/>
              <a:t>Total Deposit Liabilities</a:t>
            </a:r>
            <a:endParaRPr lang="en-US" sz="1800" dirty="0"/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4689568" y="1147385"/>
            <a:ext cx="3479180" cy="483749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 dirty="0"/>
              <a:t>Total Capital</a:t>
            </a:r>
            <a:endParaRPr lang="en-US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2B6C5F-819A-6424-BE85-FF1D53B48F15}"/>
              </a:ext>
            </a:extLst>
          </p:cNvPr>
          <p:cNvSpPr txBox="1"/>
          <p:nvPr/>
        </p:nvSpPr>
        <p:spPr>
          <a:xfrm>
            <a:off x="5903858" y="6556636"/>
            <a:ext cx="18820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1050" dirty="0">
                <a:solidFill>
                  <a:schemeClr val="bg1">
                    <a:lumMod val="50000"/>
                  </a:schemeClr>
                </a:solidFill>
              </a:rPr>
              <a:t>Source: BSP website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77970" y="3298011"/>
            <a:ext cx="2702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Stand Alone: 2</a:t>
            </a:r>
            <a:r>
              <a:rPr lang="en-GB" sz="900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rd</a:t>
            </a:r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  <a:p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Total : </a:t>
            </a:r>
            <a:r>
              <a:rPr lang="en-GB" sz="9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6</a:t>
            </a:r>
            <a:r>
              <a:rPr lang="en-GB" sz="900" baseline="30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th</a:t>
            </a:r>
            <a:r>
              <a:rPr lang="en-GB" sz="9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endParaRPr lang="en-PH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881878" y="3298011"/>
            <a:ext cx="3152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Stand Alone: 5</a:t>
            </a:r>
            <a:r>
              <a:rPr lang="en-GB" sz="900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</a:t>
            </a:r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  <a:p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Total: </a:t>
            </a:r>
            <a:r>
              <a:rPr lang="en-GB" sz="9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10</a:t>
            </a:r>
            <a:r>
              <a:rPr lang="en-GB" sz="900" baseline="30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th</a:t>
            </a:r>
            <a:r>
              <a:rPr lang="en-GB" sz="9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endParaRPr lang="en-PH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377970" y="5953239"/>
            <a:ext cx="1808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Stand Alone: 2</a:t>
            </a:r>
            <a:r>
              <a:rPr lang="en-GB" sz="900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nd</a:t>
            </a:r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  <a:p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Total: </a:t>
            </a:r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6</a:t>
            </a:r>
            <a:r>
              <a:rPr lang="en-GB" sz="900" baseline="30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th</a:t>
            </a:r>
            <a:r>
              <a:rPr lang="en-GB" sz="9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endParaRPr lang="en-PH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881878" y="5953239"/>
            <a:ext cx="2729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Stand Alone: 2</a:t>
            </a:r>
            <a:r>
              <a:rPr lang="en-GB" sz="900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nd</a:t>
            </a:r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</a:t>
            </a:r>
          </a:p>
          <a:p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Total:  </a:t>
            </a:r>
            <a:r>
              <a:rPr lang="en-GB" sz="9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6</a:t>
            </a:r>
            <a:r>
              <a:rPr lang="en-GB" sz="900" baseline="30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th</a:t>
            </a:r>
            <a:r>
              <a:rPr lang="en-GB" sz="9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endParaRPr lang="en-PH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5037" y="6299722"/>
            <a:ext cx="4912911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*Total Loans and Receivables - Stayed at 2</a:t>
            </a:r>
            <a:r>
              <a:rPr lang="en-US" sz="1000" i="1" baseline="30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nd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from </a:t>
            </a:r>
            <a:r>
              <a:rPr lang="en-US" sz="1000" i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Sept. 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2025 to March 2026</a:t>
            </a:r>
            <a:endParaRPr lang="en-PH" sz="1000" i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8" name="Title 1"/>
          <p:cNvSpPr txBox="1">
            <a:spLocks/>
          </p:cNvSpPr>
          <p:nvPr/>
        </p:nvSpPr>
        <p:spPr>
          <a:xfrm>
            <a:off x="156118" y="89212"/>
            <a:ext cx="713678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100" b="1" dirty="0">
                <a:latin typeface="+mn-lt"/>
              </a:rPr>
              <a:t>INDUSTRY RANKING</a:t>
            </a:r>
            <a:br>
              <a:rPr lang="en-US" sz="3100" b="1" dirty="0">
                <a:latin typeface="+mn-lt"/>
              </a:rPr>
            </a:br>
            <a:r>
              <a:rPr lang="en-US" sz="2000" dirty="0">
                <a:latin typeface="+mn-lt"/>
              </a:rPr>
              <a:t>Thrift Bank Group, as of 31 March </a:t>
            </a:r>
            <a:r>
              <a:rPr lang="en-US" sz="2000" dirty="0" smtClean="0">
                <a:latin typeface="+mn-lt"/>
              </a:rPr>
              <a:t>2026</a:t>
            </a:r>
            <a:endParaRPr lang="en-US" sz="2400" dirty="0">
              <a:latin typeface="+mn-lt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606904" y="3702897"/>
            <a:ext cx="445425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*Total Capital – 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  <a:cs typeface="Calibri" panose="020F0502020204030204" pitchFamily="34" charset="0"/>
              </a:rPr>
              <a:t>Stayed at 5</a:t>
            </a:r>
            <a:r>
              <a:rPr lang="en-US" sz="1000" i="1" baseline="30000" dirty="0">
                <a:solidFill>
                  <a:schemeClr val="tx1">
                    <a:lumMod val="85000"/>
                    <a:lumOff val="15000"/>
                  </a:schemeClr>
                </a:solidFill>
                <a:cs typeface="Calibri" panose="020F0502020204030204" pitchFamily="34" charset="0"/>
              </a:rPr>
              <a:t>th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  <a:cs typeface="Calibri" panose="020F0502020204030204" pitchFamily="34" charset="0"/>
              </a:rPr>
              <a:t> from </a:t>
            </a:r>
            <a:r>
              <a:rPr lang="en-US" sz="1000" i="1" dirty="0" smtClean="0">
                <a:solidFill>
                  <a:schemeClr val="tx1">
                    <a:lumMod val="85000"/>
                    <a:lumOff val="15000"/>
                  </a:schemeClr>
                </a:solidFill>
                <a:cs typeface="Calibri" panose="020F0502020204030204" pitchFamily="34" charset="0"/>
              </a:rPr>
              <a:t>Sept. 2025 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  <a:cs typeface="Calibri" panose="020F0502020204030204" pitchFamily="34" charset="0"/>
              </a:rPr>
              <a:t>to March </a:t>
            </a:r>
            <a:r>
              <a:rPr lang="en-US" sz="1000" i="1" dirty="0" smtClean="0">
                <a:solidFill>
                  <a:schemeClr val="tx1">
                    <a:lumMod val="85000"/>
                    <a:lumOff val="15000"/>
                  </a:schemeClr>
                </a:solidFill>
                <a:cs typeface="Calibri" panose="020F0502020204030204" pitchFamily="34" charset="0"/>
              </a:rPr>
              <a:t>2026</a:t>
            </a:r>
            <a:endParaRPr lang="en-PH" sz="1000" i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626155" y="6310695"/>
            <a:ext cx="445425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*Total Deposit Liabilities – 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  <a:cs typeface="Calibri" panose="020F0502020204030204" pitchFamily="34" charset="0"/>
              </a:rPr>
              <a:t>Stayed at 2</a:t>
            </a:r>
            <a:r>
              <a:rPr lang="en-US" sz="1000" i="1" baseline="30000" dirty="0">
                <a:solidFill>
                  <a:schemeClr val="tx1">
                    <a:lumMod val="85000"/>
                    <a:lumOff val="15000"/>
                  </a:schemeClr>
                </a:solidFill>
                <a:cs typeface="Calibri" panose="020F0502020204030204" pitchFamily="34" charset="0"/>
              </a:rPr>
              <a:t>nd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  <a:cs typeface="Calibri" panose="020F0502020204030204" pitchFamily="34" charset="0"/>
              </a:rPr>
              <a:t> from </a:t>
            </a:r>
            <a:r>
              <a:rPr lang="en-US" sz="1000" i="1" dirty="0" smtClean="0">
                <a:solidFill>
                  <a:schemeClr val="tx1">
                    <a:lumMod val="85000"/>
                    <a:lumOff val="15000"/>
                  </a:schemeClr>
                </a:solidFill>
                <a:cs typeface="Calibri" panose="020F0502020204030204" pitchFamily="34" charset="0"/>
              </a:rPr>
              <a:t>Sept. 2025 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  <a:cs typeface="Calibri" panose="020F0502020204030204" pitchFamily="34" charset="0"/>
              </a:rPr>
              <a:t>to March </a:t>
            </a:r>
            <a:r>
              <a:rPr lang="en-US" sz="1000" i="1" dirty="0" smtClean="0">
                <a:solidFill>
                  <a:schemeClr val="tx1">
                    <a:lumMod val="85000"/>
                    <a:lumOff val="15000"/>
                  </a:schemeClr>
                </a:solidFill>
                <a:cs typeface="Calibri" panose="020F0502020204030204" pitchFamily="34" charset="0"/>
              </a:rPr>
              <a:t>2026</a:t>
            </a:r>
            <a:endParaRPr lang="en-PH" sz="1000" i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0129" y="3694012"/>
            <a:ext cx="445425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*Total </a:t>
            </a:r>
            <a:r>
              <a:rPr lang="en-US" sz="1000" i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Assets 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– </a:t>
            </a:r>
            <a:r>
              <a:rPr lang="en-US" sz="1000" i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Stayed at 2</a:t>
            </a:r>
            <a:r>
              <a:rPr lang="en-US" sz="1000" i="1" baseline="30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nd</a:t>
            </a:r>
            <a:r>
              <a:rPr lang="en-US" sz="1000" i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from </a:t>
            </a:r>
            <a:r>
              <a:rPr lang="en-US" sz="1000" i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Sept. 2025 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to March </a:t>
            </a:r>
            <a:r>
              <a:rPr lang="en-US" sz="1000" i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2026</a:t>
            </a:r>
            <a:endParaRPr lang="en-PH" sz="1000" i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45036" y="6553248"/>
            <a:ext cx="4572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1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42 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Thrift Banks | </a:t>
            </a:r>
            <a:r>
              <a:rPr lang="en-PH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Amounts in Million Pesos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56118" y="2095500"/>
            <a:ext cx="2663282" cy="276418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6" name="Rectangle 35"/>
          <p:cNvSpPr/>
          <p:nvPr/>
        </p:nvSpPr>
        <p:spPr>
          <a:xfrm>
            <a:off x="283495" y="4788504"/>
            <a:ext cx="2735930" cy="219075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7" name="Rectangle 36"/>
          <p:cNvSpPr/>
          <p:nvPr/>
        </p:nvSpPr>
        <p:spPr>
          <a:xfrm>
            <a:off x="4917332" y="4802790"/>
            <a:ext cx="2868566" cy="20478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8" name="Rectangle 37"/>
          <p:cNvSpPr/>
          <p:nvPr/>
        </p:nvSpPr>
        <p:spPr>
          <a:xfrm>
            <a:off x="4771869" y="3241517"/>
            <a:ext cx="2421411" cy="219075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11250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" name="Chart 31"/>
          <p:cNvGraphicFramePr>
            <a:graphicFrameLocks/>
          </p:cNvGraphicFramePr>
          <p:nvPr>
            <p:extLst/>
          </p:nvPr>
        </p:nvGraphicFramePr>
        <p:xfrm>
          <a:off x="5734048" y="3952930"/>
          <a:ext cx="3309001" cy="17123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1" name="Chart 30"/>
          <p:cNvGraphicFramePr>
            <a:graphicFrameLocks/>
          </p:cNvGraphicFramePr>
          <p:nvPr>
            <p:extLst/>
          </p:nvPr>
        </p:nvGraphicFramePr>
        <p:xfrm>
          <a:off x="2283300" y="3957141"/>
          <a:ext cx="3213424" cy="16971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0" name="Chart 29"/>
          <p:cNvGraphicFramePr>
            <a:graphicFrameLocks/>
          </p:cNvGraphicFramePr>
          <p:nvPr>
            <p:extLst/>
          </p:nvPr>
        </p:nvGraphicFramePr>
        <p:xfrm>
          <a:off x="5734048" y="1864430"/>
          <a:ext cx="3276344" cy="16314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9" name="Chart 28"/>
          <p:cNvGraphicFramePr>
            <a:graphicFrameLocks/>
          </p:cNvGraphicFramePr>
          <p:nvPr>
            <p:extLst/>
          </p:nvPr>
        </p:nvGraphicFramePr>
        <p:xfrm>
          <a:off x="2294962" y="1861409"/>
          <a:ext cx="3201761" cy="16471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pSp>
        <p:nvGrpSpPr>
          <p:cNvPr id="12" name="Group 11"/>
          <p:cNvGrpSpPr/>
          <p:nvPr/>
        </p:nvGrpSpPr>
        <p:grpSpPr>
          <a:xfrm>
            <a:off x="0" y="857250"/>
            <a:ext cx="2253039" cy="5143075"/>
            <a:chOff x="-1244600" y="567"/>
            <a:chExt cx="3004052" cy="6857433"/>
          </a:xfrm>
        </p:grpSpPr>
        <p:pic>
          <p:nvPicPr>
            <p:cNvPr id="13" name="Picture 12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244600" y="567"/>
              <a:ext cx="3004052" cy="6857433"/>
            </a:xfrm>
            <a:prstGeom prst="rect">
              <a:avLst/>
            </a:prstGeom>
          </p:spPr>
        </p:pic>
        <p:sp>
          <p:nvSpPr>
            <p:cNvPr id="14" name="TextBox 13"/>
            <p:cNvSpPr txBox="1"/>
            <p:nvPr/>
          </p:nvSpPr>
          <p:spPr>
            <a:xfrm flipH="1">
              <a:off x="-1001733" y="282378"/>
              <a:ext cx="2595327" cy="6278641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defTabSz="685800">
                <a:defRPr/>
              </a:pPr>
              <a:r>
                <a:rPr lang="en-PH" sz="2250" b="1" dirty="0">
                  <a:ln w="0"/>
                  <a:solidFill>
                    <a:srgbClr val="FFC000"/>
                  </a:solidFill>
                  <a:latin typeface="Calibri" panose="020F0502020204030204"/>
                </a:rPr>
                <a:t>Industry Ranking</a:t>
              </a:r>
            </a:p>
            <a:p>
              <a:pPr defTabSz="685800">
                <a:defRPr/>
              </a:pPr>
              <a:endParaRPr lang="en-PH" sz="2250" b="1" dirty="0">
                <a:ln w="0"/>
                <a:solidFill>
                  <a:srgbClr val="FFC000"/>
                </a:solidFill>
                <a:latin typeface="Calibri" panose="020F0502020204030204"/>
              </a:endParaRPr>
            </a:p>
            <a:p>
              <a:pPr defTabSz="685800">
                <a:defRPr/>
              </a:pPr>
              <a:endParaRPr lang="en-PH" sz="2250" b="1" dirty="0">
                <a:ln w="0"/>
                <a:solidFill>
                  <a:srgbClr val="FFC000"/>
                </a:solidFill>
                <a:latin typeface="Calibri" panose="020F0502020204030204"/>
              </a:endParaRPr>
            </a:p>
            <a:p>
              <a:pPr defTabSz="685800">
                <a:defRPr/>
              </a:pPr>
              <a:endParaRPr lang="en-PH" sz="2250" b="1" dirty="0">
                <a:ln w="0"/>
                <a:solidFill>
                  <a:srgbClr val="FFC000"/>
                </a:solidFill>
                <a:latin typeface="Calibri" panose="020F0502020204030204"/>
              </a:endParaRPr>
            </a:p>
            <a:p>
              <a:pPr defTabSz="685800">
                <a:defRPr/>
              </a:pPr>
              <a:endParaRPr lang="en-PH" sz="2250" b="1" dirty="0">
                <a:ln w="0"/>
                <a:solidFill>
                  <a:srgbClr val="FFC000"/>
                </a:solidFill>
                <a:latin typeface="Calibri" panose="020F0502020204030204"/>
              </a:endParaRPr>
            </a:p>
            <a:p>
              <a:pPr defTabSz="685800">
                <a:defRPr/>
              </a:pPr>
              <a:endParaRPr lang="en-PH" sz="2250" b="1" dirty="0">
                <a:ln w="0"/>
                <a:solidFill>
                  <a:srgbClr val="FFC000"/>
                </a:solidFill>
                <a:latin typeface="Calibri" panose="020F0502020204030204"/>
              </a:endParaRPr>
            </a:p>
            <a:p>
              <a:pPr defTabSz="685800">
                <a:defRPr/>
              </a:pPr>
              <a:endParaRPr lang="en-PH" sz="2250" b="1" dirty="0">
                <a:ln w="0"/>
                <a:solidFill>
                  <a:srgbClr val="FFC000"/>
                </a:solidFill>
                <a:latin typeface="Calibri" panose="020F0502020204030204"/>
              </a:endParaRPr>
            </a:p>
            <a:p>
              <a:pPr defTabSz="685800">
                <a:defRPr/>
              </a:pPr>
              <a:endParaRPr lang="en-PH" sz="2250" b="1" dirty="0">
                <a:ln w="0"/>
                <a:solidFill>
                  <a:srgbClr val="FFC000"/>
                </a:solidFill>
                <a:latin typeface="Calibri" panose="020F0502020204030204"/>
              </a:endParaRPr>
            </a:p>
            <a:p>
              <a:pPr defTabSz="685800">
                <a:defRPr/>
              </a:pPr>
              <a:endParaRPr lang="en-PH" sz="2250" b="1" dirty="0">
                <a:ln w="0"/>
                <a:solidFill>
                  <a:srgbClr val="FFC000"/>
                </a:solidFill>
                <a:latin typeface="Calibri" panose="020F0502020204030204"/>
              </a:endParaRPr>
            </a:p>
            <a:p>
              <a:pPr defTabSz="685800">
                <a:defRPr/>
              </a:pPr>
              <a:endParaRPr lang="en-PH" sz="2250" b="1" dirty="0">
                <a:ln w="0"/>
                <a:solidFill>
                  <a:srgbClr val="FFC000"/>
                </a:solidFill>
                <a:latin typeface="Calibri" panose="020F0502020204030204"/>
              </a:endParaRPr>
            </a:p>
            <a:p>
              <a:pPr defTabSz="685800">
                <a:defRPr/>
              </a:pPr>
              <a:endParaRPr lang="en-PH" sz="2250" b="1" dirty="0">
                <a:ln w="0"/>
                <a:solidFill>
                  <a:srgbClr val="FFC000"/>
                </a:solidFill>
                <a:latin typeface="Calibri" panose="020F0502020204030204"/>
              </a:endParaRPr>
            </a:p>
            <a:p>
              <a:pPr defTabSz="685800">
                <a:defRPr/>
              </a:pPr>
              <a:r>
                <a:rPr lang="en-US" sz="1500" b="1" dirty="0">
                  <a:ln w="0"/>
                  <a:solidFill>
                    <a:srgbClr val="FFC000"/>
                  </a:solidFill>
                  <a:latin typeface="Calibri" panose="020F0502020204030204"/>
                </a:rPr>
                <a:t>Posted as </a:t>
              </a:r>
              <a:r>
                <a:rPr lang="en-US" sz="1500" b="1" dirty="0">
                  <a:ln w="0"/>
                  <a:solidFill>
                    <a:srgbClr val="FFC000"/>
                  </a:solidFill>
                  <a:latin typeface="Calibri" panose="020F0502020204030204"/>
                </a:rPr>
                <a:t>of </a:t>
              </a:r>
              <a:r>
                <a:rPr lang="en-US" sz="1500" b="1" dirty="0">
                  <a:ln w="0"/>
                  <a:solidFill>
                    <a:srgbClr val="FFC000"/>
                  </a:solidFill>
                  <a:latin typeface="Calibri" panose="020F0502020204030204"/>
                </a:rPr>
                <a:t>19 December 2025</a:t>
              </a:r>
              <a:endParaRPr lang="en-PH" sz="2250" b="1" dirty="0">
                <a:ln w="0"/>
                <a:solidFill>
                  <a:srgbClr val="FFC000"/>
                </a:solidFill>
                <a:latin typeface="Calibri" panose="020F0502020204030204"/>
              </a:endParaRPr>
            </a:p>
          </p:txBody>
        </p:sp>
      </p:grpSp>
      <p:sp>
        <p:nvSpPr>
          <p:cNvPr id="55" name="Title 1"/>
          <p:cNvSpPr txBox="1">
            <a:spLocks/>
          </p:cNvSpPr>
          <p:nvPr/>
        </p:nvSpPr>
        <p:spPr>
          <a:xfrm>
            <a:off x="2220382" y="1592558"/>
            <a:ext cx="2865068" cy="360785"/>
          </a:xfrm>
          <a:prstGeom prst="rect">
            <a:avLst/>
          </a:prstGeom>
        </p:spPr>
        <p:txBody>
          <a:bodyPr vert="horz" lIns="68580" tIns="34290" rIns="68580" bIns="3429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685800">
              <a:defRPr/>
            </a:pPr>
            <a:r>
              <a:rPr lang="en-US" sz="1200" b="1" u="sng" dirty="0">
                <a:solidFill>
                  <a:prstClr val="black"/>
                </a:solidFill>
                <a:latin typeface="Calibri Light" panose="020F0302020204030204"/>
              </a:rPr>
              <a:t>Total Assets</a:t>
            </a:r>
            <a:endParaRPr lang="en-US" sz="1200" u="sng" dirty="0">
              <a:solidFill>
                <a:prstClr val="black"/>
              </a:solidFill>
              <a:latin typeface="Calibri Light" panose="020F0302020204030204"/>
            </a:endParaRPr>
          </a:p>
        </p:txBody>
      </p:sp>
      <p:sp>
        <p:nvSpPr>
          <p:cNvPr id="56" name="Title 1"/>
          <p:cNvSpPr txBox="1">
            <a:spLocks/>
          </p:cNvSpPr>
          <p:nvPr/>
        </p:nvSpPr>
        <p:spPr>
          <a:xfrm>
            <a:off x="5680470" y="1581744"/>
            <a:ext cx="2609385" cy="361349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685800">
              <a:defRPr/>
            </a:pPr>
            <a:r>
              <a:rPr lang="en-US" sz="1200" b="1" u="sng" dirty="0">
                <a:solidFill>
                  <a:prstClr val="black"/>
                </a:solidFill>
                <a:latin typeface="Calibri Light" panose="020F0302020204030204"/>
              </a:rPr>
              <a:t>Total </a:t>
            </a:r>
            <a:r>
              <a:rPr lang="en-US" sz="1200" b="1" u="sng" dirty="0">
                <a:solidFill>
                  <a:prstClr val="black"/>
                </a:solidFill>
                <a:latin typeface="Calibri Light" panose="020F0302020204030204"/>
              </a:rPr>
              <a:t>Stockholder’s Equity</a:t>
            </a:r>
            <a:endParaRPr lang="en-US" sz="1350" u="sng" dirty="0">
              <a:solidFill>
                <a:prstClr val="black"/>
              </a:solidFill>
              <a:latin typeface="Calibri Light" panose="020F0302020204030204"/>
            </a:endParaRPr>
          </a:p>
        </p:txBody>
      </p:sp>
      <p:sp>
        <p:nvSpPr>
          <p:cNvPr id="57" name="Title 1"/>
          <p:cNvSpPr>
            <a:spLocks noGrp="1"/>
          </p:cNvSpPr>
          <p:nvPr>
            <p:ph type="title"/>
          </p:nvPr>
        </p:nvSpPr>
        <p:spPr>
          <a:xfrm>
            <a:off x="2195528" y="3693630"/>
            <a:ext cx="2594583" cy="355357"/>
          </a:xfrm>
        </p:spPr>
        <p:txBody>
          <a:bodyPr>
            <a:normAutofit/>
          </a:bodyPr>
          <a:lstStyle/>
          <a:p>
            <a:pPr lvl="0"/>
            <a:r>
              <a:rPr lang="en-US" sz="1200" b="1" u="sng" dirty="0"/>
              <a:t>Total Loans and Receivables</a:t>
            </a:r>
            <a:endParaRPr lang="en-US" sz="1350" u="sng" dirty="0"/>
          </a:p>
        </p:txBody>
      </p:sp>
      <p:sp>
        <p:nvSpPr>
          <p:cNvPr id="58" name="Title 1"/>
          <p:cNvSpPr txBox="1">
            <a:spLocks/>
          </p:cNvSpPr>
          <p:nvPr/>
        </p:nvSpPr>
        <p:spPr>
          <a:xfrm>
            <a:off x="5766579" y="3680525"/>
            <a:ext cx="2609385" cy="354900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685800">
              <a:defRPr/>
            </a:pPr>
            <a:r>
              <a:rPr lang="en-US" sz="1200" b="1" u="sng" dirty="0">
                <a:solidFill>
                  <a:prstClr val="black"/>
                </a:solidFill>
                <a:latin typeface="Calibri Light" panose="020F0302020204030204"/>
              </a:rPr>
              <a:t>Total Deposit Liabilities</a:t>
            </a:r>
            <a:endParaRPr lang="en-US" sz="1350" u="sng" dirty="0">
              <a:solidFill>
                <a:prstClr val="black"/>
              </a:solidFill>
              <a:latin typeface="Calibri Light" panose="020F0302020204030204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2435189" y="2579586"/>
            <a:ext cx="1829630" cy="109065"/>
          </a:xfrm>
          <a:prstGeom prst="rect">
            <a:avLst/>
          </a:prstGeom>
          <a:noFill/>
          <a:ln w="952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PH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4820803" y="3231551"/>
            <a:ext cx="99716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defRPr/>
            </a:pPr>
            <a:r>
              <a:rPr lang="en-GB" sz="675" dirty="0">
                <a:solidFill>
                  <a:srgbClr val="7F7F7F"/>
                </a:solidFill>
                <a:latin typeface="Calibri" panose="020F0502020204030204"/>
              </a:rPr>
              <a:t>Total: </a:t>
            </a:r>
            <a:r>
              <a:rPr lang="en-GB" sz="675" dirty="0">
                <a:solidFill>
                  <a:srgbClr val="7F7F7F"/>
                </a:solidFill>
                <a:latin typeface="Calibri" panose="020F0502020204030204"/>
              </a:rPr>
              <a:t>6</a:t>
            </a:r>
            <a:r>
              <a:rPr lang="en-GB" sz="675" baseline="30000" dirty="0">
                <a:solidFill>
                  <a:srgbClr val="7F7F7F"/>
                </a:solidFill>
                <a:latin typeface="Calibri" panose="020F0502020204030204"/>
              </a:rPr>
              <a:t>th</a:t>
            </a:r>
            <a:r>
              <a:rPr lang="en-GB" sz="675" dirty="0">
                <a:solidFill>
                  <a:srgbClr val="7F7F7F"/>
                </a:solidFill>
                <a:latin typeface="Calibri" panose="020F0502020204030204"/>
              </a:rPr>
              <a:t> </a:t>
            </a:r>
            <a:endParaRPr lang="en-GB" sz="675" dirty="0">
              <a:solidFill>
                <a:srgbClr val="7F7F7F"/>
              </a:solidFill>
              <a:latin typeface="Calibri" panose="020F0502020204030204"/>
            </a:endParaRPr>
          </a:p>
          <a:p>
            <a:pPr defTabSz="685800">
              <a:defRPr/>
            </a:pPr>
            <a:r>
              <a:rPr lang="en-GB" sz="675" dirty="0">
                <a:solidFill>
                  <a:srgbClr val="7F7F7F"/>
                </a:solidFill>
                <a:latin typeface="Calibri" panose="020F0502020204030204"/>
              </a:rPr>
              <a:t>Stand </a:t>
            </a:r>
            <a:r>
              <a:rPr lang="en-GB" sz="675" dirty="0">
                <a:solidFill>
                  <a:srgbClr val="7F7F7F"/>
                </a:solidFill>
                <a:latin typeface="Calibri" panose="020F0502020204030204"/>
              </a:rPr>
              <a:t>Alone</a:t>
            </a:r>
            <a:r>
              <a:rPr lang="en-GB" sz="675" dirty="0">
                <a:solidFill>
                  <a:srgbClr val="7F7F7F"/>
                </a:solidFill>
                <a:latin typeface="Calibri" panose="020F0502020204030204"/>
              </a:rPr>
              <a:t>: 2</a:t>
            </a:r>
            <a:r>
              <a:rPr lang="en-GB" sz="675" baseline="30000" dirty="0">
                <a:solidFill>
                  <a:srgbClr val="7F7F7F"/>
                </a:solidFill>
                <a:latin typeface="Calibri" panose="020F0502020204030204"/>
              </a:rPr>
              <a:t>nd</a:t>
            </a:r>
            <a:r>
              <a:rPr lang="en-GB" sz="675" dirty="0">
                <a:solidFill>
                  <a:srgbClr val="7F7F7F"/>
                </a:solidFill>
                <a:latin typeface="Calibri" panose="020F0502020204030204"/>
              </a:rPr>
              <a:t> </a:t>
            </a:r>
            <a:endParaRPr lang="en-PH" sz="675" dirty="0">
              <a:solidFill>
                <a:srgbClr val="7F7F7F"/>
              </a:solidFill>
              <a:latin typeface="Calibri" panose="020F0502020204030204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2237810" y="3498938"/>
            <a:ext cx="3276342" cy="2077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>
              <a:defRPr/>
            </a:pPr>
            <a:r>
              <a:rPr lang="en-US" sz="750" b="1" i="1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/>
                <a:cs typeface="Calibri" panose="020F0502020204030204" pitchFamily="34" charset="0"/>
              </a:rPr>
              <a:t>↓ to 6</a:t>
            </a:r>
            <a:r>
              <a:rPr lang="en-US" sz="750" b="1" i="1" baseline="300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/>
                <a:cs typeface="Calibri" panose="020F0502020204030204" pitchFamily="34" charset="0"/>
              </a:rPr>
              <a:t>th</a:t>
            </a:r>
            <a:r>
              <a:rPr lang="en-US" sz="750" b="1" i="1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/>
                <a:cs typeface="Calibri" panose="020F0502020204030204" pitchFamily="34" charset="0"/>
              </a:rPr>
              <a:t> </a:t>
            </a:r>
            <a:r>
              <a:rPr lang="en-US" sz="750" b="1" i="1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/>
              </a:rPr>
              <a:t>from </a:t>
            </a:r>
            <a:r>
              <a:rPr lang="en-US" sz="750" b="1" i="1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/>
              </a:rPr>
              <a:t>5</a:t>
            </a:r>
            <a:r>
              <a:rPr lang="en-US" sz="750" b="1" i="1" baseline="300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/>
              </a:rPr>
              <a:t>th</a:t>
            </a:r>
            <a:r>
              <a:rPr lang="en-US" sz="750" b="1" i="1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/>
              </a:rPr>
              <a:t> vs Q1 </a:t>
            </a:r>
            <a:endParaRPr lang="en-PH" sz="750" b="1" i="1" dirty="0">
              <a:solidFill>
                <a:prstClr val="black">
                  <a:lumMod val="85000"/>
                  <a:lumOff val="15000"/>
                </a:prstClr>
              </a:solidFill>
              <a:latin typeface="Calibri" panose="020F0502020204030204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8341282" y="3210283"/>
            <a:ext cx="77014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defRPr/>
            </a:pPr>
            <a:r>
              <a:rPr lang="en-GB" sz="675" dirty="0">
                <a:solidFill>
                  <a:srgbClr val="7F7F7F"/>
                </a:solidFill>
                <a:latin typeface="Calibri" panose="020F0502020204030204"/>
              </a:rPr>
              <a:t>Total: </a:t>
            </a:r>
            <a:r>
              <a:rPr lang="en-GB" sz="675" dirty="0">
                <a:solidFill>
                  <a:srgbClr val="7F7F7F"/>
                </a:solidFill>
                <a:latin typeface="Calibri" panose="020F0502020204030204"/>
              </a:rPr>
              <a:t>10</a:t>
            </a:r>
            <a:r>
              <a:rPr lang="en-GB" sz="675" baseline="30000" dirty="0">
                <a:solidFill>
                  <a:srgbClr val="7F7F7F"/>
                </a:solidFill>
                <a:latin typeface="Calibri" panose="020F0502020204030204"/>
              </a:rPr>
              <a:t>th</a:t>
            </a:r>
            <a:r>
              <a:rPr lang="en-GB" sz="675" dirty="0">
                <a:solidFill>
                  <a:srgbClr val="7F7F7F"/>
                </a:solidFill>
                <a:latin typeface="Calibri" panose="020F0502020204030204"/>
              </a:rPr>
              <a:t> </a:t>
            </a:r>
            <a:endParaRPr lang="en-GB" sz="675" dirty="0">
              <a:solidFill>
                <a:srgbClr val="7F7F7F"/>
              </a:solidFill>
              <a:latin typeface="Calibri" panose="020F0502020204030204"/>
            </a:endParaRPr>
          </a:p>
          <a:p>
            <a:pPr defTabSz="685800">
              <a:defRPr/>
            </a:pPr>
            <a:r>
              <a:rPr lang="en-GB" sz="675" dirty="0">
                <a:solidFill>
                  <a:srgbClr val="7F7F7F"/>
                </a:solidFill>
                <a:latin typeface="Calibri" panose="020F0502020204030204"/>
              </a:rPr>
              <a:t>Stand Alone : 5</a:t>
            </a:r>
            <a:r>
              <a:rPr lang="en-GB" sz="675" baseline="30000" dirty="0">
                <a:solidFill>
                  <a:srgbClr val="7F7F7F"/>
                </a:solidFill>
                <a:latin typeface="Calibri" panose="020F0502020204030204"/>
              </a:rPr>
              <a:t>th</a:t>
            </a:r>
            <a:r>
              <a:rPr lang="en-GB" sz="675" dirty="0">
                <a:solidFill>
                  <a:srgbClr val="7F7F7F"/>
                </a:solidFill>
                <a:latin typeface="Calibri" panose="020F0502020204030204"/>
              </a:rPr>
              <a:t>  </a:t>
            </a:r>
            <a:endParaRPr lang="en-PH" sz="675" dirty="0">
              <a:solidFill>
                <a:srgbClr val="7F7F7F"/>
              </a:solidFill>
              <a:latin typeface="Calibri" panose="020F0502020204030204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5702355" y="3472081"/>
            <a:ext cx="3340694" cy="2077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>
              <a:defRPr/>
            </a:pPr>
            <a:r>
              <a:rPr lang="en-US" sz="750" b="1" i="1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/>
              </a:rPr>
              <a:t>↓ to 10</a:t>
            </a:r>
            <a:r>
              <a:rPr lang="en-US" sz="750" b="1" i="1" baseline="300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/>
              </a:rPr>
              <a:t>th</a:t>
            </a:r>
            <a:r>
              <a:rPr lang="en-US" sz="750" b="1" i="1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/>
              </a:rPr>
              <a:t> from </a:t>
            </a:r>
            <a:r>
              <a:rPr lang="en-US" sz="750" b="1" i="1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/>
                <a:cs typeface="Calibri" panose="020F0502020204030204" pitchFamily="34" charset="0"/>
              </a:rPr>
              <a:t>9</a:t>
            </a:r>
            <a:r>
              <a:rPr lang="en-US" sz="750" b="1" i="1" baseline="300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/>
                <a:cs typeface="Calibri" panose="020F0502020204030204" pitchFamily="34" charset="0"/>
              </a:rPr>
              <a:t>th</a:t>
            </a:r>
            <a:r>
              <a:rPr lang="en-US" sz="750" b="1" i="1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/>
                <a:cs typeface="Calibri" panose="020F0502020204030204" pitchFamily="34" charset="0"/>
              </a:rPr>
              <a:t> vs Q1</a:t>
            </a:r>
            <a:endParaRPr lang="en-PH" sz="750" b="1" i="1" dirty="0">
              <a:solidFill>
                <a:prstClr val="black">
                  <a:lumMod val="85000"/>
                  <a:lumOff val="15000"/>
                </a:prstClr>
              </a:solidFill>
              <a:latin typeface="Calibri" panose="020F0502020204030204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4820803" y="5362382"/>
            <a:ext cx="1195419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>
              <a:defRPr/>
            </a:pPr>
            <a:r>
              <a:rPr lang="en-US" sz="675" dirty="0">
                <a:solidFill>
                  <a:srgbClr val="7F7F7F"/>
                </a:solidFill>
                <a:latin typeface="Calibri" panose="020F0502020204030204"/>
              </a:rPr>
              <a:t>Total: </a:t>
            </a:r>
            <a:r>
              <a:rPr lang="en-US" sz="675" dirty="0">
                <a:solidFill>
                  <a:srgbClr val="7F7F7F"/>
                </a:solidFill>
                <a:latin typeface="Calibri" panose="020F0502020204030204"/>
              </a:rPr>
              <a:t>6</a:t>
            </a:r>
            <a:r>
              <a:rPr lang="en-US" sz="675" baseline="30000" dirty="0">
                <a:solidFill>
                  <a:srgbClr val="7F7F7F"/>
                </a:solidFill>
                <a:latin typeface="Calibri" panose="020F0502020204030204"/>
              </a:rPr>
              <a:t>th</a:t>
            </a:r>
            <a:endParaRPr lang="en-US" sz="675" dirty="0">
              <a:solidFill>
                <a:srgbClr val="7F7F7F"/>
              </a:solidFill>
              <a:latin typeface="Calibri" panose="020F0502020204030204"/>
            </a:endParaRPr>
          </a:p>
          <a:p>
            <a:pPr defTabSz="685800">
              <a:defRPr/>
            </a:pPr>
            <a:r>
              <a:rPr lang="en-US" sz="675" dirty="0">
                <a:solidFill>
                  <a:srgbClr val="7F7F7F"/>
                </a:solidFill>
                <a:latin typeface="Calibri" panose="020F0502020204030204"/>
              </a:rPr>
              <a:t>Stand alone: 2</a:t>
            </a:r>
            <a:r>
              <a:rPr lang="en-US" sz="675" baseline="30000" dirty="0">
                <a:solidFill>
                  <a:srgbClr val="7F7F7F"/>
                </a:solidFill>
                <a:latin typeface="Calibri" panose="020F0502020204030204"/>
              </a:rPr>
              <a:t>nd</a:t>
            </a:r>
            <a:r>
              <a:rPr lang="en-US" sz="675" dirty="0">
                <a:solidFill>
                  <a:srgbClr val="7F7F7F"/>
                </a:solidFill>
                <a:latin typeface="Calibri" panose="020F0502020204030204"/>
              </a:rPr>
              <a:t> </a:t>
            </a:r>
            <a:endParaRPr lang="en-PH" sz="675" dirty="0">
              <a:solidFill>
                <a:srgbClr val="7F7F7F"/>
              </a:solidFill>
              <a:latin typeface="Calibri" panose="020F0502020204030204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2220382" y="5654324"/>
            <a:ext cx="3276341" cy="2077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750" b="1" i="1" dirty="0">
                <a:solidFill>
                  <a:prstClr val="black">
                    <a:lumMod val="85000"/>
                    <a:lumOff val="15000"/>
                  </a:prstClr>
                </a:solidFill>
                <a:cs typeface="Calibri" panose="020F0502020204030204" pitchFamily="34" charset="0"/>
              </a:rPr>
              <a:t>↓ to 6</a:t>
            </a:r>
            <a:r>
              <a:rPr lang="en-US" sz="750" b="1" i="1" baseline="30000" dirty="0">
                <a:solidFill>
                  <a:prstClr val="black">
                    <a:lumMod val="85000"/>
                    <a:lumOff val="15000"/>
                  </a:prstClr>
                </a:solidFill>
                <a:cs typeface="Calibri" panose="020F0502020204030204" pitchFamily="34" charset="0"/>
              </a:rPr>
              <a:t>th</a:t>
            </a:r>
            <a:r>
              <a:rPr lang="en-US" sz="750" b="1" i="1" dirty="0">
                <a:solidFill>
                  <a:prstClr val="black">
                    <a:lumMod val="85000"/>
                    <a:lumOff val="15000"/>
                  </a:prstClr>
                </a:solidFill>
                <a:cs typeface="Calibri" panose="020F0502020204030204" pitchFamily="34" charset="0"/>
              </a:rPr>
              <a:t> </a:t>
            </a:r>
            <a:r>
              <a:rPr lang="en-US" sz="750" b="1" i="1" dirty="0">
                <a:solidFill>
                  <a:prstClr val="black">
                    <a:lumMod val="85000"/>
                    <a:lumOff val="15000"/>
                  </a:prstClr>
                </a:solidFill>
              </a:rPr>
              <a:t>from 5</a:t>
            </a:r>
            <a:r>
              <a:rPr lang="en-US" sz="750" b="1" i="1" baseline="30000" dirty="0">
                <a:solidFill>
                  <a:prstClr val="black">
                    <a:lumMod val="85000"/>
                    <a:lumOff val="15000"/>
                  </a:prstClr>
                </a:solidFill>
              </a:rPr>
              <a:t>th</a:t>
            </a:r>
            <a:r>
              <a:rPr lang="en-US" sz="750" b="1" i="1" dirty="0">
                <a:solidFill>
                  <a:prstClr val="black">
                    <a:lumMod val="85000"/>
                    <a:lumOff val="15000"/>
                  </a:prstClr>
                </a:solidFill>
              </a:rPr>
              <a:t> vs Q1 </a:t>
            </a:r>
            <a:endParaRPr lang="en-PH" sz="750" b="1" i="1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5766707" y="5645973"/>
            <a:ext cx="3276342" cy="2077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750" b="1" i="1" dirty="0">
                <a:solidFill>
                  <a:prstClr val="black">
                    <a:lumMod val="85000"/>
                    <a:lumOff val="15000"/>
                  </a:prstClr>
                </a:solidFill>
                <a:cs typeface="Calibri" panose="020F0502020204030204" pitchFamily="34" charset="0"/>
              </a:rPr>
              <a:t>↓ to 6</a:t>
            </a:r>
            <a:r>
              <a:rPr lang="en-US" sz="750" b="1" i="1" baseline="30000" dirty="0">
                <a:solidFill>
                  <a:prstClr val="black">
                    <a:lumMod val="85000"/>
                    <a:lumOff val="15000"/>
                  </a:prstClr>
                </a:solidFill>
                <a:cs typeface="Calibri" panose="020F0502020204030204" pitchFamily="34" charset="0"/>
              </a:rPr>
              <a:t>th</a:t>
            </a:r>
            <a:r>
              <a:rPr lang="en-US" sz="750" b="1" i="1" dirty="0">
                <a:solidFill>
                  <a:prstClr val="black">
                    <a:lumMod val="85000"/>
                    <a:lumOff val="15000"/>
                  </a:prstClr>
                </a:solidFill>
                <a:cs typeface="Calibri" panose="020F0502020204030204" pitchFamily="34" charset="0"/>
              </a:rPr>
              <a:t> </a:t>
            </a:r>
            <a:r>
              <a:rPr lang="en-US" sz="750" b="1" i="1" dirty="0">
                <a:solidFill>
                  <a:prstClr val="black">
                    <a:lumMod val="85000"/>
                    <a:lumOff val="15000"/>
                  </a:prstClr>
                </a:solidFill>
              </a:rPr>
              <a:t>from 5</a:t>
            </a:r>
            <a:r>
              <a:rPr lang="en-US" sz="750" b="1" i="1" baseline="30000" dirty="0">
                <a:solidFill>
                  <a:prstClr val="black">
                    <a:lumMod val="85000"/>
                    <a:lumOff val="15000"/>
                  </a:prstClr>
                </a:solidFill>
              </a:rPr>
              <a:t>th</a:t>
            </a:r>
            <a:r>
              <a:rPr lang="en-US" sz="750" b="1" i="1" dirty="0">
                <a:solidFill>
                  <a:prstClr val="black">
                    <a:lumMod val="85000"/>
                    <a:lumOff val="15000"/>
                  </a:prstClr>
                </a:solidFill>
              </a:rPr>
              <a:t> vs Q1 </a:t>
            </a:r>
            <a:endParaRPr lang="en-PH" sz="750" b="1" i="1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5870378" y="3021807"/>
            <a:ext cx="1405532" cy="146111"/>
          </a:xfrm>
          <a:prstGeom prst="rect">
            <a:avLst/>
          </a:prstGeom>
          <a:noFill/>
          <a:ln w="952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PH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2470209" y="4697213"/>
            <a:ext cx="1825108" cy="128576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PH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5817972" y="4696906"/>
            <a:ext cx="1882778" cy="125911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PH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2235901" y="5853795"/>
            <a:ext cx="3429000" cy="213585"/>
          </a:xfrm>
          <a:prstGeom prst="rect">
            <a:avLst/>
          </a:prstGeom>
        </p:spPr>
        <p:txBody>
          <a:bodyPr>
            <a:spAutoFit/>
          </a:bodyPr>
          <a:lstStyle/>
          <a:p>
            <a:pPr defTabSz="685800">
              <a:defRPr/>
            </a:pPr>
            <a:r>
              <a:rPr lang="en-US" sz="788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/>
              </a:rPr>
              <a:t>42 </a:t>
            </a:r>
            <a:r>
              <a:rPr lang="en-US" sz="788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/>
              </a:rPr>
              <a:t>Thrift Banks | </a:t>
            </a:r>
            <a:r>
              <a:rPr lang="en-PH" sz="788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/>
              </a:rPr>
              <a:t>Amounts in Million Pesos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28F2857-9E2B-B404-A6DD-E3F3A2E5CB3A}"/>
              </a:ext>
            </a:extLst>
          </p:cNvPr>
          <p:cNvSpPr txBox="1"/>
          <p:nvPr/>
        </p:nvSpPr>
        <p:spPr>
          <a:xfrm>
            <a:off x="8148414" y="5830638"/>
            <a:ext cx="141153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>
              <a:defRPr/>
            </a:pPr>
            <a:r>
              <a:rPr lang="en-PH" sz="75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Source: BSP website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BC517A7-7944-41D0-9DE6-E5FAB5CFC90E}"/>
              </a:ext>
            </a:extLst>
          </p:cNvPr>
          <p:cNvSpPr txBox="1"/>
          <p:nvPr/>
        </p:nvSpPr>
        <p:spPr>
          <a:xfrm>
            <a:off x="8341282" y="5388258"/>
            <a:ext cx="88446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defRPr/>
            </a:pPr>
            <a:r>
              <a:rPr lang="en-GB" sz="675" dirty="0">
                <a:solidFill>
                  <a:srgbClr val="7F7F7F"/>
                </a:solidFill>
                <a:latin typeface="Calibri" panose="020F0502020204030204"/>
              </a:rPr>
              <a:t>Total:  </a:t>
            </a:r>
            <a:r>
              <a:rPr lang="en-GB" sz="675" dirty="0">
                <a:solidFill>
                  <a:srgbClr val="7F7F7F"/>
                </a:solidFill>
                <a:latin typeface="Calibri" panose="020F0502020204030204"/>
              </a:rPr>
              <a:t>6th</a:t>
            </a:r>
            <a:r>
              <a:rPr lang="en-GB" sz="675" baseline="30000" dirty="0">
                <a:solidFill>
                  <a:srgbClr val="7F7F7F"/>
                </a:solidFill>
                <a:latin typeface="Calibri" panose="020F0502020204030204"/>
              </a:rPr>
              <a:t>th</a:t>
            </a:r>
            <a:r>
              <a:rPr lang="en-GB" sz="675" dirty="0">
                <a:solidFill>
                  <a:srgbClr val="7F7F7F"/>
                </a:solidFill>
                <a:latin typeface="Calibri" panose="020F0502020204030204"/>
              </a:rPr>
              <a:t> </a:t>
            </a:r>
            <a:endParaRPr lang="en-GB" sz="675" dirty="0">
              <a:solidFill>
                <a:srgbClr val="7F7F7F"/>
              </a:solidFill>
              <a:latin typeface="Calibri" panose="020F0502020204030204"/>
            </a:endParaRPr>
          </a:p>
          <a:p>
            <a:pPr defTabSz="685800">
              <a:defRPr/>
            </a:pPr>
            <a:r>
              <a:rPr lang="en-GB" sz="675" dirty="0">
                <a:solidFill>
                  <a:srgbClr val="7F7F7F"/>
                </a:solidFill>
                <a:latin typeface="Calibri" panose="020F0502020204030204"/>
              </a:rPr>
              <a:t>Stand Alone: 2</a:t>
            </a:r>
            <a:r>
              <a:rPr lang="en-GB" sz="675" baseline="30000" dirty="0">
                <a:solidFill>
                  <a:srgbClr val="7F7F7F"/>
                </a:solidFill>
                <a:latin typeface="Calibri" panose="020F0502020204030204"/>
              </a:rPr>
              <a:t>nd</a:t>
            </a:r>
            <a:r>
              <a:rPr lang="en-GB" sz="675" dirty="0">
                <a:solidFill>
                  <a:srgbClr val="7F7F7F"/>
                </a:solidFill>
                <a:latin typeface="Calibri" panose="020F0502020204030204"/>
              </a:rPr>
              <a:t>  </a:t>
            </a:r>
          </a:p>
        </p:txBody>
      </p:sp>
      <p:sp>
        <p:nvSpPr>
          <p:cNvPr id="36" name="Title 1"/>
          <p:cNvSpPr txBox="1">
            <a:spLocks/>
          </p:cNvSpPr>
          <p:nvPr/>
        </p:nvSpPr>
        <p:spPr>
          <a:xfrm>
            <a:off x="2287443" y="731815"/>
            <a:ext cx="6268310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88916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27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666872">
              <a:defRPr/>
            </a:pPr>
            <a:r>
              <a:rPr lang="en-US" sz="2400" b="1" dirty="0">
                <a:solidFill>
                  <a:srgbClr val="F6A603"/>
                </a:solidFill>
                <a:latin typeface="Calibri" panose="020F0502020204030204"/>
              </a:rPr>
              <a:t>ALL THRIFT BANKS</a:t>
            </a:r>
          </a:p>
          <a:p>
            <a:pPr defTabSz="666872">
              <a:defRPr/>
            </a:pPr>
            <a:r>
              <a:rPr lang="en-US" sz="1800" b="1" dirty="0">
                <a:solidFill>
                  <a:srgbClr val="F6A603"/>
                </a:solidFill>
                <a:latin typeface="Calibri" panose="020F0502020204030204"/>
              </a:rPr>
              <a:t>March </a:t>
            </a:r>
            <a:r>
              <a:rPr lang="en-US" sz="1800" b="1" dirty="0">
                <a:solidFill>
                  <a:srgbClr val="F6A603"/>
                </a:solidFill>
                <a:latin typeface="Calibri" panose="020F0502020204030204"/>
              </a:rPr>
              <a:t>2025 </a:t>
            </a:r>
            <a:r>
              <a:rPr lang="en-US" sz="1800" b="1" dirty="0">
                <a:solidFill>
                  <a:srgbClr val="F6A603"/>
                </a:solidFill>
                <a:latin typeface="Calibri" panose="020F0502020204030204"/>
              </a:rPr>
              <a:t>vs </a:t>
            </a:r>
            <a:r>
              <a:rPr lang="en-US" sz="1800" b="1" dirty="0">
                <a:solidFill>
                  <a:srgbClr val="F6A603"/>
                </a:solidFill>
                <a:latin typeface="Calibri" panose="020F0502020204030204"/>
              </a:rPr>
              <a:t>September </a:t>
            </a:r>
            <a:r>
              <a:rPr lang="en-US" sz="1800" b="1" dirty="0">
                <a:solidFill>
                  <a:srgbClr val="F6A603"/>
                </a:solidFill>
                <a:latin typeface="Calibri" panose="020F0502020204030204"/>
              </a:rPr>
              <a:t>2025</a:t>
            </a:r>
            <a:endParaRPr lang="en-PH" sz="1800" b="1" dirty="0">
              <a:solidFill>
                <a:srgbClr val="F6A603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8822434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" name="Chart 35"/>
          <p:cNvGraphicFramePr>
            <a:graphicFrameLocks/>
          </p:cNvGraphicFramePr>
          <p:nvPr>
            <p:extLst/>
          </p:nvPr>
        </p:nvGraphicFramePr>
        <p:xfrm>
          <a:off x="5865404" y="3984823"/>
          <a:ext cx="3230861" cy="17107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4" name="Chart 33"/>
          <p:cNvGraphicFramePr>
            <a:graphicFrameLocks/>
          </p:cNvGraphicFramePr>
          <p:nvPr>
            <p:extLst/>
          </p:nvPr>
        </p:nvGraphicFramePr>
        <p:xfrm>
          <a:off x="2335176" y="3983797"/>
          <a:ext cx="3438299" cy="17117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2" name="Chart 31"/>
          <p:cNvGraphicFramePr>
            <a:graphicFrameLocks/>
          </p:cNvGraphicFramePr>
          <p:nvPr>
            <p:extLst/>
          </p:nvPr>
        </p:nvGraphicFramePr>
        <p:xfrm>
          <a:off x="5837583" y="1757959"/>
          <a:ext cx="3258682" cy="17151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0" name="Chart 29"/>
          <p:cNvGraphicFramePr>
            <a:graphicFrameLocks/>
          </p:cNvGraphicFramePr>
          <p:nvPr>
            <p:extLst/>
          </p:nvPr>
        </p:nvGraphicFramePr>
        <p:xfrm>
          <a:off x="2333011" y="1754122"/>
          <a:ext cx="3440465" cy="17189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857250"/>
            <a:ext cx="2253039" cy="5143075"/>
          </a:xfrm>
          <a:prstGeom prst="rect">
            <a:avLst/>
          </a:prstGeom>
        </p:spPr>
      </p:pic>
      <p:sp>
        <p:nvSpPr>
          <p:cNvPr id="82" name="Title 1"/>
          <p:cNvSpPr txBox="1">
            <a:spLocks/>
          </p:cNvSpPr>
          <p:nvPr/>
        </p:nvSpPr>
        <p:spPr>
          <a:xfrm>
            <a:off x="2225981" y="1470448"/>
            <a:ext cx="2865068" cy="360785"/>
          </a:xfrm>
          <a:prstGeom prst="rect">
            <a:avLst/>
          </a:prstGeom>
          <a:noFill/>
          <a:ln>
            <a:noFill/>
          </a:ln>
        </p:spPr>
        <p:txBody>
          <a:bodyPr vert="horz" lIns="68580" tIns="34290" rIns="68580" bIns="3429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685800">
              <a:defRPr/>
            </a:pPr>
            <a:r>
              <a:rPr lang="en-US" sz="1200" b="1" u="sng" dirty="0">
                <a:solidFill>
                  <a:prstClr val="black"/>
                </a:solidFill>
                <a:latin typeface="Calibri Light" panose="020F0302020204030204"/>
              </a:rPr>
              <a:t>Total Assets</a:t>
            </a:r>
            <a:endParaRPr lang="en-US" sz="1200" u="sng" dirty="0">
              <a:solidFill>
                <a:prstClr val="black"/>
              </a:solidFill>
              <a:latin typeface="Calibri Light" panose="020F0302020204030204"/>
            </a:endParaRPr>
          </a:p>
        </p:txBody>
      </p:sp>
      <p:sp>
        <p:nvSpPr>
          <p:cNvPr id="83" name="Title 1"/>
          <p:cNvSpPr txBox="1">
            <a:spLocks/>
          </p:cNvSpPr>
          <p:nvPr/>
        </p:nvSpPr>
        <p:spPr>
          <a:xfrm>
            <a:off x="5812881" y="3756677"/>
            <a:ext cx="2609385" cy="226964"/>
          </a:xfrm>
          <a:prstGeom prst="rect">
            <a:avLst/>
          </a:prstGeom>
        </p:spPr>
        <p:txBody>
          <a:bodyPr vert="horz" lIns="68580" tIns="34290" rIns="68580" bIns="3429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685800">
              <a:defRPr/>
            </a:pPr>
            <a:r>
              <a:rPr lang="en-US" sz="1200" b="1" u="sng" dirty="0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Total Deposit Liabilities</a:t>
            </a:r>
            <a:endParaRPr lang="en-US" sz="1350" u="sng" dirty="0">
              <a:solidFill>
                <a:prstClr val="black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85" name="Title 1"/>
          <p:cNvSpPr txBox="1">
            <a:spLocks/>
          </p:cNvSpPr>
          <p:nvPr/>
        </p:nvSpPr>
        <p:spPr>
          <a:xfrm>
            <a:off x="5774798" y="1454309"/>
            <a:ext cx="2609385" cy="362812"/>
          </a:xfrm>
          <a:prstGeom prst="rect">
            <a:avLst/>
          </a:prstGeom>
          <a:noFill/>
          <a:ln>
            <a:noFill/>
          </a:ln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en-US" sz="1200" b="1" u="sng" dirty="0">
                <a:solidFill>
                  <a:prstClr val="black"/>
                </a:solidFill>
              </a:rPr>
              <a:t>Total Stockholder’s Equity</a:t>
            </a:r>
            <a:endParaRPr lang="en-US" sz="1350" u="sng" dirty="0">
              <a:solidFill>
                <a:prstClr val="black"/>
              </a:solidFill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5043787" y="3188316"/>
            <a:ext cx="77174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defRPr/>
            </a:pPr>
            <a:r>
              <a:rPr lang="en-GB" sz="675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</a:rPr>
              <a:t>Stand Alone: 2</a:t>
            </a:r>
            <a:r>
              <a:rPr lang="en-GB" sz="675" baseline="30000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</a:rPr>
              <a:t>nd</a:t>
            </a:r>
            <a:r>
              <a:rPr lang="en-GB" sz="675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</a:rPr>
              <a:t>  </a:t>
            </a:r>
          </a:p>
          <a:p>
            <a:pPr defTabSz="685800">
              <a:defRPr/>
            </a:pPr>
            <a:r>
              <a:rPr lang="en-GB" sz="675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</a:rPr>
              <a:t>Total : </a:t>
            </a:r>
            <a:r>
              <a:rPr lang="en-GB" sz="675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</a:rPr>
              <a:t>6</a:t>
            </a:r>
            <a:r>
              <a:rPr lang="en-GB" sz="675" baseline="30000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</a:rPr>
              <a:t>th</a:t>
            </a:r>
            <a:endParaRPr lang="en-PH" sz="675" dirty="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8425343" y="3230602"/>
            <a:ext cx="89890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defRPr/>
            </a:pPr>
            <a:r>
              <a:rPr lang="en-GB" sz="675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</a:rPr>
              <a:t>Stand Alone: 5</a:t>
            </a:r>
            <a:r>
              <a:rPr lang="en-GB" sz="675" baseline="30000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</a:rPr>
              <a:t>th</a:t>
            </a:r>
            <a:r>
              <a:rPr lang="en-GB" sz="675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</a:rPr>
              <a:t> </a:t>
            </a:r>
          </a:p>
          <a:p>
            <a:pPr defTabSz="685800">
              <a:defRPr/>
            </a:pPr>
            <a:r>
              <a:rPr lang="en-GB" sz="675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</a:rPr>
              <a:t>Total: </a:t>
            </a:r>
            <a:r>
              <a:rPr lang="en-GB" sz="675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</a:rPr>
              <a:t>10</a:t>
            </a:r>
            <a:r>
              <a:rPr lang="en-GB" sz="675" baseline="30000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</a:rPr>
              <a:t>th</a:t>
            </a:r>
            <a:r>
              <a:rPr lang="en-GB" sz="675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</a:rPr>
              <a:t> </a:t>
            </a:r>
            <a:endParaRPr lang="en-PH" sz="675" dirty="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5073703" y="5429899"/>
            <a:ext cx="711911" cy="40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defRPr/>
            </a:pPr>
            <a:r>
              <a:rPr lang="en-GB" sz="675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</a:rPr>
              <a:t>Stand Alone: 2</a:t>
            </a:r>
            <a:r>
              <a:rPr lang="en-GB" sz="675" baseline="30000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</a:rPr>
              <a:t>nd</a:t>
            </a:r>
            <a:r>
              <a:rPr lang="en-GB" sz="675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</a:rPr>
              <a:t> </a:t>
            </a:r>
          </a:p>
          <a:p>
            <a:pPr defTabSz="685800">
              <a:defRPr/>
            </a:pPr>
            <a:r>
              <a:rPr lang="en-GB" sz="675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</a:rPr>
              <a:t>Total: </a:t>
            </a:r>
            <a:r>
              <a:rPr lang="en-GB" sz="675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</a:rPr>
              <a:t>6</a:t>
            </a:r>
            <a:r>
              <a:rPr lang="en-GB" sz="675" baseline="30000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</a:rPr>
              <a:t>th</a:t>
            </a:r>
            <a:r>
              <a:rPr lang="en-GB" sz="675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</a:rPr>
              <a:t> </a:t>
            </a:r>
            <a:endParaRPr lang="en-PH" sz="675" dirty="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8259535" y="5369979"/>
            <a:ext cx="88446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defRPr/>
            </a:pPr>
            <a:r>
              <a:rPr lang="en-GB" sz="675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</a:rPr>
              <a:t>Stand Alone: 2</a:t>
            </a:r>
            <a:r>
              <a:rPr lang="en-GB" sz="675" baseline="30000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</a:rPr>
              <a:t>nd</a:t>
            </a:r>
            <a:r>
              <a:rPr lang="en-GB" sz="675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</a:rPr>
              <a:t>  </a:t>
            </a:r>
          </a:p>
          <a:p>
            <a:pPr defTabSz="685800">
              <a:defRPr/>
            </a:pPr>
            <a:r>
              <a:rPr lang="en-GB" sz="675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</a:rPr>
              <a:t>Total:  </a:t>
            </a:r>
            <a:r>
              <a:rPr lang="en-GB" sz="675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</a:rPr>
              <a:t>6</a:t>
            </a:r>
            <a:r>
              <a:rPr lang="en-GB" sz="675" baseline="30000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</a:rPr>
              <a:t>th</a:t>
            </a:r>
            <a:r>
              <a:rPr lang="en-GB" sz="675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</a:rPr>
              <a:t> </a:t>
            </a:r>
            <a:endParaRPr lang="en-PH" sz="675" dirty="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/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2253040" y="5677176"/>
            <a:ext cx="3520436" cy="2077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>
              <a:defRPr/>
            </a:pPr>
            <a:r>
              <a:rPr lang="en-US" sz="750" b="1" i="1" dirty="0">
                <a:solidFill>
                  <a:prstClr val="black"/>
                </a:solidFill>
                <a:latin typeface="Calibri" panose="020F0502020204030204"/>
              </a:rPr>
              <a:t>Maintained 2nd place from last year</a:t>
            </a:r>
            <a:endParaRPr lang="en-PH" sz="750" b="1" i="1" dirty="0">
              <a:solidFill>
                <a:prstClr val="black">
                  <a:lumMod val="85000"/>
                  <a:lumOff val="15000"/>
                </a:prstClr>
              </a:solidFill>
              <a:latin typeface="Calibri" panose="020F0502020204030204"/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5796848" y="3466517"/>
            <a:ext cx="3340694" cy="2077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>
              <a:defRPr/>
            </a:pPr>
            <a:r>
              <a:rPr lang="en-US" sz="750" b="1" i="1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/>
                <a:cs typeface="Calibri" panose="020F0502020204030204" pitchFamily="34" charset="0"/>
              </a:rPr>
              <a:t>Stayed in 5</a:t>
            </a:r>
            <a:r>
              <a:rPr lang="en-US" sz="750" b="1" i="1" baseline="300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/>
                <a:cs typeface="Calibri" panose="020F0502020204030204" pitchFamily="34" charset="0"/>
              </a:rPr>
              <a:t>th</a:t>
            </a:r>
            <a:r>
              <a:rPr lang="en-US" sz="750" b="1" i="1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/>
                <a:cs typeface="Calibri" panose="020F0502020204030204" pitchFamily="34" charset="0"/>
              </a:rPr>
              <a:t> place vs. </a:t>
            </a:r>
            <a:r>
              <a:rPr lang="en-US" sz="750" b="1" i="1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/>
                <a:cs typeface="Calibri" panose="020F0502020204030204" pitchFamily="34" charset="0"/>
              </a:rPr>
              <a:t>Q1</a:t>
            </a:r>
            <a:endParaRPr lang="en-PH" sz="750" b="1" i="1" dirty="0">
              <a:solidFill>
                <a:prstClr val="black">
                  <a:lumMod val="85000"/>
                  <a:lumOff val="15000"/>
                </a:prstClr>
              </a:solidFill>
              <a:latin typeface="Calibri" panose="020F0502020204030204"/>
            </a:endParaRPr>
          </a:p>
        </p:txBody>
      </p:sp>
      <p:sp>
        <p:nvSpPr>
          <p:cNvPr id="93" name="Rectangle 92"/>
          <p:cNvSpPr/>
          <p:nvPr/>
        </p:nvSpPr>
        <p:spPr>
          <a:xfrm>
            <a:off x="5861864" y="5681416"/>
            <a:ext cx="3340694" cy="2077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>
              <a:defRPr/>
            </a:pPr>
            <a:r>
              <a:rPr lang="en-US" sz="750" b="1" i="1" dirty="0">
                <a:solidFill>
                  <a:prstClr val="black"/>
                </a:solidFill>
                <a:latin typeface="Calibri" panose="020F0502020204030204"/>
              </a:rPr>
              <a:t>Remained in 2nd place compared to last year</a:t>
            </a:r>
            <a:endParaRPr lang="en-PH" sz="750" b="1" i="1" dirty="0">
              <a:solidFill>
                <a:prstClr val="black">
                  <a:lumMod val="85000"/>
                  <a:lumOff val="15000"/>
                </a:prstClr>
              </a:solidFill>
              <a:latin typeface="Calibri" panose="020F0502020204030204"/>
            </a:endParaRPr>
          </a:p>
        </p:txBody>
      </p:sp>
      <p:sp>
        <p:nvSpPr>
          <p:cNvPr id="95" name="Rectangle 94"/>
          <p:cNvSpPr/>
          <p:nvPr/>
        </p:nvSpPr>
        <p:spPr>
          <a:xfrm>
            <a:off x="6000232" y="2882553"/>
            <a:ext cx="1660922" cy="224375"/>
          </a:xfrm>
          <a:prstGeom prst="rect">
            <a:avLst/>
          </a:prstGeom>
          <a:noFill/>
          <a:ln w="952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PH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7" name="Rectangle 96"/>
          <p:cNvSpPr/>
          <p:nvPr/>
        </p:nvSpPr>
        <p:spPr>
          <a:xfrm>
            <a:off x="6059981" y="4382478"/>
            <a:ext cx="2033888" cy="196667"/>
          </a:xfrm>
          <a:prstGeom prst="rect">
            <a:avLst/>
          </a:prstGeom>
          <a:noFill/>
          <a:ln w="952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PH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8" name="Rectangle 97"/>
          <p:cNvSpPr/>
          <p:nvPr/>
        </p:nvSpPr>
        <p:spPr>
          <a:xfrm>
            <a:off x="2447616" y="4404123"/>
            <a:ext cx="2102953" cy="175022"/>
          </a:xfrm>
          <a:prstGeom prst="rect">
            <a:avLst/>
          </a:prstGeom>
          <a:noFill/>
          <a:ln w="952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en-PH" sz="1350" dirty="0">
                <a:solidFill>
                  <a:prstClr val="white"/>
                </a:solidFill>
                <a:latin typeface="Calibri" panose="020F0502020204030204"/>
              </a:rPr>
              <a:t> </a:t>
            </a:r>
            <a:endParaRPr lang="en-PH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9" name="Rectangle 98"/>
          <p:cNvSpPr/>
          <p:nvPr/>
        </p:nvSpPr>
        <p:spPr>
          <a:xfrm>
            <a:off x="2539948" y="2157297"/>
            <a:ext cx="1905743" cy="222951"/>
          </a:xfrm>
          <a:prstGeom prst="rect">
            <a:avLst/>
          </a:prstGeom>
          <a:noFill/>
          <a:ln w="952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PH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0" name="Rectangle 99"/>
          <p:cNvSpPr/>
          <p:nvPr/>
        </p:nvSpPr>
        <p:spPr>
          <a:xfrm>
            <a:off x="2239798" y="5849201"/>
            <a:ext cx="3429000" cy="219291"/>
          </a:xfrm>
          <a:prstGeom prst="rect">
            <a:avLst/>
          </a:prstGeom>
        </p:spPr>
        <p:txBody>
          <a:bodyPr>
            <a:spAutoFit/>
          </a:bodyPr>
          <a:lstStyle/>
          <a:p>
            <a:pPr defTabSz="685800">
              <a:defRPr/>
            </a:pPr>
            <a:r>
              <a:rPr lang="en-US" sz="825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/>
              </a:rPr>
              <a:t>42 </a:t>
            </a:r>
            <a:r>
              <a:rPr lang="en-US" sz="825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/>
              </a:rPr>
              <a:t>Thrift Banks | </a:t>
            </a:r>
            <a:r>
              <a:rPr lang="en-PH" sz="825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/>
              </a:rPr>
              <a:t>Amounts in Million Pesos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428F2857-9E2B-B404-A6DD-E3F3A2E5CB3A}"/>
              </a:ext>
            </a:extLst>
          </p:cNvPr>
          <p:cNvSpPr txBox="1"/>
          <p:nvPr/>
        </p:nvSpPr>
        <p:spPr>
          <a:xfrm>
            <a:off x="8169029" y="5804794"/>
            <a:ext cx="141153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>
              <a:defRPr/>
            </a:pPr>
            <a:r>
              <a:rPr lang="en-PH" sz="75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Source: BSP website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5D305EA-25FB-42DF-991A-C6F60B4CE6FA}"/>
              </a:ext>
            </a:extLst>
          </p:cNvPr>
          <p:cNvSpPr/>
          <p:nvPr/>
        </p:nvSpPr>
        <p:spPr>
          <a:xfrm>
            <a:off x="2253039" y="3473067"/>
            <a:ext cx="3276342" cy="2077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750" b="1" i="1" dirty="0">
                <a:solidFill>
                  <a:prstClr val="black">
                    <a:lumMod val="85000"/>
                    <a:lumOff val="15000"/>
                  </a:prstClr>
                </a:solidFill>
                <a:cs typeface="Calibri" panose="020F0502020204030204" pitchFamily="34" charset="0"/>
              </a:rPr>
              <a:t>Stayed in </a:t>
            </a:r>
            <a:r>
              <a:rPr lang="en-US" sz="750" b="1" i="1" dirty="0">
                <a:solidFill>
                  <a:prstClr val="black">
                    <a:lumMod val="85000"/>
                    <a:lumOff val="15000"/>
                  </a:prstClr>
                </a:solidFill>
                <a:cs typeface="Calibri" panose="020F0502020204030204" pitchFamily="34" charset="0"/>
              </a:rPr>
              <a:t>2</a:t>
            </a:r>
            <a:r>
              <a:rPr lang="en-US" sz="750" b="1" i="1" baseline="30000" dirty="0">
                <a:solidFill>
                  <a:prstClr val="black">
                    <a:lumMod val="85000"/>
                    <a:lumOff val="15000"/>
                  </a:prstClr>
                </a:solidFill>
                <a:cs typeface="Calibri" panose="020F0502020204030204" pitchFamily="34" charset="0"/>
              </a:rPr>
              <a:t>nd</a:t>
            </a:r>
            <a:r>
              <a:rPr lang="en-US" sz="750" b="1" i="1" dirty="0">
                <a:solidFill>
                  <a:prstClr val="black">
                    <a:lumMod val="85000"/>
                    <a:lumOff val="15000"/>
                  </a:prstClr>
                </a:solidFill>
                <a:cs typeface="Calibri" panose="020F0502020204030204" pitchFamily="34" charset="0"/>
              </a:rPr>
              <a:t> </a:t>
            </a:r>
            <a:r>
              <a:rPr lang="en-US" sz="750" b="1" i="1" dirty="0">
                <a:solidFill>
                  <a:prstClr val="black">
                    <a:lumMod val="85000"/>
                    <a:lumOff val="15000"/>
                  </a:prstClr>
                </a:solidFill>
                <a:cs typeface="Calibri" panose="020F0502020204030204" pitchFamily="34" charset="0"/>
              </a:rPr>
              <a:t>place vs. </a:t>
            </a:r>
            <a:r>
              <a:rPr lang="en-US" sz="750" b="1" i="1" dirty="0">
                <a:solidFill>
                  <a:prstClr val="black">
                    <a:lumMod val="85000"/>
                    <a:lumOff val="15000"/>
                  </a:prstClr>
                </a:solidFill>
                <a:cs typeface="Calibri" panose="020F0502020204030204" pitchFamily="34" charset="0"/>
              </a:rPr>
              <a:t>Q1</a:t>
            </a:r>
            <a:endParaRPr lang="en-PH" sz="750" b="1" i="1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B751A52F-E9F7-49E9-A7BB-7492619CB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5528" y="3693630"/>
            <a:ext cx="2594583" cy="355357"/>
          </a:xfrm>
        </p:spPr>
        <p:txBody>
          <a:bodyPr>
            <a:normAutofit/>
          </a:bodyPr>
          <a:lstStyle/>
          <a:p>
            <a:pPr lvl="0"/>
            <a:r>
              <a:rPr lang="en-US" sz="1200" b="1" u="sng" dirty="0"/>
              <a:t>Total Loans and Receivables</a:t>
            </a:r>
            <a:endParaRPr lang="en-US" sz="1350" u="sng" dirty="0"/>
          </a:p>
        </p:txBody>
      </p:sp>
      <p:sp>
        <p:nvSpPr>
          <p:cNvPr id="37" name="Title 1"/>
          <p:cNvSpPr txBox="1">
            <a:spLocks/>
          </p:cNvSpPr>
          <p:nvPr/>
        </p:nvSpPr>
        <p:spPr>
          <a:xfrm>
            <a:off x="2287443" y="731815"/>
            <a:ext cx="6268310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88916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27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666872">
              <a:defRPr/>
            </a:pPr>
            <a:r>
              <a:rPr lang="en-US" sz="2400" b="1" dirty="0">
                <a:solidFill>
                  <a:srgbClr val="F6A603"/>
                </a:solidFill>
                <a:latin typeface="Calibri" panose="020F0502020204030204"/>
              </a:rPr>
              <a:t>STAND ALONE THRIFT BANKS</a:t>
            </a:r>
          </a:p>
          <a:p>
            <a:pPr lvl="0">
              <a:defRPr/>
            </a:pPr>
            <a:r>
              <a:rPr lang="en-US" sz="1800" b="1" dirty="0">
                <a:solidFill>
                  <a:srgbClr val="F6A603"/>
                </a:solidFill>
                <a:latin typeface="Calibri" panose="020F0502020204030204"/>
              </a:rPr>
              <a:t>March 2025 vs September 2025</a:t>
            </a:r>
            <a:endParaRPr lang="en-PH" sz="1800" b="1" dirty="0">
              <a:solidFill>
                <a:srgbClr val="F6A603"/>
              </a:solidFill>
              <a:latin typeface="Calibri" panose="020F0502020204030204"/>
            </a:endParaRPr>
          </a:p>
        </p:txBody>
      </p:sp>
      <p:sp>
        <p:nvSpPr>
          <p:cNvPr id="40" name="TextBox 39"/>
          <p:cNvSpPr txBox="1"/>
          <p:nvPr/>
        </p:nvSpPr>
        <p:spPr>
          <a:xfrm flipH="1">
            <a:off x="182150" y="1068608"/>
            <a:ext cx="1946495" cy="470898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defTabSz="685800">
              <a:defRPr/>
            </a:pPr>
            <a:r>
              <a:rPr lang="en-PH" sz="2250" b="1" dirty="0">
                <a:ln w="0"/>
                <a:solidFill>
                  <a:srgbClr val="FFC000"/>
                </a:solidFill>
                <a:latin typeface="Calibri" panose="020F0502020204030204"/>
              </a:rPr>
              <a:t>Industry Ranking</a:t>
            </a:r>
          </a:p>
          <a:p>
            <a:pPr defTabSz="685800">
              <a:defRPr/>
            </a:pPr>
            <a:endParaRPr lang="en-PH" sz="2250" b="1" dirty="0">
              <a:ln w="0"/>
              <a:solidFill>
                <a:srgbClr val="FFC000"/>
              </a:solidFill>
              <a:latin typeface="Calibri" panose="020F0502020204030204"/>
            </a:endParaRPr>
          </a:p>
          <a:p>
            <a:pPr defTabSz="685800">
              <a:defRPr/>
            </a:pPr>
            <a:endParaRPr lang="en-PH" sz="2250" b="1" dirty="0">
              <a:ln w="0"/>
              <a:solidFill>
                <a:srgbClr val="FFC000"/>
              </a:solidFill>
              <a:latin typeface="Calibri" panose="020F0502020204030204"/>
            </a:endParaRPr>
          </a:p>
          <a:p>
            <a:pPr defTabSz="685800">
              <a:defRPr/>
            </a:pPr>
            <a:endParaRPr lang="en-PH" sz="2250" b="1" dirty="0">
              <a:ln w="0"/>
              <a:solidFill>
                <a:srgbClr val="FFC000"/>
              </a:solidFill>
              <a:latin typeface="Calibri" panose="020F0502020204030204"/>
            </a:endParaRPr>
          </a:p>
          <a:p>
            <a:pPr defTabSz="685800">
              <a:defRPr/>
            </a:pPr>
            <a:endParaRPr lang="en-PH" sz="2250" b="1" dirty="0">
              <a:ln w="0"/>
              <a:solidFill>
                <a:srgbClr val="FFC000"/>
              </a:solidFill>
              <a:latin typeface="Calibri" panose="020F0502020204030204"/>
            </a:endParaRPr>
          </a:p>
          <a:p>
            <a:pPr defTabSz="685800">
              <a:defRPr/>
            </a:pPr>
            <a:endParaRPr lang="en-PH" sz="2250" b="1" dirty="0">
              <a:ln w="0"/>
              <a:solidFill>
                <a:srgbClr val="FFC000"/>
              </a:solidFill>
              <a:latin typeface="Calibri" panose="020F0502020204030204"/>
            </a:endParaRPr>
          </a:p>
          <a:p>
            <a:pPr defTabSz="685800">
              <a:defRPr/>
            </a:pPr>
            <a:endParaRPr lang="en-PH" sz="2250" b="1" dirty="0">
              <a:ln w="0"/>
              <a:solidFill>
                <a:srgbClr val="FFC000"/>
              </a:solidFill>
              <a:latin typeface="Calibri" panose="020F0502020204030204"/>
            </a:endParaRPr>
          </a:p>
          <a:p>
            <a:pPr defTabSz="685800">
              <a:defRPr/>
            </a:pPr>
            <a:endParaRPr lang="en-PH" sz="2250" b="1" dirty="0">
              <a:ln w="0"/>
              <a:solidFill>
                <a:srgbClr val="FFC000"/>
              </a:solidFill>
              <a:latin typeface="Calibri" panose="020F0502020204030204"/>
            </a:endParaRPr>
          </a:p>
          <a:p>
            <a:pPr defTabSz="685800">
              <a:defRPr/>
            </a:pPr>
            <a:endParaRPr lang="en-PH" sz="2250" b="1" dirty="0">
              <a:ln w="0"/>
              <a:solidFill>
                <a:srgbClr val="FFC000"/>
              </a:solidFill>
              <a:latin typeface="Calibri" panose="020F0502020204030204"/>
            </a:endParaRPr>
          </a:p>
          <a:p>
            <a:pPr defTabSz="685800">
              <a:defRPr/>
            </a:pPr>
            <a:endParaRPr lang="en-PH" sz="2250" b="1" dirty="0">
              <a:ln w="0"/>
              <a:solidFill>
                <a:srgbClr val="FFC000"/>
              </a:solidFill>
              <a:latin typeface="Calibri" panose="020F0502020204030204"/>
            </a:endParaRPr>
          </a:p>
          <a:p>
            <a:pPr defTabSz="685800">
              <a:defRPr/>
            </a:pPr>
            <a:endParaRPr lang="en-PH" sz="2250" b="1" dirty="0">
              <a:ln w="0"/>
              <a:solidFill>
                <a:srgbClr val="FFC000"/>
              </a:solidFill>
              <a:latin typeface="Calibri" panose="020F0502020204030204"/>
            </a:endParaRPr>
          </a:p>
          <a:p>
            <a:pPr defTabSz="685800">
              <a:defRPr/>
            </a:pPr>
            <a:r>
              <a:rPr lang="en-US" sz="1500" b="1" dirty="0">
                <a:ln w="0"/>
                <a:solidFill>
                  <a:srgbClr val="FFC000"/>
                </a:solidFill>
                <a:latin typeface="Calibri" panose="020F0502020204030204"/>
              </a:rPr>
              <a:t>Posted as </a:t>
            </a:r>
            <a:r>
              <a:rPr lang="en-US" sz="1500" b="1" dirty="0">
                <a:ln w="0"/>
                <a:solidFill>
                  <a:srgbClr val="FFC000"/>
                </a:solidFill>
                <a:latin typeface="Calibri" panose="020F0502020204030204"/>
              </a:rPr>
              <a:t>of </a:t>
            </a:r>
            <a:r>
              <a:rPr lang="en-US" sz="1500" b="1" dirty="0">
                <a:ln w="0"/>
                <a:solidFill>
                  <a:srgbClr val="FFC000"/>
                </a:solidFill>
                <a:latin typeface="Calibri" panose="020F0502020204030204"/>
              </a:rPr>
              <a:t>19 December 2025</a:t>
            </a:r>
            <a:endParaRPr lang="en-PH" sz="2250" b="1" dirty="0">
              <a:ln w="0"/>
              <a:solidFill>
                <a:srgbClr val="FFC000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7705471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" name="Chart 36">
            <a:extLst>
              <a:ext uri="{FF2B5EF4-FFF2-40B4-BE49-F238E27FC236}">
                <a16:creationId xmlns:a16="http://schemas.microsoft.com/office/drawing/2014/main" id="{DF1E4A87-DF6F-49DB-8014-3E4DDF4B18A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06522864"/>
              </p:ext>
            </p:extLst>
          </p:nvPr>
        </p:nvGraphicFramePr>
        <p:xfrm>
          <a:off x="45034" y="1518876"/>
          <a:ext cx="4282769" cy="22135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6" name="Chart 25">
            <a:extLst>
              <a:ext uri="{FF2B5EF4-FFF2-40B4-BE49-F238E27FC236}">
                <a16:creationId xmlns:a16="http://schemas.microsoft.com/office/drawing/2014/main" id="{BB45C48E-BFC3-47BB-923E-830CB2ABB74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40076077"/>
              </p:ext>
            </p:extLst>
          </p:nvPr>
        </p:nvGraphicFramePr>
        <p:xfrm>
          <a:off x="4790642" y="1518530"/>
          <a:ext cx="4267557" cy="22304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5" name="Chart 24">
            <a:extLst>
              <a:ext uri="{FF2B5EF4-FFF2-40B4-BE49-F238E27FC236}">
                <a16:creationId xmlns:a16="http://schemas.microsoft.com/office/drawing/2014/main" id="{1EE2B882-0BCA-4B06-A7A8-043DC4430B9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9145240"/>
              </p:ext>
            </p:extLst>
          </p:nvPr>
        </p:nvGraphicFramePr>
        <p:xfrm>
          <a:off x="46468" y="4181769"/>
          <a:ext cx="4281336" cy="21271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4" name="Chart 23">
            <a:extLst>
              <a:ext uri="{FF2B5EF4-FFF2-40B4-BE49-F238E27FC236}">
                <a16:creationId xmlns:a16="http://schemas.microsoft.com/office/drawing/2014/main" id="{DF1E4A87-DF6F-49DB-8014-3E4DDF4B18A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70426697"/>
              </p:ext>
            </p:extLst>
          </p:nvPr>
        </p:nvGraphicFramePr>
        <p:xfrm>
          <a:off x="10028751" y="542167"/>
          <a:ext cx="4282770" cy="22237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23" name="Chart 22">
            <a:extLst>
              <a:ext uri="{FF2B5EF4-FFF2-40B4-BE49-F238E27FC236}">
                <a16:creationId xmlns:a16="http://schemas.microsoft.com/office/drawing/2014/main" id="{19ED4B82-F47E-4233-9DFD-55420B482C6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54298360"/>
              </p:ext>
            </p:extLst>
          </p:nvPr>
        </p:nvGraphicFramePr>
        <p:xfrm>
          <a:off x="4794922" y="4181770"/>
          <a:ext cx="4209379" cy="21585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40647" y="3812438"/>
            <a:ext cx="3459444" cy="473809"/>
          </a:xfrm>
        </p:spPr>
        <p:txBody>
          <a:bodyPr>
            <a:normAutofit/>
          </a:bodyPr>
          <a:lstStyle/>
          <a:p>
            <a:pPr lvl="0"/>
            <a:r>
              <a:rPr lang="en-US" sz="1600" b="1" dirty="0"/>
              <a:t>Total Loans and Receivables</a:t>
            </a:r>
            <a:endParaRPr lang="en-US" sz="1800" dirty="0"/>
          </a:p>
        </p:txBody>
      </p:sp>
      <p:sp>
        <p:nvSpPr>
          <p:cNvPr id="14" name="Title 1"/>
          <p:cNvSpPr txBox="1">
            <a:spLocks/>
          </p:cNvSpPr>
          <p:nvPr/>
        </p:nvSpPr>
        <p:spPr>
          <a:xfrm>
            <a:off x="0" y="1173012"/>
            <a:ext cx="3820090" cy="4810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 dirty="0"/>
              <a:t>Total Assets</a:t>
            </a:r>
            <a:endParaRPr lang="en-US" sz="1600" dirty="0"/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156118" y="89212"/>
            <a:ext cx="713678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100" b="1" dirty="0">
                <a:latin typeface="+mn-lt"/>
              </a:rPr>
              <a:t>INDUSTRY RANKING</a:t>
            </a:r>
            <a:br>
              <a:rPr lang="en-US" sz="3100" b="1" dirty="0">
                <a:latin typeface="+mn-lt"/>
              </a:rPr>
            </a:br>
            <a:r>
              <a:rPr lang="en-US" sz="2000" dirty="0">
                <a:latin typeface="+mn-lt"/>
              </a:rPr>
              <a:t>Thrift Bank Group, as of 31 March </a:t>
            </a:r>
            <a:r>
              <a:rPr lang="en-US" sz="2000" dirty="0" smtClean="0">
                <a:latin typeface="+mn-lt"/>
              </a:rPr>
              <a:t>2025</a:t>
            </a:r>
            <a:endParaRPr lang="en-US" sz="2400" dirty="0">
              <a:latin typeface="+mn-lt"/>
            </a:endParaRPr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4757253" y="3812436"/>
            <a:ext cx="3479180" cy="473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 dirty="0"/>
              <a:t>Total Deposit Liabilities</a:t>
            </a:r>
            <a:endParaRPr lang="en-US" sz="1800" dirty="0"/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4794921" y="1174553"/>
            <a:ext cx="3479180" cy="4817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 dirty="0"/>
              <a:t>Total Capital</a:t>
            </a:r>
            <a:endParaRPr lang="en-US" sz="1800" dirty="0"/>
          </a:p>
        </p:txBody>
      </p:sp>
      <p:sp>
        <p:nvSpPr>
          <p:cNvPr id="21" name="Rectangle 20"/>
          <p:cNvSpPr/>
          <p:nvPr/>
        </p:nvSpPr>
        <p:spPr>
          <a:xfrm>
            <a:off x="3465362" y="5859498"/>
            <a:ext cx="15938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2">
                    <a:lumMod val="50000"/>
                  </a:schemeClr>
                </a:solidFill>
              </a:rPr>
              <a:t>Total: 5</a:t>
            </a:r>
            <a:r>
              <a:rPr lang="en-US" sz="900" baseline="30000" dirty="0">
                <a:solidFill>
                  <a:schemeClr val="bg2">
                    <a:lumMod val="50000"/>
                  </a:schemeClr>
                </a:solidFill>
              </a:rPr>
              <a:t>th*</a:t>
            </a:r>
            <a:r>
              <a:rPr lang="en-US" sz="900" dirty="0">
                <a:solidFill>
                  <a:schemeClr val="bg2">
                    <a:lumMod val="50000"/>
                  </a:schemeClr>
                </a:solidFill>
              </a:rPr>
              <a:t> </a:t>
            </a:r>
          </a:p>
          <a:p>
            <a:r>
              <a:rPr lang="en-US" sz="900" dirty="0">
                <a:solidFill>
                  <a:schemeClr val="bg2">
                    <a:lumMod val="50000"/>
                  </a:schemeClr>
                </a:solidFill>
              </a:rPr>
              <a:t>Stand alone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: 2</a:t>
            </a:r>
            <a:r>
              <a:rPr lang="en-US" sz="900" baseline="30000" dirty="0">
                <a:solidFill>
                  <a:schemeClr val="bg1">
                    <a:lumMod val="50000"/>
                  </a:schemeClr>
                </a:solidFill>
              </a:rPr>
              <a:t>rd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en-PH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8F2857-9E2B-B404-A6DD-E3F3A2E5CB3A}"/>
              </a:ext>
            </a:extLst>
          </p:cNvPr>
          <p:cNvSpPr txBox="1"/>
          <p:nvPr/>
        </p:nvSpPr>
        <p:spPr>
          <a:xfrm>
            <a:off x="4689742" y="6595045"/>
            <a:ext cx="18820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1000" dirty="0">
                <a:solidFill>
                  <a:schemeClr val="bg1">
                    <a:lumMod val="50000"/>
                  </a:schemeClr>
                </a:solidFill>
              </a:rPr>
              <a:t>Source: BSP website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65364" y="3373829"/>
            <a:ext cx="1329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Total: 5</a:t>
            </a:r>
            <a:r>
              <a:rPr lang="en-GB" sz="900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</a:t>
            </a:r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  <a:p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Stand Alone: 2</a:t>
            </a:r>
            <a:r>
              <a:rPr lang="en-GB" sz="900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nd</a:t>
            </a:r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endParaRPr lang="en-PH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015107" y="3344848"/>
            <a:ext cx="1026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Total: 9</a:t>
            </a:r>
            <a:r>
              <a:rPr lang="en-GB" sz="900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</a:t>
            </a:r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  <a:p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Stand Alone : 5</a:t>
            </a:r>
            <a:r>
              <a:rPr lang="en-GB" sz="900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</a:t>
            </a:r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</a:t>
            </a:r>
            <a:endParaRPr lang="en-PH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926234" y="5939541"/>
            <a:ext cx="276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Total</a:t>
            </a:r>
            <a:r>
              <a:rPr lang="en-PH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5</a:t>
            </a:r>
            <a:r>
              <a:rPr lang="en-PH" sz="900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</a:t>
            </a:r>
            <a:r>
              <a:rPr lang="en-PH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  <a:p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Stand Alone: 2</a:t>
            </a:r>
            <a:r>
              <a:rPr lang="en-GB" sz="900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nd</a:t>
            </a:r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036" y="6340279"/>
            <a:ext cx="436845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*Total Loans and Receivables – 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  <a:cs typeface="Calibri" panose="020F0502020204030204" pitchFamily="34" charset="0"/>
              </a:rPr>
              <a:t>Stayed at 5th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from March 2024 to March 2025</a:t>
            </a:r>
            <a:endParaRPr lang="en-PH" sz="1000" i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45034" y="3707699"/>
            <a:ext cx="436845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*Total Assets - 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  <a:cs typeface="Calibri" panose="020F0502020204030204" pitchFamily="34" charset="0"/>
              </a:rPr>
              <a:t>↑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from March 2024 to March 2025 (7</a:t>
            </a:r>
            <a:r>
              <a:rPr lang="en-US" sz="1000" i="1" baseline="30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to 5</a:t>
            </a:r>
            <a:r>
              <a:rPr lang="en-US" sz="1000" i="1" baseline="30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  <a:endParaRPr lang="en-PH" sz="1000" i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4689742" y="3719961"/>
            <a:ext cx="445425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*Total Capital – 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  <a:cs typeface="Calibri" panose="020F0502020204030204" pitchFamily="34" charset="0"/>
              </a:rPr>
              <a:t>Stayed at 9</a:t>
            </a:r>
            <a:r>
              <a:rPr lang="en-US" sz="1000" i="1" baseline="30000" dirty="0">
                <a:solidFill>
                  <a:schemeClr val="tx1">
                    <a:lumMod val="85000"/>
                    <a:lumOff val="15000"/>
                  </a:schemeClr>
                </a:solidFill>
                <a:cs typeface="Calibri" panose="020F0502020204030204" pitchFamily="34" charset="0"/>
              </a:rPr>
              <a:t>th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  <a:cs typeface="Calibri" panose="020F0502020204030204" pitchFamily="34" charset="0"/>
              </a:rPr>
              <a:t> from March 2024 to March 2025</a:t>
            </a:r>
            <a:endParaRPr lang="en-PH" sz="1000" i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4689742" y="6308875"/>
            <a:ext cx="436845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*Total Deposit Liabilities- 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  <a:cs typeface="Calibri" panose="020F0502020204030204" pitchFamily="34" charset="0"/>
              </a:rPr>
              <a:t>↑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from March 2024 to March 2025 (6</a:t>
            </a:r>
            <a:r>
              <a:rPr lang="en-US" sz="1000" i="1" baseline="30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to 5</a:t>
            </a:r>
            <a:r>
              <a:rPr lang="en-US" sz="1000" i="1" baseline="30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  <a:endParaRPr lang="en-PH" sz="1000" i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170619" y="3335382"/>
            <a:ext cx="4572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Total Asset – 28% </a:t>
            </a:r>
            <a:r>
              <a:rPr lang="en-US" sz="1400" dirty="0">
                <a:cs typeface="Calibri" panose="020F0502020204030204" pitchFamily="34" charset="0"/>
              </a:rPr>
              <a:t>↑ vs March 2024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cs typeface="Calibri" panose="020F0502020204030204" pitchFamily="34" charset="0"/>
              </a:rPr>
              <a:t>Total Loans &amp; Receivables – 29%</a:t>
            </a:r>
            <a:r>
              <a:rPr lang="en-US" sz="1400" dirty="0"/>
              <a:t> </a:t>
            </a:r>
            <a:r>
              <a:rPr lang="en-US" sz="1400" dirty="0">
                <a:cs typeface="Calibri" panose="020F0502020204030204" pitchFamily="34" charset="0"/>
              </a:rPr>
              <a:t>↑ vs March 2024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cs typeface="Calibri" panose="020F0502020204030204" pitchFamily="34" charset="0"/>
              </a:rPr>
              <a:t>Total Capital – 17%</a:t>
            </a:r>
            <a:r>
              <a:rPr lang="en-US" sz="1400" dirty="0"/>
              <a:t> </a:t>
            </a:r>
            <a:r>
              <a:rPr lang="en-US" sz="1400" dirty="0">
                <a:cs typeface="Calibri" panose="020F0502020204030204" pitchFamily="34" charset="0"/>
              </a:rPr>
              <a:t>↑ vs March 2024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cs typeface="Calibri" panose="020F0502020204030204" pitchFamily="34" charset="0"/>
              </a:rPr>
              <a:t>Total Deposit Liabilities – 30%</a:t>
            </a:r>
            <a:r>
              <a:rPr lang="en-US" sz="1400" dirty="0"/>
              <a:t> </a:t>
            </a:r>
            <a:r>
              <a:rPr lang="en-US" sz="1400" dirty="0">
                <a:cs typeface="Calibri" panose="020F0502020204030204" pitchFamily="34" charset="0"/>
              </a:rPr>
              <a:t>↑ vs March 2024</a:t>
            </a:r>
            <a:endParaRPr lang="en-PH" sz="1400" dirty="0"/>
          </a:p>
        </p:txBody>
      </p:sp>
      <p:sp>
        <p:nvSpPr>
          <p:cNvPr id="29" name="Rectangle 28"/>
          <p:cNvSpPr/>
          <p:nvPr/>
        </p:nvSpPr>
        <p:spPr>
          <a:xfrm>
            <a:off x="156118" y="2458946"/>
            <a:ext cx="2254251" cy="166688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4" name="Rectangle 33"/>
          <p:cNvSpPr/>
          <p:nvPr/>
        </p:nvSpPr>
        <p:spPr>
          <a:xfrm>
            <a:off x="4895821" y="3222381"/>
            <a:ext cx="2254251" cy="166688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5" name="Rectangle 34"/>
          <p:cNvSpPr/>
          <p:nvPr/>
        </p:nvSpPr>
        <p:spPr>
          <a:xfrm>
            <a:off x="76201" y="5062768"/>
            <a:ext cx="2647951" cy="172173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6" name="Rectangle 35"/>
          <p:cNvSpPr/>
          <p:nvPr/>
        </p:nvSpPr>
        <p:spPr>
          <a:xfrm>
            <a:off x="4812987" y="5062768"/>
            <a:ext cx="2647951" cy="172173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8" name="Rectangle 37"/>
          <p:cNvSpPr/>
          <p:nvPr/>
        </p:nvSpPr>
        <p:spPr>
          <a:xfrm>
            <a:off x="45036" y="6553248"/>
            <a:ext cx="4572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41 Thrift Banks | </a:t>
            </a:r>
            <a:r>
              <a:rPr lang="en-PH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Amounts in Million Pesos</a:t>
            </a:r>
          </a:p>
        </p:txBody>
      </p:sp>
      <p:graphicFrame>
        <p:nvGraphicFramePr>
          <p:cNvPr id="39" name="Chart 38">
            <a:extLst>
              <a:ext uri="{FF2B5EF4-FFF2-40B4-BE49-F238E27FC236}">
                <a16:creationId xmlns:a16="http://schemas.microsoft.com/office/drawing/2014/main" id="{BB45C48E-BFC3-47BB-923E-830CB2ABB74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6777868"/>
              </p:ext>
            </p:extLst>
          </p:nvPr>
        </p:nvGraphicFramePr>
        <p:xfrm>
          <a:off x="4790642" y="1524837"/>
          <a:ext cx="4267556" cy="22183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  <p:extLst>
      <p:ext uri="{BB962C8B-B14F-4D97-AF65-F5344CB8AC3E}">
        <p14:creationId xmlns:p14="http://schemas.microsoft.com/office/powerpoint/2010/main" val="2302103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" name="Chart 38"/>
          <p:cNvGraphicFramePr>
            <a:graphicFrameLocks/>
          </p:cNvGraphicFramePr>
          <p:nvPr>
            <p:extLst/>
          </p:nvPr>
        </p:nvGraphicFramePr>
        <p:xfrm>
          <a:off x="45033" y="4191277"/>
          <a:ext cx="4262471" cy="21615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8" name="Chart 37"/>
          <p:cNvGraphicFramePr>
            <a:graphicFrameLocks/>
          </p:cNvGraphicFramePr>
          <p:nvPr>
            <p:extLst/>
          </p:nvPr>
        </p:nvGraphicFramePr>
        <p:xfrm>
          <a:off x="4794918" y="1522891"/>
          <a:ext cx="4274207" cy="21651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7" name="Chart 36"/>
          <p:cNvGraphicFramePr>
            <a:graphicFrameLocks/>
          </p:cNvGraphicFramePr>
          <p:nvPr>
            <p:extLst/>
          </p:nvPr>
        </p:nvGraphicFramePr>
        <p:xfrm>
          <a:off x="14570" y="1522165"/>
          <a:ext cx="4292934" cy="21715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5" name="Chart 34"/>
          <p:cNvGraphicFramePr>
            <a:graphicFrameLocks/>
          </p:cNvGraphicFramePr>
          <p:nvPr>
            <p:extLst/>
          </p:nvPr>
        </p:nvGraphicFramePr>
        <p:xfrm>
          <a:off x="4794919" y="4188714"/>
          <a:ext cx="4274206" cy="21641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Title 1"/>
          <p:cNvSpPr txBox="1">
            <a:spLocks/>
          </p:cNvSpPr>
          <p:nvPr/>
        </p:nvSpPr>
        <p:spPr>
          <a:xfrm>
            <a:off x="0" y="1173012"/>
            <a:ext cx="3820090" cy="4810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 dirty="0"/>
              <a:t>Total Assets</a:t>
            </a:r>
            <a:endParaRPr lang="en-US" sz="1600" dirty="0"/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4794921" y="1174553"/>
            <a:ext cx="3479180" cy="4817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 dirty="0"/>
              <a:t>Total Capital</a:t>
            </a:r>
            <a:endParaRPr lang="en-US" sz="1800" dirty="0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-40647" y="3837838"/>
            <a:ext cx="3459444" cy="473809"/>
          </a:xfrm>
        </p:spPr>
        <p:txBody>
          <a:bodyPr>
            <a:normAutofit/>
          </a:bodyPr>
          <a:lstStyle/>
          <a:p>
            <a:pPr lvl="0"/>
            <a:r>
              <a:rPr lang="en-US" sz="1600" b="1" dirty="0"/>
              <a:t>Total Loans and Receivables</a:t>
            </a:r>
            <a:endParaRPr lang="en-US" sz="1800" dirty="0"/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4757253" y="3812436"/>
            <a:ext cx="3479180" cy="473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 dirty="0"/>
              <a:t>Total Deposit Liabilities</a:t>
            </a:r>
            <a:endParaRPr lang="en-US" sz="1800" dirty="0"/>
          </a:p>
        </p:txBody>
      </p:sp>
      <p:sp>
        <p:nvSpPr>
          <p:cNvPr id="17" name="Rectangle 16"/>
          <p:cNvSpPr/>
          <p:nvPr/>
        </p:nvSpPr>
        <p:spPr>
          <a:xfrm>
            <a:off x="168947" y="2694726"/>
            <a:ext cx="1869403" cy="169918"/>
          </a:xfrm>
          <a:prstGeom prst="rect">
            <a:avLst/>
          </a:prstGeom>
          <a:noFill/>
          <a:ln w="952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8" name="TextBox 17"/>
          <p:cNvSpPr txBox="1"/>
          <p:nvPr/>
        </p:nvSpPr>
        <p:spPr>
          <a:xfrm>
            <a:off x="3465364" y="3373829"/>
            <a:ext cx="1329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Total: 5</a:t>
            </a:r>
            <a:r>
              <a:rPr lang="en-GB" sz="900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</a:t>
            </a:r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  <a:p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Stand Alone: 2</a:t>
            </a:r>
            <a:r>
              <a:rPr lang="en-GB" sz="900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nd</a:t>
            </a:r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endParaRPr lang="en-PH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5034" y="3707699"/>
            <a:ext cx="436845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*Total Assets - 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  <a:cs typeface="Calibri" panose="020F0502020204030204" pitchFamily="34" charset="0"/>
              </a:rPr>
              <a:t>↑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from March 2024 to March 2025 (7</a:t>
            </a:r>
            <a:r>
              <a:rPr lang="en-US" sz="1000" i="1" baseline="30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to 5</a:t>
            </a:r>
            <a:r>
              <a:rPr lang="en-US" sz="1000" i="1" baseline="30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  <a:endParaRPr lang="en-PH" sz="1000" i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015107" y="3344848"/>
            <a:ext cx="1026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Total: 9</a:t>
            </a:r>
            <a:r>
              <a:rPr lang="en-GB" sz="900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</a:t>
            </a:r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  <a:p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Stand Alone : 5</a:t>
            </a:r>
            <a:r>
              <a:rPr lang="en-GB" sz="900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</a:t>
            </a:r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</a:t>
            </a:r>
            <a:endParaRPr lang="en-PH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689742" y="3715907"/>
            <a:ext cx="445425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*Total Capital – 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  <a:cs typeface="Calibri" panose="020F0502020204030204" pitchFamily="34" charset="0"/>
              </a:rPr>
              <a:t>Stayed at 9</a:t>
            </a:r>
            <a:r>
              <a:rPr lang="en-US" sz="1000" i="1" baseline="30000" dirty="0">
                <a:solidFill>
                  <a:schemeClr val="tx1">
                    <a:lumMod val="85000"/>
                    <a:lumOff val="15000"/>
                  </a:schemeClr>
                </a:solidFill>
                <a:cs typeface="Calibri" panose="020F0502020204030204" pitchFamily="34" charset="0"/>
              </a:rPr>
              <a:t>th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  <a:cs typeface="Calibri" panose="020F0502020204030204" pitchFamily="34" charset="0"/>
              </a:rPr>
              <a:t> from March 2024 to March 2025</a:t>
            </a:r>
            <a:endParaRPr lang="en-PH" sz="1000" i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465362" y="5937666"/>
            <a:ext cx="15938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2">
                    <a:lumMod val="50000"/>
                  </a:schemeClr>
                </a:solidFill>
              </a:rPr>
              <a:t>Total: 5</a:t>
            </a:r>
            <a:r>
              <a:rPr lang="en-US" sz="900" baseline="30000" dirty="0">
                <a:solidFill>
                  <a:schemeClr val="bg2">
                    <a:lumMod val="50000"/>
                  </a:schemeClr>
                </a:solidFill>
              </a:rPr>
              <a:t>th*</a:t>
            </a:r>
            <a:r>
              <a:rPr lang="en-US" sz="900" dirty="0">
                <a:solidFill>
                  <a:schemeClr val="bg2">
                    <a:lumMod val="50000"/>
                  </a:schemeClr>
                </a:solidFill>
              </a:rPr>
              <a:t> </a:t>
            </a:r>
          </a:p>
          <a:p>
            <a:r>
              <a:rPr lang="en-US" sz="900" dirty="0">
                <a:solidFill>
                  <a:schemeClr val="bg2">
                    <a:lumMod val="50000"/>
                  </a:schemeClr>
                </a:solidFill>
              </a:rPr>
              <a:t>Stand alone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: 2</a:t>
            </a:r>
            <a:r>
              <a:rPr lang="en-US" sz="900" baseline="30000" dirty="0">
                <a:solidFill>
                  <a:schemeClr val="bg1">
                    <a:lumMod val="50000"/>
                  </a:schemeClr>
                </a:solidFill>
              </a:rPr>
              <a:t>rd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en-PH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8736" y="6314925"/>
            <a:ext cx="4368454" cy="2547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*Total Loans and Receivables – 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  <a:cs typeface="Calibri" panose="020F0502020204030204" pitchFamily="34" charset="0"/>
              </a:rPr>
              <a:t>Stayed at 5th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from March 2024 to March 2025</a:t>
            </a:r>
            <a:endParaRPr lang="en-PH" sz="1000" i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015107" y="5945593"/>
            <a:ext cx="276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Total</a:t>
            </a:r>
            <a:r>
              <a:rPr lang="en-PH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5</a:t>
            </a:r>
            <a:r>
              <a:rPr lang="en-PH" sz="900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</a:t>
            </a:r>
            <a:r>
              <a:rPr lang="en-PH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  <a:p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Stand Alone: 2</a:t>
            </a:r>
            <a:r>
              <a:rPr lang="en-GB" sz="900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nd</a:t>
            </a:r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00670" y="6320941"/>
            <a:ext cx="436845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*Total Deposit Liabilities- 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  <a:cs typeface="Calibri" panose="020F0502020204030204" pitchFamily="34" charset="0"/>
              </a:rPr>
              <a:t>↑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from March 2024 to March 2025 (6</a:t>
            </a:r>
            <a:r>
              <a:rPr lang="en-US" sz="1000" i="1" baseline="30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to 5</a:t>
            </a:r>
            <a:r>
              <a:rPr lang="en-US" sz="1000" i="1" baseline="30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  <a:endParaRPr lang="en-PH" sz="1000" i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5036" y="6553248"/>
            <a:ext cx="4572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41 Thrift Banks | </a:t>
            </a:r>
            <a:r>
              <a:rPr lang="en-PH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Amounts in Million Pesos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28F2857-9E2B-B404-A6DD-E3F3A2E5CB3A}"/>
              </a:ext>
            </a:extLst>
          </p:cNvPr>
          <p:cNvSpPr txBox="1"/>
          <p:nvPr/>
        </p:nvSpPr>
        <p:spPr>
          <a:xfrm>
            <a:off x="4689742" y="6595045"/>
            <a:ext cx="18820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1000" dirty="0">
                <a:solidFill>
                  <a:schemeClr val="bg1">
                    <a:lumMod val="50000"/>
                  </a:schemeClr>
                </a:solidFill>
              </a:rPr>
              <a:t>Source: BSP website</a:t>
            </a:r>
          </a:p>
        </p:txBody>
      </p:sp>
      <p:sp>
        <p:nvSpPr>
          <p:cNvPr id="28" name="Title 1"/>
          <p:cNvSpPr txBox="1">
            <a:spLocks/>
          </p:cNvSpPr>
          <p:nvPr/>
        </p:nvSpPr>
        <p:spPr>
          <a:xfrm>
            <a:off x="-40647" y="75510"/>
            <a:ext cx="7136780" cy="12203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100" b="1" dirty="0">
                <a:latin typeface="+mn-lt"/>
              </a:rPr>
              <a:t>INDUSTRY RANKING</a:t>
            </a:r>
            <a:br>
              <a:rPr lang="en-US" sz="3100" b="1" dirty="0">
                <a:latin typeface="+mn-lt"/>
              </a:rPr>
            </a:br>
            <a:r>
              <a:rPr lang="en-US" sz="2000" dirty="0">
                <a:latin typeface="+mn-lt"/>
              </a:rPr>
              <a:t>Thrift Bank Group, March 2024 vs March 2025</a:t>
            </a:r>
            <a:endParaRPr lang="en-US" sz="2400" dirty="0">
              <a:latin typeface="+mn-lt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5000197" y="3073400"/>
            <a:ext cx="1610153" cy="182207"/>
          </a:xfrm>
          <a:prstGeom prst="rect">
            <a:avLst/>
          </a:prstGeom>
          <a:noFill/>
          <a:ln w="952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4" name="Rectangle 33"/>
          <p:cNvSpPr/>
          <p:nvPr/>
        </p:nvSpPr>
        <p:spPr>
          <a:xfrm>
            <a:off x="246064" y="5005125"/>
            <a:ext cx="2152651" cy="166688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6" name="Rectangle 35"/>
          <p:cNvSpPr/>
          <p:nvPr/>
        </p:nvSpPr>
        <p:spPr>
          <a:xfrm>
            <a:off x="5000197" y="5260339"/>
            <a:ext cx="2152651" cy="166688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graphicFrame>
        <p:nvGraphicFramePr>
          <p:cNvPr id="32" name="Chart 31"/>
          <p:cNvGraphicFramePr>
            <a:graphicFrameLocks/>
          </p:cNvGraphicFramePr>
          <p:nvPr>
            <p:extLst/>
          </p:nvPr>
        </p:nvGraphicFramePr>
        <p:xfrm>
          <a:off x="4794918" y="4182765"/>
          <a:ext cx="4274207" cy="21700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2144597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Chart 3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1195514"/>
              </p:ext>
            </p:extLst>
          </p:nvPr>
        </p:nvGraphicFramePr>
        <p:xfrm>
          <a:off x="4794919" y="4188714"/>
          <a:ext cx="4274206" cy="21641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3" name="Chart 3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68752799"/>
              </p:ext>
            </p:extLst>
          </p:nvPr>
        </p:nvGraphicFramePr>
        <p:xfrm>
          <a:off x="45034" y="4188711"/>
          <a:ext cx="4262470" cy="21641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0" name="Chart 2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9454946"/>
              </p:ext>
            </p:extLst>
          </p:nvPr>
        </p:nvGraphicFramePr>
        <p:xfrm>
          <a:off x="4794920" y="1533746"/>
          <a:ext cx="4274207" cy="22094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9" name="Chart 2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01089287"/>
              </p:ext>
            </p:extLst>
          </p:nvPr>
        </p:nvGraphicFramePr>
        <p:xfrm>
          <a:off x="26617" y="1544455"/>
          <a:ext cx="4280889" cy="21493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Title 1"/>
          <p:cNvSpPr txBox="1">
            <a:spLocks/>
          </p:cNvSpPr>
          <p:nvPr/>
        </p:nvSpPr>
        <p:spPr>
          <a:xfrm>
            <a:off x="0" y="1173012"/>
            <a:ext cx="3820090" cy="4810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 dirty="0"/>
              <a:t>Total Assets</a:t>
            </a:r>
            <a:endParaRPr lang="en-US" sz="1600" dirty="0"/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4794921" y="1174553"/>
            <a:ext cx="3479180" cy="4817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 dirty="0"/>
              <a:t>Total Capital</a:t>
            </a:r>
            <a:endParaRPr lang="en-US" sz="1800" dirty="0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-40647" y="3837838"/>
            <a:ext cx="3459444" cy="473809"/>
          </a:xfrm>
        </p:spPr>
        <p:txBody>
          <a:bodyPr>
            <a:normAutofit/>
          </a:bodyPr>
          <a:lstStyle/>
          <a:p>
            <a:pPr lvl="0"/>
            <a:r>
              <a:rPr lang="en-US" sz="1600" b="1" dirty="0"/>
              <a:t>Total Loans and Receivables</a:t>
            </a:r>
            <a:endParaRPr lang="en-US" sz="1800" dirty="0"/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4757253" y="3812436"/>
            <a:ext cx="3479180" cy="473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 dirty="0"/>
              <a:t>Total Deposit Liabilities</a:t>
            </a:r>
            <a:endParaRPr lang="en-US" sz="1800" dirty="0"/>
          </a:p>
        </p:txBody>
      </p:sp>
      <p:sp>
        <p:nvSpPr>
          <p:cNvPr id="17" name="Rectangle 16"/>
          <p:cNvSpPr/>
          <p:nvPr/>
        </p:nvSpPr>
        <p:spPr>
          <a:xfrm>
            <a:off x="241301" y="2786193"/>
            <a:ext cx="2152651" cy="166688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8" name="TextBox 17"/>
          <p:cNvSpPr txBox="1"/>
          <p:nvPr/>
        </p:nvSpPr>
        <p:spPr>
          <a:xfrm>
            <a:off x="3465364" y="3373829"/>
            <a:ext cx="1329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Total: 5</a:t>
            </a:r>
            <a:r>
              <a:rPr lang="en-GB" sz="900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</a:t>
            </a:r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  <a:p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Stand Alone: 2</a:t>
            </a:r>
            <a:r>
              <a:rPr lang="en-GB" sz="900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nd</a:t>
            </a:r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endParaRPr lang="en-PH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5034" y="3707699"/>
            <a:ext cx="436845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*Total Assets - 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  <a:cs typeface="Calibri" panose="020F0502020204030204" pitchFamily="34" charset="0"/>
              </a:rPr>
              <a:t>↑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from March 2024 to March 2025 (7</a:t>
            </a:r>
            <a:r>
              <a:rPr lang="en-US" sz="1000" i="1" baseline="30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to 5</a:t>
            </a:r>
            <a:r>
              <a:rPr lang="en-US" sz="1000" i="1" baseline="30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  <a:endParaRPr lang="en-PH" sz="1000" i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015107" y="3344848"/>
            <a:ext cx="1026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Total: 9</a:t>
            </a:r>
            <a:r>
              <a:rPr lang="en-GB" sz="900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</a:t>
            </a:r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  <a:p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Stand Alone : 5</a:t>
            </a:r>
            <a:r>
              <a:rPr lang="en-GB" sz="900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</a:t>
            </a:r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</a:t>
            </a:r>
            <a:endParaRPr lang="en-PH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689742" y="3719961"/>
            <a:ext cx="445425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*Total Capital – 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  <a:cs typeface="Calibri" panose="020F0502020204030204" pitchFamily="34" charset="0"/>
              </a:rPr>
              <a:t>Stayed at 9</a:t>
            </a:r>
            <a:r>
              <a:rPr lang="en-US" sz="1000" i="1" baseline="30000" dirty="0">
                <a:solidFill>
                  <a:schemeClr val="tx1">
                    <a:lumMod val="85000"/>
                    <a:lumOff val="15000"/>
                  </a:schemeClr>
                </a:solidFill>
                <a:cs typeface="Calibri" panose="020F0502020204030204" pitchFamily="34" charset="0"/>
              </a:rPr>
              <a:t>th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  <a:cs typeface="Calibri" panose="020F0502020204030204" pitchFamily="34" charset="0"/>
              </a:rPr>
              <a:t> from March 2024 to March 2025</a:t>
            </a:r>
            <a:endParaRPr lang="en-PH" sz="1000" i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465362" y="5937666"/>
            <a:ext cx="15938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2">
                    <a:lumMod val="50000"/>
                  </a:schemeClr>
                </a:solidFill>
              </a:rPr>
              <a:t>Total: 5</a:t>
            </a:r>
            <a:r>
              <a:rPr lang="en-US" sz="900" baseline="30000" dirty="0">
                <a:solidFill>
                  <a:schemeClr val="bg2">
                    <a:lumMod val="50000"/>
                  </a:schemeClr>
                </a:solidFill>
              </a:rPr>
              <a:t>th*</a:t>
            </a:r>
            <a:r>
              <a:rPr lang="en-US" sz="900" dirty="0">
                <a:solidFill>
                  <a:schemeClr val="bg2">
                    <a:lumMod val="50000"/>
                  </a:schemeClr>
                </a:solidFill>
              </a:rPr>
              <a:t> </a:t>
            </a:r>
          </a:p>
          <a:p>
            <a:r>
              <a:rPr lang="en-US" sz="900" dirty="0">
                <a:solidFill>
                  <a:schemeClr val="bg2">
                    <a:lumMod val="50000"/>
                  </a:schemeClr>
                </a:solidFill>
              </a:rPr>
              <a:t>Stand alone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: 2</a:t>
            </a:r>
            <a:r>
              <a:rPr lang="en-US" sz="900" baseline="30000" dirty="0">
                <a:solidFill>
                  <a:schemeClr val="bg1">
                    <a:lumMod val="50000"/>
                  </a:schemeClr>
                </a:solidFill>
              </a:rPr>
              <a:t>rd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en-PH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8736" y="6314925"/>
            <a:ext cx="4368454" cy="2547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*Total Loans and Receivables – 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  <a:cs typeface="Calibri" panose="020F0502020204030204" pitchFamily="34" charset="0"/>
              </a:rPr>
              <a:t>Stayed at 5th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from March 2024 to March 2025</a:t>
            </a:r>
            <a:endParaRPr lang="en-PH" sz="1000" i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015107" y="5945593"/>
            <a:ext cx="276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Total</a:t>
            </a:r>
            <a:r>
              <a:rPr lang="en-PH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5</a:t>
            </a:r>
            <a:r>
              <a:rPr lang="en-PH" sz="900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</a:t>
            </a:r>
            <a:r>
              <a:rPr lang="en-PH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  <a:p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Stand Alone: 2</a:t>
            </a:r>
            <a:r>
              <a:rPr lang="en-GB" sz="900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nd</a:t>
            </a:r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00670" y="6320941"/>
            <a:ext cx="436845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*Total Deposit Liabilities- 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  <a:cs typeface="Calibri" panose="020F0502020204030204" pitchFamily="34" charset="0"/>
              </a:rPr>
              <a:t>↑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from March 2024 to March 2025 (6</a:t>
            </a:r>
            <a:r>
              <a:rPr lang="en-US" sz="1000" i="1" baseline="30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to 5</a:t>
            </a:r>
            <a:r>
              <a:rPr lang="en-US" sz="1000" i="1" baseline="30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  <a:endParaRPr lang="en-PH" sz="1000" i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5036" y="6553248"/>
            <a:ext cx="4572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41 Thrift Banks | </a:t>
            </a:r>
            <a:r>
              <a:rPr lang="en-PH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Amounts in Million Pesos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28F2857-9E2B-B404-A6DD-E3F3A2E5CB3A}"/>
              </a:ext>
            </a:extLst>
          </p:cNvPr>
          <p:cNvSpPr txBox="1"/>
          <p:nvPr/>
        </p:nvSpPr>
        <p:spPr>
          <a:xfrm>
            <a:off x="4689742" y="6595045"/>
            <a:ext cx="18820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1000" dirty="0">
                <a:solidFill>
                  <a:schemeClr val="bg1">
                    <a:lumMod val="50000"/>
                  </a:schemeClr>
                </a:solidFill>
              </a:rPr>
              <a:t>Source: BSP website</a:t>
            </a:r>
          </a:p>
        </p:txBody>
      </p:sp>
      <p:sp>
        <p:nvSpPr>
          <p:cNvPr id="28" name="Title 1"/>
          <p:cNvSpPr txBox="1">
            <a:spLocks/>
          </p:cNvSpPr>
          <p:nvPr/>
        </p:nvSpPr>
        <p:spPr>
          <a:xfrm>
            <a:off x="-6110" y="0"/>
            <a:ext cx="7136780" cy="12203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100" b="1" dirty="0">
                <a:latin typeface="+mn-lt"/>
              </a:rPr>
              <a:t>INDUSTRY RANKING</a:t>
            </a:r>
            <a:br>
              <a:rPr lang="en-US" sz="3100" b="1" dirty="0">
                <a:latin typeface="+mn-lt"/>
              </a:rPr>
            </a:br>
            <a:r>
              <a:rPr lang="en-US" sz="2000" dirty="0">
                <a:latin typeface="+mn-lt"/>
              </a:rPr>
              <a:t>Thrift Bank Group, March 2024 vs March 2025</a:t>
            </a:r>
            <a:endParaRPr lang="en-US" sz="2400" dirty="0">
              <a:latin typeface="+mn-lt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4858475" y="3129228"/>
            <a:ext cx="1999527" cy="17915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4" name="Rectangle 33"/>
          <p:cNvSpPr/>
          <p:nvPr/>
        </p:nvSpPr>
        <p:spPr>
          <a:xfrm>
            <a:off x="246064" y="5005125"/>
            <a:ext cx="2152651" cy="166688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6" name="Rectangle 35"/>
          <p:cNvSpPr/>
          <p:nvPr/>
        </p:nvSpPr>
        <p:spPr>
          <a:xfrm>
            <a:off x="5000197" y="5260339"/>
            <a:ext cx="2152651" cy="166688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047220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Chart 34">
            <a:extLst>
              <a:ext uri="{FF2B5EF4-FFF2-40B4-BE49-F238E27FC236}">
                <a16:creationId xmlns:a16="http://schemas.microsoft.com/office/drawing/2014/main" id="{03CBC2B6-A71C-46B1-8ECE-BBA8AD17AD0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9686216"/>
              </p:ext>
            </p:extLst>
          </p:nvPr>
        </p:nvGraphicFramePr>
        <p:xfrm>
          <a:off x="4689568" y="4201466"/>
          <a:ext cx="4327432" cy="21386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2" name="Chart 31">
            <a:extLst>
              <a:ext uri="{FF2B5EF4-FFF2-40B4-BE49-F238E27FC236}">
                <a16:creationId xmlns:a16="http://schemas.microsoft.com/office/drawing/2014/main" id="{B2DCDBD3-5942-4818-91C4-BC181F66B1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20188001"/>
              </p:ext>
            </p:extLst>
          </p:nvPr>
        </p:nvGraphicFramePr>
        <p:xfrm>
          <a:off x="48415" y="4175252"/>
          <a:ext cx="4298968" cy="21244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1" name="Chart 30">
            <a:extLst>
              <a:ext uri="{FF2B5EF4-FFF2-40B4-BE49-F238E27FC236}">
                <a16:creationId xmlns:a16="http://schemas.microsoft.com/office/drawing/2014/main" id="{B3064AEA-7A42-4F89-BF35-7BDA3FBB934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01561388"/>
              </p:ext>
            </p:extLst>
          </p:nvPr>
        </p:nvGraphicFramePr>
        <p:xfrm>
          <a:off x="4689568" y="1505703"/>
          <a:ext cx="4327432" cy="22553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9" name="Chart 28">
            <a:extLst>
              <a:ext uri="{FF2B5EF4-FFF2-40B4-BE49-F238E27FC236}">
                <a16:creationId xmlns:a16="http://schemas.microsoft.com/office/drawing/2014/main" id="{51F086AC-2D88-4D85-8210-26166A48A36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47253707"/>
              </p:ext>
            </p:extLst>
          </p:nvPr>
        </p:nvGraphicFramePr>
        <p:xfrm>
          <a:off x="50129" y="1511308"/>
          <a:ext cx="4297254" cy="21958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924621"/>
            <a:ext cx="3479180" cy="236124"/>
          </a:xfrm>
        </p:spPr>
        <p:txBody>
          <a:bodyPr>
            <a:noAutofit/>
          </a:bodyPr>
          <a:lstStyle/>
          <a:p>
            <a:pPr lvl="0"/>
            <a:r>
              <a:rPr lang="en-US" sz="1600" b="1" dirty="0"/>
              <a:t>Total Loans and Receivables</a:t>
            </a:r>
            <a:endParaRPr lang="en-US" sz="1800" dirty="0"/>
          </a:p>
        </p:txBody>
      </p:sp>
      <p:sp>
        <p:nvSpPr>
          <p:cNvPr id="14" name="Title 1"/>
          <p:cNvSpPr txBox="1">
            <a:spLocks/>
          </p:cNvSpPr>
          <p:nvPr/>
        </p:nvSpPr>
        <p:spPr>
          <a:xfrm>
            <a:off x="0" y="1151157"/>
            <a:ext cx="3820090" cy="481046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 dirty="0"/>
              <a:t>Total Assets</a:t>
            </a:r>
            <a:endParaRPr lang="en-US" sz="1600" dirty="0"/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4689568" y="3926210"/>
            <a:ext cx="3479180" cy="3026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 dirty="0"/>
              <a:t>Total Deposit Liabilities</a:t>
            </a:r>
            <a:endParaRPr lang="en-US" sz="1800" dirty="0"/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4689568" y="1147385"/>
            <a:ext cx="3479180" cy="483749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 dirty="0"/>
              <a:t>Total Capital</a:t>
            </a:r>
            <a:endParaRPr lang="en-US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2B6C5F-819A-6424-BE85-FF1D53B48F15}"/>
              </a:ext>
            </a:extLst>
          </p:cNvPr>
          <p:cNvSpPr txBox="1"/>
          <p:nvPr/>
        </p:nvSpPr>
        <p:spPr>
          <a:xfrm>
            <a:off x="5903858" y="6556636"/>
            <a:ext cx="18820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1050" dirty="0">
                <a:solidFill>
                  <a:schemeClr val="bg1">
                    <a:lumMod val="50000"/>
                  </a:schemeClr>
                </a:solidFill>
              </a:rPr>
              <a:t>Source: BSP website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77970" y="3298011"/>
            <a:ext cx="2702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Stand Alone: 2</a:t>
            </a:r>
            <a:r>
              <a:rPr lang="en-GB" sz="900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rd</a:t>
            </a:r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  <a:p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Total : 5</a:t>
            </a:r>
            <a:r>
              <a:rPr lang="en-GB" sz="900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</a:t>
            </a:r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endParaRPr lang="en-PH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881878" y="3298011"/>
            <a:ext cx="3152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Stand Alone: 5</a:t>
            </a:r>
            <a:r>
              <a:rPr lang="en-GB" sz="900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</a:t>
            </a:r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  <a:p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Total: 9</a:t>
            </a:r>
            <a:r>
              <a:rPr lang="en-GB" sz="900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</a:t>
            </a:r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endParaRPr lang="en-PH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377970" y="5953239"/>
            <a:ext cx="1808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Stand Alone: 2</a:t>
            </a:r>
            <a:r>
              <a:rPr lang="en-GB" sz="900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nd</a:t>
            </a:r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  <a:p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Total: 5</a:t>
            </a:r>
            <a:r>
              <a:rPr lang="en-GB" sz="900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</a:t>
            </a:r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endParaRPr lang="en-PH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881878" y="5953239"/>
            <a:ext cx="2729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Stand Alone: 2</a:t>
            </a:r>
            <a:r>
              <a:rPr lang="en-GB" sz="900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nd</a:t>
            </a:r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</a:t>
            </a:r>
          </a:p>
          <a:p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Total:  5</a:t>
            </a:r>
            <a:r>
              <a:rPr lang="en-GB" sz="900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</a:t>
            </a:r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endParaRPr lang="en-PH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5037" y="6299722"/>
            <a:ext cx="4912911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*Total Loans and Receivables - 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  <a:cs typeface="Calibri" panose="020F0502020204030204" pitchFamily="34" charset="0"/>
              </a:rPr>
              <a:t>Stayed at 2</a:t>
            </a:r>
            <a:r>
              <a:rPr lang="en-US" sz="1000" i="1" baseline="30000" dirty="0">
                <a:solidFill>
                  <a:schemeClr val="tx1">
                    <a:lumMod val="85000"/>
                    <a:lumOff val="15000"/>
                  </a:schemeClr>
                </a:solidFill>
                <a:cs typeface="Calibri" panose="020F0502020204030204" pitchFamily="34" charset="0"/>
              </a:rPr>
              <a:t>nd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  <a:cs typeface="Calibri" panose="020F0502020204030204" pitchFamily="34" charset="0"/>
              </a:rPr>
              <a:t> from March 2024 to March 2025</a:t>
            </a:r>
            <a:endParaRPr lang="en-PH" sz="1000" i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8" name="Title 1"/>
          <p:cNvSpPr txBox="1">
            <a:spLocks/>
          </p:cNvSpPr>
          <p:nvPr/>
        </p:nvSpPr>
        <p:spPr>
          <a:xfrm>
            <a:off x="156118" y="89212"/>
            <a:ext cx="713678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100" b="1" dirty="0">
                <a:latin typeface="+mn-lt"/>
              </a:rPr>
              <a:t>INDUSTRY RANKING</a:t>
            </a:r>
            <a:br>
              <a:rPr lang="en-US" sz="3100" b="1" dirty="0">
                <a:latin typeface="+mn-lt"/>
              </a:rPr>
            </a:br>
            <a:r>
              <a:rPr lang="en-US" sz="2000" dirty="0">
                <a:latin typeface="+mn-lt"/>
              </a:rPr>
              <a:t>Thrift Bank Group, as of 31 March 2025</a:t>
            </a:r>
            <a:endParaRPr lang="en-US" sz="2400" dirty="0">
              <a:latin typeface="+mn-lt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606904" y="3702897"/>
            <a:ext cx="445425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*Total Capital – 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  <a:cs typeface="Calibri" panose="020F0502020204030204" pitchFamily="34" charset="0"/>
              </a:rPr>
              <a:t>Stayed at 5</a:t>
            </a:r>
            <a:r>
              <a:rPr lang="en-US" sz="1000" i="1" baseline="30000" dirty="0">
                <a:solidFill>
                  <a:schemeClr val="tx1">
                    <a:lumMod val="85000"/>
                    <a:lumOff val="15000"/>
                  </a:schemeClr>
                </a:solidFill>
                <a:cs typeface="Calibri" panose="020F0502020204030204" pitchFamily="34" charset="0"/>
              </a:rPr>
              <a:t>th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  <a:cs typeface="Calibri" panose="020F0502020204030204" pitchFamily="34" charset="0"/>
              </a:rPr>
              <a:t> from March 2024 to March 2025</a:t>
            </a:r>
            <a:endParaRPr lang="en-PH" sz="1000" i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626155" y="6310695"/>
            <a:ext cx="445425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*Total Deposit Liabilities – 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  <a:cs typeface="Calibri" panose="020F0502020204030204" pitchFamily="34" charset="0"/>
              </a:rPr>
              <a:t>Stayed at 2</a:t>
            </a:r>
            <a:r>
              <a:rPr lang="en-US" sz="1000" i="1" baseline="30000" dirty="0">
                <a:solidFill>
                  <a:schemeClr val="tx1">
                    <a:lumMod val="85000"/>
                    <a:lumOff val="15000"/>
                  </a:schemeClr>
                </a:solidFill>
                <a:cs typeface="Calibri" panose="020F0502020204030204" pitchFamily="34" charset="0"/>
              </a:rPr>
              <a:t>nd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  <a:cs typeface="Calibri" panose="020F0502020204030204" pitchFamily="34" charset="0"/>
              </a:rPr>
              <a:t> from March 2024 to March 2025</a:t>
            </a:r>
            <a:endParaRPr lang="en-PH" sz="1000" i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0129" y="3694012"/>
            <a:ext cx="445425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*Total </a:t>
            </a:r>
            <a:r>
              <a:rPr lang="en-US" sz="1000" i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Assets 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– ↑ from March 2024 to March 2025 (3</a:t>
            </a:r>
            <a:r>
              <a:rPr lang="en-US" sz="1000" i="1" baseline="30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rd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to 2</a:t>
            </a:r>
            <a:r>
              <a:rPr lang="en-US" sz="1000" i="1" baseline="30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nd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  <a:endParaRPr lang="en-PH" sz="1000" i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45036" y="6553248"/>
            <a:ext cx="4572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41 Thrift Banks | </a:t>
            </a:r>
            <a:r>
              <a:rPr lang="en-PH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Amounts in Million Pesos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472" y="2100265"/>
            <a:ext cx="2531143" cy="219075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6" name="Rectangle 35"/>
          <p:cNvSpPr/>
          <p:nvPr/>
        </p:nvSpPr>
        <p:spPr>
          <a:xfrm>
            <a:off x="83470" y="4758552"/>
            <a:ext cx="2735930" cy="219075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7" name="Rectangle 36"/>
          <p:cNvSpPr/>
          <p:nvPr/>
        </p:nvSpPr>
        <p:spPr>
          <a:xfrm>
            <a:off x="4736357" y="4774215"/>
            <a:ext cx="2782045" cy="219075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8" name="Rectangle 37"/>
          <p:cNvSpPr/>
          <p:nvPr/>
        </p:nvSpPr>
        <p:spPr>
          <a:xfrm>
            <a:off x="4736357" y="3010650"/>
            <a:ext cx="2782045" cy="219075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29749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Chart 3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5350799"/>
              </p:ext>
            </p:extLst>
          </p:nvPr>
        </p:nvGraphicFramePr>
        <p:xfrm>
          <a:off x="4794922" y="1503692"/>
          <a:ext cx="4285491" cy="21685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7" name="Chart 3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03908134"/>
              </p:ext>
            </p:extLst>
          </p:nvPr>
        </p:nvGraphicFramePr>
        <p:xfrm>
          <a:off x="45034" y="4228829"/>
          <a:ext cx="4273029" cy="20620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5" name="Chart 3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38743501"/>
              </p:ext>
            </p:extLst>
          </p:nvPr>
        </p:nvGraphicFramePr>
        <p:xfrm>
          <a:off x="45034" y="1503691"/>
          <a:ext cx="4282149" cy="21685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32" name="Chart 3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35903715"/>
              </p:ext>
            </p:extLst>
          </p:nvPr>
        </p:nvGraphicFramePr>
        <p:xfrm>
          <a:off x="4794921" y="4224960"/>
          <a:ext cx="4266241" cy="20824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924621"/>
            <a:ext cx="3479180" cy="236124"/>
          </a:xfrm>
        </p:spPr>
        <p:txBody>
          <a:bodyPr>
            <a:noAutofit/>
          </a:bodyPr>
          <a:lstStyle/>
          <a:p>
            <a:pPr lvl="0"/>
            <a:r>
              <a:rPr lang="en-US" sz="1600" b="1" dirty="0"/>
              <a:t>Total Loans and Receivables</a:t>
            </a:r>
            <a:endParaRPr lang="en-US" sz="1800" dirty="0"/>
          </a:p>
        </p:txBody>
      </p:sp>
      <p:sp>
        <p:nvSpPr>
          <p:cNvPr id="14" name="Title 1"/>
          <p:cNvSpPr txBox="1">
            <a:spLocks/>
          </p:cNvSpPr>
          <p:nvPr/>
        </p:nvSpPr>
        <p:spPr>
          <a:xfrm>
            <a:off x="0" y="1151157"/>
            <a:ext cx="3820090" cy="481046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 dirty="0"/>
              <a:t>Total Assets</a:t>
            </a:r>
            <a:endParaRPr lang="en-US" sz="1600" dirty="0"/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4689568" y="3926210"/>
            <a:ext cx="3479180" cy="3026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 dirty="0"/>
              <a:t>Total Deposit Liabilities</a:t>
            </a:r>
            <a:endParaRPr lang="en-US" sz="1800" dirty="0"/>
          </a:p>
        </p:txBody>
      </p:sp>
      <p:sp>
        <p:nvSpPr>
          <p:cNvPr id="3" name="Rectangle 2"/>
          <p:cNvSpPr/>
          <p:nvPr/>
        </p:nvSpPr>
        <p:spPr>
          <a:xfrm>
            <a:off x="45036" y="6553248"/>
            <a:ext cx="4572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42 Thrift Banks | </a:t>
            </a:r>
            <a:r>
              <a:rPr lang="en-PH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Amounts in Million Pesos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4689568" y="1147385"/>
            <a:ext cx="3479180" cy="483749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 dirty="0"/>
              <a:t>Total Capital</a:t>
            </a:r>
            <a:endParaRPr lang="en-US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2B6C5F-819A-6424-BE85-FF1D53B48F15}"/>
              </a:ext>
            </a:extLst>
          </p:cNvPr>
          <p:cNvSpPr txBox="1"/>
          <p:nvPr/>
        </p:nvSpPr>
        <p:spPr>
          <a:xfrm>
            <a:off x="5903858" y="6556636"/>
            <a:ext cx="18820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1050" dirty="0">
                <a:solidFill>
                  <a:schemeClr val="bg1">
                    <a:lumMod val="50000"/>
                  </a:schemeClr>
                </a:solidFill>
              </a:rPr>
              <a:t>Source: BSP website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89070" y="3298011"/>
            <a:ext cx="10289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Stand Alone: 3</a:t>
            </a:r>
            <a:r>
              <a:rPr lang="en-GB" sz="900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rd</a:t>
            </a:r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  <a:p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Total : 7</a:t>
            </a:r>
            <a:r>
              <a:rPr lang="en-GB" sz="900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</a:t>
            </a:r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endParaRPr lang="en-PH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881877" y="3298011"/>
            <a:ext cx="1198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Stand Alone: 5</a:t>
            </a:r>
            <a:r>
              <a:rPr lang="en-GB" sz="900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</a:t>
            </a:r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  <a:p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Total: 9</a:t>
            </a:r>
            <a:r>
              <a:rPr lang="en-GB" sz="900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</a:t>
            </a:r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endParaRPr lang="en-PH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377969" y="5953239"/>
            <a:ext cx="949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Stand Alone: 2</a:t>
            </a:r>
            <a:r>
              <a:rPr lang="en-GB" sz="900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nd</a:t>
            </a:r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  <a:p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Total: 5</a:t>
            </a:r>
            <a:r>
              <a:rPr lang="en-GB" sz="900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</a:t>
            </a:r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endParaRPr lang="en-PH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881877" y="5953239"/>
            <a:ext cx="1179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Stand Alone: 2</a:t>
            </a:r>
            <a:r>
              <a:rPr lang="en-GB" sz="900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nd</a:t>
            </a:r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</a:t>
            </a:r>
          </a:p>
          <a:p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Total:  6</a:t>
            </a:r>
            <a:r>
              <a:rPr lang="en-GB" sz="900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</a:t>
            </a:r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endParaRPr lang="en-PH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5037" y="6299722"/>
            <a:ext cx="4912911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*Total Loans and Receivables - 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  <a:cs typeface="Calibri" panose="020F0502020204030204" pitchFamily="34" charset="0"/>
              </a:rPr>
              <a:t>Stayed at 2</a:t>
            </a:r>
            <a:r>
              <a:rPr lang="en-US" sz="1000" i="1" baseline="30000" dirty="0">
                <a:solidFill>
                  <a:schemeClr val="tx1">
                    <a:lumMod val="85000"/>
                    <a:lumOff val="15000"/>
                  </a:schemeClr>
                </a:solidFill>
                <a:cs typeface="Calibri" panose="020F0502020204030204" pitchFamily="34" charset="0"/>
              </a:rPr>
              <a:t>nd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  <a:cs typeface="Calibri" panose="020F0502020204030204" pitchFamily="34" charset="0"/>
              </a:rPr>
              <a:t> from March 2024 to March 2025</a:t>
            </a:r>
            <a:endParaRPr lang="en-PH" sz="1000" i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606904" y="3702897"/>
            <a:ext cx="445425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*Total Capital – 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  <a:cs typeface="Calibri" panose="020F0502020204030204" pitchFamily="34" charset="0"/>
              </a:rPr>
              <a:t>Stayed at 5</a:t>
            </a:r>
            <a:r>
              <a:rPr lang="en-US" sz="1000" i="1" baseline="30000" dirty="0">
                <a:solidFill>
                  <a:schemeClr val="tx1">
                    <a:lumMod val="85000"/>
                    <a:lumOff val="15000"/>
                  </a:schemeClr>
                </a:solidFill>
                <a:cs typeface="Calibri" panose="020F0502020204030204" pitchFamily="34" charset="0"/>
              </a:rPr>
              <a:t>th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  <a:cs typeface="Calibri" panose="020F0502020204030204" pitchFamily="34" charset="0"/>
              </a:rPr>
              <a:t> from March 2024 to March 2025</a:t>
            </a:r>
            <a:endParaRPr lang="en-PH" sz="1000" i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626155" y="6310695"/>
            <a:ext cx="445425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*Total Deposit Liabilities – 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  <a:cs typeface="Calibri" panose="020F0502020204030204" pitchFamily="34" charset="0"/>
              </a:rPr>
              <a:t>Stayed at 2</a:t>
            </a:r>
            <a:r>
              <a:rPr lang="en-US" sz="1000" i="1" baseline="30000" dirty="0">
                <a:solidFill>
                  <a:schemeClr val="tx1">
                    <a:lumMod val="85000"/>
                    <a:lumOff val="15000"/>
                  </a:schemeClr>
                </a:solidFill>
                <a:cs typeface="Calibri" panose="020F0502020204030204" pitchFamily="34" charset="0"/>
              </a:rPr>
              <a:t>nd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  <a:cs typeface="Calibri" panose="020F0502020204030204" pitchFamily="34" charset="0"/>
              </a:rPr>
              <a:t> from March 2024 to March 2025</a:t>
            </a:r>
            <a:endParaRPr lang="en-PH" sz="1000" i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0129" y="3694012"/>
            <a:ext cx="445425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*Total Assets – ↑ from March 2024 to March 2025 (3</a:t>
            </a:r>
            <a:r>
              <a:rPr lang="en-US" sz="1000" i="1" baseline="30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rd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to 2</a:t>
            </a:r>
            <a:r>
              <a:rPr lang="en-US" sz="1000" i="1" baseline="30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nd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  <a:endParaRPr lang="en-PH" sz="1000" i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05388" y="2695575"/>
            <a:ext cx="2214562" cy="233363"/>
          </a:xfrm>
          <a:prstGeom prst="rect">
            <a:avLst/>
          </a:prstGeom>
          <a:noFill/>
          <a:ln w="952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3" name="Title 1"/>
          <p:cNvSpPr txBox="1">
            <a:spLocks/>
          </p:cNvSpPr>
          <p:nvPr/>
        </p:nvSpPr>
        <p:spPr>
          <a:xfrm>
            <a:off x="-6110" y="0"/>
            <a:ext cx="7136780" cy="12203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100" b="1" dirty="0">
                <a:latin typeface="+mn-lt"/>
              </a:rPr>
              <a:t>INDUSTRY RANKING</a:t>
            </a:r>
            <a:br>
              <a:rPr lang="en-US" sz="3100" b="1" dirty="0">
                <a:latin typeface="+mn-lt"/>
              </a:rPr>
            </a:br>
            <a:r>
              <a:rPr lang="en-US" sz="2000" dirty="0">
                <a:latin typeface="+mn-lt"/>
              </a:rPr>
              <a:t>Thrift Bank Group, March </a:t>
            </a:r>
            <a:r>
              <a:rPr lang="en-US" sz="2000" dirty="0" smtClean="0">
                <a:latin typeface="+mn-lt"/>
              </a:rPr>
              <a:t>2024 </a:t>
            </a:r>
            <a:r>
              <a:rPr lang="en-US" sz="2000" dirty="0">
                <a:latin typeface="+mn-lt"/>
              </a:rPr>
              <a:t>vs March </a:t>
            </a:r>
            <a:r>
              <a:rPr lang="en-US" sz="2000" dirty="0" smtClean="0">
                <a:latin typeface="+mn-lt"/>
              </a:rPr>
              <a:t>2025</a:t>
            </a:r>
            <a:endParaRPr lang="en-US" sz="2400" dirty="0">
              <a:latin typeface="+mn-lt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5005388" y="4685116"/>
            <a:ext cx="2214562" cy="233363"/>
          </a:xfrm>
          <a:prstGeom prst="rect">
            <a:avLst/>
          </a:prstGeom>
          <a:noFill/>
          <a:ln w="952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0" name="Rectangle 39"/>
          <p:cNvSpPr/>
          <p:nvPr/>
        </p:nvSpPr>
        <p:spPr>
          <a:xfrm>
            <a:off x="248613" y="4703847"/>
            <a:ext cx="2214562" cy="233363"/>
          </a:xfrm>
          <a:prstGeom prst="rect">
            <a:avLst/>
          </a:prstGeom>
          <a:noFill/>
          <a:ln w="952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1" name="Rectangle 40"/>
          <p:cNvSpPr/>
          <p:nvPr/>
        </p:nvSpPr>
        <p:spPr>
          <a:xfrm>
            <a:off x="248613" y="1996363"/>
            <a:ext cx="2214562" cy="233363"/>
          </a:xfrm>
          <a:prstGeom prst="rect">
            <a:avLst/>
          </a:prstGeom>
          <a:noFill/>
          <a:ln w="952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27718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Chart 27">
            <a:extLst>
              <a:ext uri="{FF2B5EF4-FFF2-40B4-BE49-F238E27FC236}">
                <a16:creationId xmlns:a16="http://schemas.microsoft.com/office/drawing/2014/main" id="{19ED4B82-F47E-4233-9DFD-55420B482C6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04482433"/>
              </p:ext>
            </p:extLst>
          </p:nvPr>
        </p:nvGraphicFramePr>
        <p:xfrm>
          <a:off x="4794923" y="4181770"/>
          <a:ext cx="4209379" cy="21585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7" name="Chart 26">
            <a:extLst>
              <a:ext uri="{FF2B5EF4-FFF2-40B4-BE49-F238E27FC236}">
                <a16:creationId xmlns:a16="http://schemas.microsoft.com/office/drawing/2014/main" id="{BB45C48E-BFC3-47BB-923E-830CB2ABB74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72714773"/>
              </p:ext>
            </p:extLst>
          </p:nvPr>
        </p:nvGraphicFramePr>
        <p:xfrm>
          <a:off x="4794923" y="1518529"/>
          <a:ext cx="4209379" cy="22246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2" name="Chart 21">
            <a:extLst>
              <a:ext uri="{FF2B5EF4-FFF2-40B4-BE49-F238E27FC236}">
                <a16:creationId xmlns:a16="http://schemas.microsoft.com/office/drawing/2014/main" id="{1EE2B882-0BCA-4B06-A7A8-043DC4430B9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36182607"/>
              </p:ext>
            </p:extLst>
          </p:nvPr>
        </p:nvGraphicFramePr>
        <p:xfrm>
          <a:off x="45037" y="4181770"/>
          <a:ext cx="4282768" cy="21585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DF1E4A87-DF6F-49DB-8014-3E4DDF4B18A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91537152"/>
              </p:ext>
            </p:extLst>
          </p:nvPr>
        </p:nvGraphicFramePr>
        <p:xfrm>
          <a:off x="45036" y="1518529"/>
          <a:ext cx="4282768" cy="22237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40647" y="3812438"/>
            <a:ext cx="3459444" cy="473809"/>
          </a:xfrm>
        </p:spPr>
        <p:txBody>
          <a:bodyPr>
            <a:normAutofit/>
          </a:bodyPr>
          <a:lstStyle/>
          <a:p>
            <a:pPr lvl="0"/>
            <a:r>
              <a:rPr lang="en-US" sz="1600" b="1" dirty="0"/>
              <a:t>Total Loans and Receivables</a:t>
            </a:r>
            <a:endParaRPr lang="en-US" sz="1800" dirty="0"/>
          </a:p>
        </p:txBody>
      </p:sp>
      <p:sp>
        <p:nvSpPr>
          <p:cNvPr id="14" name="Title 1"/>
          <p:cNvSpPr txBox="1">
            <a:spLocks/>
          </p:cNvSpPr>
          <p:nvPr/>
        </p:nvSpPr>
        <p:spPr>
          <a:xfrm>
            <a:off x="0" y="1173012"/>
            <a:ext cx="3820090" cy="4810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 dirty="0"/>
              <a:t>Total Assets</a:t>
            </a:r>
            <a:endParaRPr lang="en-US" sz="1600" dirty="0"/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156118" y="89212"/>
            <a:ext cx="713678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100" b="1" dirty="0">
                <a:latin typeface="+mn-lt"/>
              </a:rPr>
              <a:t>INDUSTRY RANKING</a:t>
            </a:r>
            <a:br>
              <a:rPr lang="en-US" sz="3100" b="1" dirty="0">
                <a:latin typeface="+mn-lt"/>
              </a:rPr>
            </a:br>
            <a:r>
              <a:rPr lang="en-US" sz="2000" dirty="0">
                <a:latin typeface="+mn-lt"/>
              </a:rPr>
              <a:t>Thrift Bank Group, as of 31 March 2024</a:t>
            </a:r>
            <a:endParaRPr lang="en-US" sz="2400" dirty="0">
              <a:latin typeface="+mn-lt"/>
            </a:endParaRPr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4757253" y="3812436"/>
            <a:ext cx="3479180" cy="473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 dirty="0"/>
              <a:t>Total Deposit Liabilities</a:t>
            </a:r>
            <a:endParaRPr lang="en-US" sz="1800" dirty="0"/>
          </a:p>
        </p:txBody>
      </p:sp>
      <p:sp>
        <p:nvSpPr>
          <p:cNvPr id="3" name="Rectangle 2"/>
          <p:cNvSpPr/>
          <p:nvPr/>
        </p:nvSpPr>
        <p:spPr>
          <a:xfrm>
            <a:off x="45036" y="6553248"/>
            <a:ext cx="4572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42 Thrift Banks | </a:t>
            </a:r>
            <a:r>
              <a:rPr lang="en-PH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Amounts in Million Pesos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4794921" y="1174553"/>
            <a:ext cx="3479180" cy="4817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 dirty="0"/>
              <a:t>Total Capital</a:t>
            </a:r>
            <a:endParaRPr lang="en-US" sz="1800" dirty="0"/>
          </a:p>
        </p:txBody>
      </p:sp>
      <p:sp>
        <p:nvSpPr>
          <p:cNvPr id="21" name="Rectangle 20"/>
          <p:cNvSpPr/>
          <p:nvPr/>
        </p:nvSpPr>
        <p:spPr>
          <a:xfrm>
            <a:off x="3465362" y="5859498"/>
            <a:ext cx="15938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2">
                    <a:lumMod val="50000"/>
                  </a:schemeClr>
                </a:solidFill>
              </a:rPr>
              <a:t>Total: 5</a:t>
            </a:r>
            <a:r>
              <a:rPr lang="en-US" sz="900" baseline="30000" dirty="0">
                <a:solidFill>
                  <a:schemeClr val="bg2">
                    <a:lumMod val="50000"/>
                  </a:schemeClr>
                </a:solidFill>
              </a:rPr>
              <a:t>th*</a:t>
            </a:r>
            <a:r>
              <a:rPr lang="en-US" sz="900" dirty="0">
                <a:solidFill>
                  <a:schemeClr val="bg2">
                    <a:lumMod val="50000"/>
                  </a:schemeClr>
                </a:solidFill>
              </a:rPr>
              <a:t> </a:t>
            </a:r>
          </a:p>
          <a:p>
            <a:r>
              <a:rPr lang="en-US" sz="900" dirty="0">
                <a:solidFill>
                  <a:schemeClr val="bg2">
                    <a:lumMod val="50000"/>
                  </a:schemeClr>
                </a:solidFill>
              </a:rPr>
              <a:t>Stand alone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: 2</a:t>
            </a:r>
            <a:r>
              <a:rPr lang="en-US" sz="900" baseline="30000" dirty="0">
                <a:solidFill>
                  <a:schemeClr val="bg1">
                    <a:lumMod val="50000"/>
                  </a:schemeClr>
                </a:solidFill>
              </a:rPr>
              <a:t>rd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en-PH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8F2857-9E2B-B404-A6DD-E3F3A2E5CB3A}"/>
              </a:ext>
            </a:extLst>
          </p:cNvPr>
          <p:cNvSpPr txBox="1"/>
          <p:nvPr/>
        </p:nvSpPr>
        <p:spPr>
          <a:xfrm>
            <a:off x="4689742" y="6595045"/>
            <a:ext cx="18820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1000" dirty="0">
                <a:solidFill>
                  <a:schemeClr val="bg1">
                    <a:lumMod val="50000"/>
                  </a:schemeClr>
                </a:solidFill>
              </a:rPr>
              <a:t>Source: BSP website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65364" y="3373829"/>
            <a:ext cx="1329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Total: 7</a:t>
            </a:r>
            <a:r>
              <a:rPr lang="en-GB" sz="900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</a:t>
            </a:r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  <a:p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Stand Alone: 3</a:t>
            </a:r>
            <a:r>
              <a:rPr lang="en-GB" sz="900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rd</a:t>
            </a:r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endParaRPr lang="en-PH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015107" y="3344848"/>
            <a:ext cx="1026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Total: 9</a:t>
            </a:r>
            <a:r>
              <a:rPr lang="en-GB" sz="900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</a:t>
            </a:r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  <a:p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Stand Alone : 5</a:t>
            </a:r>
            <a:r>
              <a:rPr lang="en-GB" sz="900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</a:t>
            </a:r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</a:t>
            </a:r>
            <a:endParaRPr lang="en-PH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926234" y="5939541"/>
            <a:ext cx="276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Total</a:t>
            </a:r>
            <a:r>
              <a:rPr lang="en-PH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6</a:t>
            </a:r>
            <a:r>
              <a:rPr lang="en-PH" sz="900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</a:t>
            </a:r>
            <a:r>
              <a:rPr lang="en-PH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  <a:p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Stand Alone: 2</a:t>
            </a:r>
            <a:r>
              <a:rPr lang="en-GB" sz="900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nd</a:t>
            </a:r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036" y="6340277"/>
            <a:ext cx="4368454" cy="2547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*Total Loans and Receivables - 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  <a:cs typeface="Calibri" panose="020F0502020204030204" pitchFamily="34" charset="0"/>
              </a:rPr>
              <a:t>↑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from March 2023 to March 2024(6</a:t>
            </a:r>
            <a:r>
              <a:rPr lang="en-US" sz="1000" i="1" baseline="30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to 5</a:t>
            </a:r>
            <a:r>
              <a:rPr lang="en-US" sz="1000" i="1" baseline="30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  <a:endParaRPr lang="en-PH" sz="1000" i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45034" y="3707699"/>
            <a:ext cx="436845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*Total Assets - 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↓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from March 2023 to March 2024(6</a:t>
            </a:r>
            <a:r>
              <a:rPr lang="en-US" sz="1000" i="1" baseline="30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to 7</a:t>
            </a:r>
            <a:r>
              <a:rPr lang="en-US" sz="1000" i="1" baseline="30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  <a:endParaRPr lang="en-PH" sz="1000" i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4689742" y="3719961"/>
            <a:ext cx="445425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*Total Capital – 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  <a:cs typeface="Calibri" panose="020F0502020204030204" pitchFamily="34" charset="0"/>
              </a:rPr>
              <a:t>Stayed at 9</a:t>
            </a:r>
            <a:r>
              <a:rPr lang="en-US" sz="1000" i="1" baseline="30000" dirty="0">
                <a:solidFill>
                  <a:schemeClr val="tx1">
                    <a:lumMod val="85000"/>
                    <a:lumOff val="15000"/>
                  </a:schemeClr>
                </a:solidFill>
                <a:cs typeface="Calibri" panose="020F0502020204030204" pitchFamily="34" charset="0"/>
              </a:rPr>
              <a:t>th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  <a:cs typeface="Calibri" panose="020F0502020204030204" pitchFamily="34" charset="0"/>
              </a:rPr>
              <a:t> from March 2023 to March 2024</a:t>
            </a:r>
            <a:endParaRPr lang="en-PH" sz="1000" i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4689742" y="6308875"/>
            <a:ext cx="436845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*Total Deposit Liabilities- 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  <a:cs typeface="Calibri" panose="020F0502020204030204" pitchFamily="34" charset="0"/>
              </a:rPr>
              <a:t>↓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from March 2023 to March 2024(5</a:t>
            </a:r>
            <a:r>
              <a:rPr lang="en-US" sz="1000" i="1" baseline="30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to 6</a:t>
            </a:r>
            <a:r>
              <a:rPr lang="en-US" sz="1000" i="1" baseline="30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  <a:endParaRPr lang="en-PH" sz="1000" i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170619" y="3335382"/>
            <a:ext cx="4572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Total Asset – 18% 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↑ vs March 2023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Total Loans &amp; Receivables – 16%</a:t>
            </a:r>
            <a:r>
              <a:rPr lang="en-US" sz="1400" dirty="0"/>
              <a:t> 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↑ vs March 2023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Total Capital – 14%</a:t>
            </a:r>
            <a:r>
              <a:rPr lang="en-US" sz="1400" dirty="0"/>
              <a:t> 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↑ vs March 2023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Total Deposit Liabilities – 20%</a:t>
            </a:r>
            <a:r>
              <a:rPr lang="en-US" sz="1400" dirty="0"/>
              <a:t> 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↑ vs March 2023</a:t>
            </a:r>
            <a:endParaRPr lang="en-PH" sz="1400" dirty="0"/>
          </a:p>
        </p:txBody>
      </p:sp>
    </p:spTree>
    <p:extLst>
      <p:ext uri="{BB962C8B-B14F-4D97-AF65-F5344CB8AC3E}">
        <p14:creationId xmlns:p14="http://schemas.microsoft.com/office/powerpoint/2010/main" val="3391004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90729783"/>
              </p:ext>
            </p:extLst>
          </p:nvPr>
        </p:nvGraphicFramePr>
        <p:xfrm>
          <a:off x="4794922" y="4194314"/>
          <a:ext cx="4278769" cy="21585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itle 1"/>
          <p:cNvSpPr txBox="1">
            <a:spLocks/>
          </p:cNvSpPr>
          <p:nvPr/>
        </p:nvSpPr>
        <p:spPr>
          <a:xfrm>
            <a:off x="0" y="1173012"/>
            <a:ext cx="3820090" cy="4810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 dirty="0"/>
              <a:t>Total Assets</a:t>
            </a:r>
            <a:endParaRPr lang="en-US" sz="1600" dirty="0"/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4794921" y="1174553"/>
            <a:ext cx="3479180" cy="4817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 dirty="0"/>
              <a:t>Total Capital</a:t>
            </a:r>
            <a:endParaRPr lang="en-US" sz="1800" dirty="0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-40647" y="3837838"/>
            <a:ext cx="3459444" cy="473809"/>
          </a:xfrm>
        </p:spPr>
        <p:txBody>
          <a:bodyPr>
            <a:normAutofit/>
          </a:bodyPr>
          <a:lstStyle/>
          <a:p>
            <a:pPr lvl="0"/>
            <a:r>
              <a:rPr lang="en-US" sz="1600" b="1" dirty="0"/>
              <a:t>Total Loans and Receivables</a:t>
            </a:r>
            <a:endParaRPr lang="en-US" sz="1800" dirty="0"/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4757253" y="3812436"/>
            <a:ext cx="3479180" cy="473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 dirty="0"/>
              <a:t>Total Deposit Liabilities</a:t>
            </a:r>
            <a:endParaRPr lang="en-US" sz="1800" dirty="0"/>
          </a:p>
        </p:txBody>
      </p:sp>
      <p:graphicFrame>
        <p:nvGraphicFramePr>
          <p:cNvPr id="14" name="Chart 1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38447867"/>
              </p:ext>
            </p:extLst>
          </p:nvPr>
        </p:nvGraphicFramePr>
        <p:xfrm>
          <a:off x="28738" y="1539758"/>
          <a:ext cx="4278769" cy="21583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5" name="Chart 1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62634860"/>
              </p:ext>
            </p:extLst>
          </p:nvPr>
        </p:nvGraphicFramePr>
        <p:xfrm>
          <a:off x="28738" y="4194314"/>
          <a:ext cx="4278769" cy="21585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6" name="Chart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764327"/>
              </p:ext>
            </p:extLst>
          </p:nvPr>
        </p:nvGraphicFramePr>
        <p:xfrm>
          <a:off x="4794922" y="1539759"/>
          <a:ext cx="4278769" cy="21583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7" name="Rectangle 16"/>
          <p:cNvSpPr/>
          <p:nvPr/>
        </p:nvSpPr>
        <p:spPr>
          <a:xfrm>
            <a:off x="241301" y="2771775"/>
            <a:ext cx="1997075" cy="166688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8" name="TextBox 17"/>
          <p:cNvSpPr txBox="1"/>
          <p:nvPr/>
        </p:nvSpPr>
        <p:spPr>
          <a:xfrm>
            <a:off x="3465364" y="3373829"/>
            <a:ext cx="1329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Total: 7</a:t>
            </a:r>
            <a:r>
              <a:rPr lang="en-GB" sz="900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</a:t>
            </a:r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  <a:p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Stand Alone: 3</a:t>
            </a:r>
            <a:r>
              <a:rPr lang="en-GB" sz="900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rd</a:t>
            </a:r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endParaRPr lang="en-PH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5034" y="3707699"/>
            <a:ext cx="436845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*Total Assets - 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↓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from March 2023 to March 2024(6</a:t>
            </a:r>
            <a:r>
              <a:rPr lang="en-US" sz="1000" i="1" baseline="30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to 7</a:t>
            </a:r>
            <a:r>
              <a:rPr lang="en-US" sz="1000" i="1" baseline="30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  <a:endParaRPr lang="en-PH" sz="1000" i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015107" y="3344848"/>
            <a:ext cx="1026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Total: 9</a:t>
            </a:r>
            <a:r>
              <a:rPr lang="en-GB" sz="900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</a:t>
            </a:r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  <a:p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Stand Alone : 5</a:t>
            </a:r>
            <a:r>
              <a:rPr lang="en-GB" sz="900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</a:t>
            </a:r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</a:t>
            </a:r>
            <a:endParaRPr lang="en-PH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689742" y="3719961"/>
            <a:ext cx="445425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*Total Capital – 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  <a:cs typeface="Calibri" panose="020F0502020204030204" pitchFamily="34" charset="0"/>
              </a:rPr>
              <a:t>Stayed at 9</a:t>
            </a:r>
            <a:r>
              <a:rPr lang="en-US" sz="1000" i="1" baseline="30000" dirty="0">
                <a:solidFill>
                  <a:schemeClr val="tx1">
                    <a:lumMod val="85000"/>
                    <a:lumOff val="15000"/>
                  </a:schemeClr>
                </a:solidFill>
                <a:cs typeface="Calibri" panose="020F0502020204030204" pitchFamily="34" charset="0"/>
              </a:rPr>
              <a:t>th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  <a:cs typeface="Calibri" panose="020F0502020204030204" pitchFamily="34" charset="0"/>
              </a:rPr>
              <a:t> from March 2023 to March 2024</a:t>
            </a:r>
            <a:endParaRPr lang="en-PH" sz="1000" i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465362" y="5937666"/>
            <a:ext cx="15938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2">
                    <a:lumMod val="50000"/>
                  </a:schemeClr>
                </a:solidFill>
              </a:rPr>
              <a:t>Total: 5</a:t>
            </a:r>
            <a:r>
              <a:rPr lang="en-US" sz="900" baseline="30000" dirty="0">
                <a:solidFill>
                  <a:schemeClr val="bg2">
                    <a:lumMod val="50000"/>
                  </a:schemeClr>
                </a:solidFill>
              </a:rPr>
              <a:t>th*</a:t>
            </a:r>
            <a:r>
              <a:rPr lang="en-US" sz="900" dirty="0">
                <a:solidFill>
                  <a:schemeClr val="bg2">
                    <a:lumMod val="50000"/>
                  </a:schemeClr>
                </a:solidFill>
              </a:rPr>
              <a:t> </a:t>
            </a:r>
          </a:p>
          <a:p>
            <a:r>
              <a:rPr lang="en-US" sz="900" dirty="0">
                <a:solidFill>
                  <a:schemeClr val="bg2">
                    <a:lumMod val="50000"/>
                  </a:schemeClr>
                </a:solidFill>
              </a:rPr>
              <a:t>Stand alone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: 2</a:t>
            </a:r>
            <a:r>
              <a:rPr lang="en-US" sz="900" baseline="30000" dirty="0">
                <a:solidFill>
                  <a:schemeClr val="bg1">
                    <a:lumMod val="50000"/>
                  </a:schemeClr>
                </a:solidFill>
              </a:rPr>
              <a:t>rd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en-PH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8736" y="6314925"/>
            <a:ext cx="4368454" cy="2547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*Total Loans and Receivables - 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  <a:cs typeface="Calibri" panose="020F0502020204030204" pitchFamily="34" charset="0"/>
              </a:rPr>
              <a:t>↑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from March 2023 to March 2024(6</a:t>
            </a:r>
            <a:r>
              <a:rPr lang="en-US" sz="1000" i="1" baseline="30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to 5</a:t>
            </a:r>
            <a:r>
              <a:rPr lang="en-US" sz="1000" i="1" baseline="30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  <a:endParaRPr lang="en-PH" sz="1000" i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015107" y="5945593"/>
            <a:ext cx="276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Total</a:t>
            </a:r>
            <a:r>
              <a:rPr lang="en-PH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6</a:t>
            </a:r>
            <a:r>
              <a:rPr lang="en-PH" sz="900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</a:t>
            </a:r>
            <a:r>
              <a:rPr lang="en-PH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  <a:p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Stand Alone: 2</a:t>
            </a:r>
            <a:r>
              <a:rPr lang="en-GB" sz="900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nd</a:t>
            </a:r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00670" y="6320941"/>
            <a:ext cx="436845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*Total Deposit Liabilities- 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  <a:cs typeface="Calibri" panose="020F0502020204030204" pitchFamily="34" charset="0"/>
              </a:rPr>
              <a:t>↓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from March 2023 to March 2024(5</a:t>
            </a:r>
            <a:r>
              <a:rPr lang="en-US" sz="1000" i="1" baseline="30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to 6</a:t>
            </a:r>
            <a:r>
              <a:rPr lang="en-US" sz="1000" i="1" baseline="30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  <a:endParaRPr lang="en-PH" sz="1000" i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5036" y="6553248"/>
            <a:ext cx="4572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42 Thrift Banks | </a:t>
            </a:r>
            <a:r>
              <a:rPr lang="en-PH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Amounts in Million Pesos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28F2857-9E2B-B404-A6DD-E3F3A2E5CB3A}"/>
              </a:ext>
            </a:extLst>
          </p:cNvPr>
          <p:cNvSpPr txBox="1"/>
          <p:nvPr/>
        </p:nvSpPr>
        <p:spPr>
          <a:xfrm>
            <a:off x="4689742" y="6595045"/>
            <a:ext cx="18820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1000" dirty="0">
                <a:solidFill>
                  <a:schemeClr val="bg1">
                    <a:lumMod val="50000"/>
                  </a:schemeClr>
                </a:solidFill>
              </a:rPr>
              <a:t>Source: BSP website</a:t>
            </a:r>
          </a:p>
        </p:txBody>
      </p:sp>
      <p:sp>
        <p:nvSpPr>
          <p:cNvPr id="28" name="Title 1"/>
          <p:cNvSpPr txBox="1">
            <a:spLocks/>
          </p:cNvSpPr>
          <p:nvPr/>
        </p:nvSpPr>
        <p:spPr>
          <a:xfrm>
            <a:off x="-6110" y="0"/>
            <a:ext cx="7136780" cy="12203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100" b="1" dirty="0">
                <a:latin typeface="+mn-lt"/>
              </a:rPr>
              <a:t>INDUSTRY RANKING</a:t>
            </a:r>
            <a:br>
              <a:rPr lang="en-US" sz="3100" b="1" dirty="0">
                <a:latin typeface="+mn-lt"/>
              </a:rPr>
            </a:br>
            <a:r>
              <a:rPr lang="en-US" sz="2000" dirty="0">
                <a:latin typeface="+mn-lt"/>
              </a:rPr>
              <a:t>Thrift Bank Group, March 2023 vs March 2024</a:t>
            </a:r>
            <a:endParaRPr lang="en-US" sz="2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36999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Chart 24">
            <a:extLst>
              <a:ext uri="{FF2B5EF4-FFF2-40B4-BE49-F238E27FC236}">
                <a16:creationId xmlns:a16="http://schemas.microsoft.com/office/drawing/2014/main" id="{B2DCDBD3-5942-4818-91C4-BC181F66B1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30685238"/>
              </p:ext>
            </p:extLst>
          </p:nvPr>
        </p:nvGraphicFramePr>
        <p:xfrm>
          <a:off x="43761" y="4169777"/>
          <a:ext cx="4303622" cy="21355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4" name="Chart 23">
            <a:extLst>
              <a:ext uri="{FF2B5EF4-FFF2-40B4-BE49-F238E27FC236}">
                <a16:creationId xmlns:a16="http://schemas.microsoft.com/office/drawing/2014/main" id="{03CBC2B6-A71C-46B1-8ECE-BBA8AD17AD0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68708503"/>
              </p:ext>
            </p:extLst>
          </p:nvPr>
        </p:nvGraphicFramePr>
        <p:xfrm>
          <a:off x="4689568" y="4208550"/>
          <a:ext cx="4327432" cy="2131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3" name="Chart 22">
            <a:extLst>
              <a:ext uri="{FF2B5EF4-FFF2-40B4-BE49-F238E27FC236}">
                <a16:creationId xmlns:a16="http://schemas.microsoft.com/office/drawing/2014/main" id="{B3064AEA-7A42-4F89-BF35-7BDA3FBB934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6627040"/>
              </p:ext>
            </p:extLst>
          </p:nvPr>
        </p:nvGraphicFramePr>
        <p:xfrm>
          <a:off x="4689568" y="1504141"/>
          <a:ext cx="4327432" cy="22572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1" name="Chart 20">
            <a:extLst>
              <a:ext uri="{FF2B5EF4-FFF2-40B4-BE49-F238E27FC236}">
                <a16:creationId xmlns:a16="http://schemas.microsoft.com/office/drawing/2014/main" id="{51F086AC-2D88-4D85-8210-26166A48A36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29638440"/>
              </p:ext>
            </p:extLst>
          </p:nvPr>
        </p:nvGraphicFramePr>
        <p:xfrm>
          <a:off x="45036" y="1505380"/>
          <a:ext cx="4303622" cy="22083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924621"/>
            <a:ext cx="3479180" cy="236124"/>
          </a:xfrm>
        </p:spPr>
        <p:txBody>
          <a:bodyPr>
            <a:noAutofit/>
          </a:bodyPr>
          <a:lstStyle/>
          <a:p>
            <a:pPr lvl="0"/>
            <a:r>
              <a:rPr lang="en-US" sz="1600" b="1" dirty="0"/>
              <a:t>Total Loans and Receivables</a:t>
            </a:r>
            <a:endParaRPr lang="en-US" sz="1800" dirty="0"/>
          </a:p>
        </p:txBody>
      </p:sp>
      <p:sp>
        <p:nvSpPr>
          <p:cNvPr id="14" name="Title 1"/>
          <p:cNvSpPr txBox="1">
            <a:spLocks/>
          </p:cNvSpPr>
          <p:nvPr/>
        </p:nvSpPr>
        <p:spPr>
          <a:xfrm>
            <a:off x="0" y="1151157"/>
            <a:ext cx="3820090" cy="481046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 dirty="0"/>
              <a:t>Total Assets</a:t>
            </a:r>
            <a:endParaRPr lang="en-US" sz="1600" dirty="0"/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4689568" y="3926210"/>
            <a:ext cx="3479180" cy="3026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 dirty="0"/>
              <a:t>Total Deposit Liabilities</a:t>
            </a:r>
            <a:endParaRPr lang="en-US" sz="1800" dirty="0"/>
          </a:p>
        </p:txBody>
      </p:sp>
      <p:sp>
        <p:nvSpPr>
          <p:cNvPr id="3" name="Rectangle 2"/>
          <p:cNvSpPr/>
          <p:nvPr/>
        </p:nvSpPr>
        <p:spPr>
          <a:xfrm>
            <a:off x="45036" y="6553248"/>
            <a:ext cx="4572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42 Thrift Banks | </a:t>
            </a:r>
            <a:r>
              <a:rPr lang="en-PH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Amounts in Million Pesos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4689568" y="1147385"/>
            <a:ext cx="3479180" cy="483749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 dirty="0"/>
              <a:t>Total Capital</a:t>
            </a:r>
            <a:endParaRPr lang="en-US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2B6C5F-819A-6424-BE85-FF1D53B48F15}"/>
              </a:ext>
            </a:extLst>
          </p:cNvPr>
          <p:cNvSpPr txBox="1"/>
          <p:nvPr/>
        </p:nvSpPr>
        <p:spPr>
          <a:xfrm>
            <a:off x="5903858" y="6556636"/>
            <a:ext cx="18820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1050" dirty="0">
                <a:solidFill>
                  <a:schemeClr val="bg1">
                    <a:lumMod val="50000"/>
                  </a:schemeClr>
                </a:solidFill>
              </a:rPr>
              <a:t>Source: BSP website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77970" y="3298011"/>
            <a:ext cx="2702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Stand Alone: 3</a:t>
            </a:r>
            <a:r>
              <a:rPr lang="en-GB" sz="900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rd</a:t>
            </a:r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  <a:p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Total : 7</a:t>
            </a:r>
            <a:r>
              <a:rPr lang="en-GB" sz="900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</a:t>
            </a:r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endParaRPr lang="en-PH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881878" y="3298011"/>
            <a:ext cx="3152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Stand Alone: 5</a:t>
            </a:r>
            <a:r>
              <a:rPr lang="en-GB" sz="900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</a:t>
            </a:r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  <a:p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Total: 9</a:t>
            </a:r>
            <a:r>
              <a:rPr lang="en-GB" sz="900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</a:t>
            </a:r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endParaRPr lang="en-PH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377970" y="5953239"/>
            <a:ext cx="1808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Stand Alone: 2</a:t>
            </a:r>
            <a:r>
              <a:rPr lang="en-GB" sz="900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nd</a:t>
            </a:r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  <a:p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Total: 5</a:t>
            </a:r>
            <a:r>
              <a:rPr lang="en-GB" sz="900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</a:t>
            </a:r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endParaRPr lang="en-PH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881878" y="5953239"/>
            <a:ext cx="2729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Stand Alone: 2</a:t>
            </a:r>
            <a:r>
              <a:rPr lang="en-GB" sz="900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nd</a:t>
            </a:r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</a:t>
            </a:r>
          </a:p>
          <a:p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Total:  6</a:t>
            </a:r>
            <a:r>
              <a:rPr lang="en-GB" sz="900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</a:t>
            </a:r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endParaRPr lang="en-PH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5037" y="6299722"/>
            <a:ext cx="4912911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*Total Loans and Receivables - ↑ from March 2023 to March 2024 (3</a:t>
            </a:r>
            <a:r>
              <a:rPr lang="en-US" sz="1000" i="1" baseline="30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rd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to 2</a:t>
            </a:r>
            <a:r>
              <a:rPr lang="en-US" sz="1000" i="1" baseline="30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nd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  <a:endParaRPr lang="en-PH" sz="1000" i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8" name="Title 1"/>
          <p:cNvSpPr txBox="1">
            <a:spLocks/>
          </p:cNvSpPr>
          <p:nvPr/>
        </p:nvSpPr>
        <p:spPr>
          <a:xfrm>
            <a:off x="156118" y="89212"/>
            <a:ext cx="713678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100" b="1" dirty="0">
                <a:latin typeface="+mn-lt"/>
              </a:rPr>
              <a:t>INDUSTRY RANKING</a:t>
            </a:r>
            <a:br>
              <a:rPr lang="en-US" sz="3100" b="1" dirty="0">
                <a:latin typeface="+mn-lt"/>
              </a:rPr>
            </a:br>
            <a:r>
              <a:rPr lang="en-US" sz="2000" dirty="0">
                <a:latin typeface="+mn-lt"/>
              </a:rPr>
              <a:t>Thrift Bank Group, as of 31 March 2024</a:t>
            </a:r>
            <a:endParaRPr lang="en-US" sz="2400" dirty="0">
              <a:latin typeface="+mn-lt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606904" y="3702897"/>
            <a:ext cx="445425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*Total Capital – 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  <a:cs typeface="Calibri" panose="020F0502020204030204" pitchFamily="34" charset="0"/>
              </a:rPr>
              <a:t>Stayed at 9</a:t>
            </a:r>
            <a:r>
              <a:rPr lang="en-US" sz="1000" i="1" baseline="30000" dirty="0">
                <a:solidFill>
                  <a:schemeClr val="tx1">
                    <a:lumMod val="85000"/>
                    <a:lumOff val="15000"/>
                  </a:schemeClr>
                </a:solidFill>
                <a:cs typeface="Calibri" panose="020F0502020204030204" pitchFamily="34" charset="0"/>
              </a:rPr>
              <a:t>th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  <a:cs typeface="Calibri" panose="020F0502020204030204" pitchFamily="34" charset="0"/>
              </a:rPr>
              <a:t> from March 2023 to March 2024</a:t>
            </a:r>
            <a:endParaRPr lang="en-PH" sz="1000" i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626155" y="6310695"/>
            <a:ext cx="445425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*Total Deposit Liabilities – 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  <a:cs typeface="Calibri" panose="020F0502020204030204" pitchFamily="34" charset="0"/>
              </a:rPr>
              <a:t>Stayed at 2</a:t>
            </a:r>
            <a:r>
              <a:rPr lang="en-US" sz="1000" i="1" baseline="30000" dirty="0">
                <a:solidFill>
                  <a:schemeClr val="tx1">
                    <a:lumMod val="85000"/>
                    <a:lumOff val="15000"/>
                  </a:schemeClr>
                </a:solidFill>
                <a:cs typeface="Calibri" panose="020F0502020204030204" pitchFamily="34" charset="0"/>
              </a:rPr>
              <a:t>nd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  <a:cs typeface="Calibri" panose="020F0502020204030204" pitchFamily="34" charset="0"/>
              </a:rPr>
              <a:t> from March 2023 to March 2024</a:t>
            </a:r>
            <a:endParaRPr lang="en-PH" sz="1000" i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0129" y="3694012"/>
            <a:ext cx="445425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*Total Deposit Liabilities – 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  <a:cs typeface="Calibri" panose="020F0502020204030204" pitchFamily="34" charset="0"/>
              </a:rPr>
              <a:t>Stayed at 3</a:t>
            </a:r>
            <a:r>
              <a:rPr lang="en-US" sz="1000" i="1" baseline="30000" dirty="0">
                <a:solidFill>
                  <a:schemeClr val="tx1">
                    <a:lumMod val="85000"/>
                    <a:lumOff val="15000"/>
                  </a:schemeClr>
                </a:solidFill>
                <a:cs typeface="Calibri" panose="020F0502020204030204" pitchFamily="34" charset="0"/>
              </a:rPr>
              <a:t>rd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  <a:cs typeface="Calibri" panose="020F0502020204030204" pitchFamily="34" charset="0"/>
              </a:rPr>
              <a:t> from March 2023 to March 2024</a:t>
            </a:r>
            <a:endParaRPr lang="en-PH" sz="1000" i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177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" name="Chart 3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74672337"/>
              </p:ext>
            </p:extLst>
          </p:nvPr>
        </p:nvGraphicFramePr>
        <p:xfrm>
          <a:off x="4794921" y="4235930"/>
          <a:ext cx="4266243" cy="20605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4" name="Chart 3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01786688"/>
              </p:ext>
            </p:extLst>
          </p:nvPr>
        </p:nvGraphicFramePr>
        <p:xfrm>
          <a:off x="4794921" y="1505517"/>
          <a:ext cx="4266242" cy="21863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3" name="Chart 3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63675434"/>
              </p:ext>
            </p:extLst>
          </p:nvPr>
        </p:nvGraphicFramePr>
        <p:xfrm>
          <a:off x="45035" y="4239045"/>
          <a:ext cx="4273028" cy="20574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30" name="Chart 2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41032254"/>
              </p:ext>
            </p:extLst>
          </p:nvPr>
        </p:nvGraphicFramePr>
        <p:xfrm>
          <a:off x="54158" y="1505517"/>
          <a:ext cx="4273027" cy="21578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924621"/>
            <a:ext cx="3479180" cy="236124"/>
          </a:xfrm>
        </p:spPr>
        <p:txBody>
          <a:bodyPr>
            <a:noAutofit/>
          </a:bodyPr>
          <a:lstStyle/>
          <a:p>
            <a:pPr lvl="0"/>
            <a:r>
              <a:rPr lang="en-US" sz="1600" b="1" dirty="0"/>
              <a:t>Total Loans and Receivables</a:t>
            </a:r>
            <a:endParaRPr lang="en-US" sz="1800" dirty="0"/>
          </a:p>
        </p:txBody>
      </p:sp>
      <p:sp>
        <p:nvSpPr>
          <p:cNvPr id="14" name="Title 1"/>
          <p:cNvSpPr txBox="1">
            <a:spLocks/>
          </p:cNvSpPr>
          <p:nvPr/>
        </p:nvSpPr>
        <p:spPr>
          <a:xfrm>
            <a:off x="0" y="1151157"/>
            <a:ext cx="3820090" cy="481046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 dirty="0"/>
              <a:t>Total Assets</a:t>
            </a:r>
            <a:endParaRPr lang="en-US" sz="1600" dirty="0"/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4689568" y="3926210"/>
            <a:ext cx="3479180" cy="3026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 dirty="0"/>
              <a:t>Total Deposit Liabilities</a:t>
            </a:r>
            <a:endParaRPr lang="en-US" sz="1800" dirty="0"/>
          </a:p>
        </p:txBody>
      </p:sp>
      <p:sp>
        <p:nvSpPr>
          <p:cNvPr id="3" name="Rectangle 2"/>
          <p:cNvSpPr/>
          <p:nvPr/>
        </p:nvSpPr>
        <p:spPr>
          <a:xfrm>
            <a:off x="45036" y="6553248"/>
            <a:ext cx="4572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42 Thrift Banks | </a:t>
            </a:r>
            <a:r>
              <a:rPr lang="en-PH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Amounts in Million Pesos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4689568" y="1147385"/>
            <a:ext cx="3479180" cy="483749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 dirty="0"/>
              <a:t>Total Capital</a:t>
            </a:r>
            <a:endParaRPr lang="en-US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2B6C5F-819A-6424-BE85-FF1D53B48F15}"/>
              </a:ext>
            </a:extLst>
          </p:cNvPr>
          <p:cNvSpPr txBox="1"/>
          <p:nvPr/>
        </p:nvSpPr>
        <p:spPr>
          <a:xfrm>
            <a:off x="5903858" y="6556636"/>
            <a:ext cx="18820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1050" dirty="0">
                <a:solidFill>
                  <a:schemeClr val="bg1">
                    <a:lumMod val="50000"/>
                  </a:schemeClr>
                </a:solidFill>
              </a:rPr>
              <a:t>Source: BSP website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89070" y="3298011"/>
            <a:ext cx="10289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Stand Alone: 3</a:t>
            </a:r>
            <a:r>
              <a:rPr lang="en-GB" sz="900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rd</a:t>
            </a:r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  <a:p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Total : 7</a:t>
            </a:r>
            <a:r>
              <a:rPr lang="en-GB" sz="900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</a:t>
            </a:r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endParaRPr lang="en-PH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881877" y="3298011"/>
            <a:ext cx="1198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Stand Alone: 5</a:t>
            </a:r>
            <a:r>
              <a:rPr lang="en-GB" sz="900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</a:t>
            </a:r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  <a:p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Total: 9</a:t>
            </a:r>
            <a:r>
              <a:rPr lang="en-GB" sz="900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</a:t>
            </a:r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endParaRPr lang="en-PH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377969" y="5953239"/>
            <a:ext cx="949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Stand Alone: 2</a:t>
            </a:r>
            <a:r>
              <a:rPr lang="en-GB" sz="900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nd</a:t>
            </a:r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  <a:p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Total: 5</a:t>
            </a:r>
            <a:r>
              <a:rPr lang="en-GB" sz="900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</a:t>
            </a:r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endParaRPr lang="en-PH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881877" y="5953239"/>
            <a:ext cx="1179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Stand Alone: 2</a:t>
            </a:r>
            <a:r>
              <a:rPr lang="en-GB" sz="900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nd</a:t>
            </a:r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</a:t>
            </a:r>
          </a:p>
          <a:p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Total:  6</a:t>
            </a:r>
            <a:r>
              <a:rPr lang="en-GB" sz="900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</a:t>
            </a:r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endParaRPr lang="en-PH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5037" y="6299722"/>
            <a:ext cx="4912911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*Total Loans and Receivables - ↑ from March 2023 to March 2024 (3</a:t>
            </a:r>
            <a:r>
              <a:rPr lang="en-US" sz="1000" i="1" baseline="30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rd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to 2</a:t>
            </a:r>
            <a:r>
              <a:rPr lang="en-US" sz="1000" i="1" baseline="30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nd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  <a:endParaRPr lang="en-PH" sz="1000" i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606904" y="3702897"/>
            <a:ext cx="445425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*Total Capital – 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  <a:cs typeface="Calibri" panose="020F0502020204030204" pitchFamily="34" charset="0"/>
              </a:rPr>
              <a:t>Stayed at 9</a:t>
            </a:r>
            <a:r>
              <a:rPr lang="en-US" sz="1000" i="1" baseline="30000" dirty="0">
                <a:solidFill>
                  <a:schemeClr val="tx1">
                    <a:lumMod val="85000"/>
                    <a:lumOff val="15000"/>
                  </a:schemeClr>
                </a:solidFill>
                <a:cs typeface="Calibri" panose="020F0502020204030204" pitchFamily="34" charset="0"/>
              </a:rPr>
              <a:t>th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  <a:cs typeface="Calibri" panose="020F0502020204030204" pitchFamily="34" charset="0"/>
              </a:rPr>
              <a:t> from March 2023 to March 2024</a:t>
            </a:r>
            <a:endParaRPr lang="en-PH" sz="1000" i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626155" y="6310695"/>
            <a:ext cx="445425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*Total Deposit Liabilities – 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  <a:cs typeface="Calibri" panose="020F0502020204030204" pitchFamily="34" charset="0"/>
              </a:rPr>
              <a:t>Stayed at 2</a:t>
            </a:r>
            <a:r>
              <a:rPr lang="en-US" sz="1000" i="1" baseline="30000" dirty="0">
                <a:solidFill>
                  <a:schemeClr val="tx1">
                    <a:lumMod val="85000"/>
                    <a:lumOff val="15000"/>
                  </a:schemeClr>
                </a:solidFill>
                <a:cs typeface="Calibri" panose="020F0502020204030204" pitchFamily="34" charset="0"/>
              </a:rPr>
              <a:t>nd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  <a:cs typeface="Calibri" panose="020F0502020204030204" pitchFamily="34" charset="0"/>
              </a:rPr>
              <a:t> from March 2023 to March 2024</a:t>
            </a:r>
            <a:endParaRPr lang="en-PH" sz="1000" i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0129" y="3694012"/>
            <a:ext cx="445425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*Total Deposit Liabilities – 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  <a:cs typeface="Calibri" panose="020F0502020204030204" pitchFamily="34" charset="0"/>
              </a:rPr>
              <a:t>Stayed at 3</a:t>
            </a:r>
            <a:r>
              <a:rPr lang="en-US" sz="1000" i="1" baseline="30000" dirty="0">
                <a:solidFill>
                  <a:schemeClr val="tx1">
                    <a:lumMod val="85000"/>
                    <a:lumOff val="15000"/>
                  </a:schemeClr>
                </a:solidFill>
                <a:cs typeface="Calibri" panose="020F0502020204030204" pitchFamily="34" charset="0"/>
              </a:rPr>
              <a:t>rd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  <a:cs typeface="Calibri" panose="020F0502020204030204" pitchFamily="34" charset="0"/>
              </a:rPr>
              <a:t> from March 2023 to March 2024</a:t>
            </a:r>
            <a:endParaRPr lang="en-PH" sz="1000" i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16500" y="2722646"/>
            <a:ext cx="2127250" cy="230108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3" name="Title 1"/>
          <p:cNvSpPr txBox="1">
            <a:spLocks/>
          </p:cNvSpPr>
          <p:nvPr/>
        </p:nvSpPr>
        <p:spPr>
          <a:xfrm>
            <a:off x="-6110" y="0"/>
            <a:ext cx="7136780" cy="12203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100" b="1" dirty="0">
                <a:latin typeface="+mn-lt"/>
              </a:rPr>
              <a:t>INDUSTRY RANKING</a:t>
            </a:r>
            <a:br>
              <a:rPr lang="en-US" sz="3100" b="1" dirty="0">
                <a:latin typeface="+mn-lt"/>
              </a:rPr>
            </a:br>
            <a:r>
              <a:rPr lang="en-US" sz="2000" dirty="0">
                <a:latin typeface="+mn-lt"/>
              </a:rPr>
              <a:t>Thrift Bank Group, March 2023 vs March 2024</a:t>
            </a:r>
            <a:endParaRPr lang="en-US" sz="2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95718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Chart 23">
            <a:extLst>
              <a:ext uri="{FF2B5EF4-FFF2-40B4-BE49-F238E27FC236}">
                <a16:creationId xmlns:a16="http://schemas.microsoft.com/office/drawing/2014/main" id="{DF1E4A87-DF6F-49DB-8014-3E4DDF4B18A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27651911"/>
              </p:ext>
            </p:extLst>
          </p:nvPr>
        </p:nvGraphicFramePr>
        <p:xfrm>
          <a:off x="46184" y="1573306"/>
          <a:ext cx="4363615" cy="22551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19ED4B82-F47E-4233-9DFD-55420B482C6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63192972"/>
              </p:ext>
            </p:extLst>
          </p:nvPr>
        </p:nvGraphicFramePr>
        <p:xfrm>
          <a:off x="4757253" y="4143438"/>
          <a:ext cx="4246702" cy="2165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5" name="Chart 24">
            <a:extLst>
              <a:ext uri="{FF2B5EF4-FFF2-40B4-BE49-F238E27FC236}">
                <a16:creationId xmlns:a16="http://schemas.microsoft.com/office/drawing/2014/main" id="{1EE2B882-0BCA-4B06-A7A8-043DC4430B9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51082813"/>
              </p:ext>
            </p:extLst>
          </p:nvPr>
        </p:nvGraphicFramePr>
        <p:xfrm>
          <a:off x="45037" y="4152839"/>
          <a:ext cx="4364761" cy="21560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6" name="Chart 25">
            <a:extLst>
              <a:ext uri="{FF2B5EF4-FFF2-40B4-BE49-F238E27FC236}">
                <a16:creationId xmlns:a16="http://schemas.microsoft.com/office/drawing/2014/main" id="{BB45C48E-BFC3-47BB-923E-830CB2ABB74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21653834"/>
              </p:ext>
            </p:extLst>
          </p:nvPr>
        </p:nvGraphicFramePr>
        <p:xfrm>
          <a:off x="4757253" y="1596042"/>
          <a:ext cx="4246702" cy="22497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40647" y="3812438"/>
            <a:ext cx="3459444" cy="473809"/>
          </a:xfrm>
        </p:spPr>
        <p:txBody>
          <a:bodyPr>
            <a:normAutofit/>
          </a:bodyPr>
          <a:lstStyle/>
          <a:p>
            <a:pPr lvl="0"/>
            <a:r>
              <a:rPr lang="en-US" sz="1600" b="1" dirty="0"/>
              <a:t>Total Loans and Receivables</a:t>
            </a:r>
            <a:endParaRPr lang="en-US" sz="1800" dirty="0"/>
          </a:p>
        </p:txBody>
      </p:sp>
      <p:sp>
        <p:nvSpPr>
          <p:cNvPr id="14" name="Title 1"/>
          <p:cNvSpPr txBox="1">
            <a:spLocks/>
          </p:cNvSpPr>
          <p:nvPr/>
        </p:nvSpPr>
        <p:spPr>
          <a:xfrm>
            <a:off x="0" y="1228432"/>
            <a:ext cx="3820090" cy="4810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 dirty="0"/>
              <a:t>Total Assets</a:t>
            </a:r>
            <a:endParaRPr lang="en-US" sz="1600" dirty="0"/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156118" y="89212"/>
            <a:ext cx="713678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100" b="1" dirty="0">
                <a:latin typeface="+mn-lt"/>
              </a:rPr>
              <a:t>INDUSTRY RANKING</a:t>
            </a:r>
            <a:br>
              <a:rPr lang="en-US" sz="3100" b="1" dirty="0">
                <a:latin typeface="+mn-lt"/>
              </a:rPr>
            </a:br>
            <a:r>
              <a:rPr lang="en-US" sz="2000" dirty="0">
                <a:latin typeface="+mn-lt"/>
              </a:rPr>
              <a:t>Thrift Bank Group, as of 30 September 2023</a:t>
            </a:r>
            <a:endParaRPr lang="en-US" sz="2400" dirty="0">
              <a:latin typeface="+mn-lt"/>
            </a:endParaRPr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4757253" y="3812436"/>
            <a:ext cx="3479180" cy="473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 dirty="0"/>
              <a:t>Total Deposit Liabilities</a:t>
            </a:r>
            <a:endParaRPr lang="en-US" sz="1800" dirty="0"/>
          </a:p>
        </p:txBody>
      </p:sp>
      <p:sp>
        <p:nvSpPr>
          <p:cNvPr id="3" name="Rectangle 2"/>
          <p:cNvSpPr/>
          <p:nvPr/>
        </p:nvSpPr>
        <p:spPr>
          <a:xfrm>
            <a:off x="45036" y="6553248"/>
            <a:ext cx="4572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42 Thrift Banks | </a:t>
            </a:r>
            <a:r>
              <a:rPr lang="en-PH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Amounts in Million Pesos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4729097" y="1213701"/>
            <a:ext cx="3479180" cy="4957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 dirty="0"/>
              <a:t>Total Capital</a:t>
            </a:r>
            <a:endParaRPr lang="en-US" sz="1800" dirty="0"/>
          </a:p>
        </p:txBody>
      </p:sp>
      <p:sp>
        <p:nvSpPr>
          <p:cNvPr id="21" name="Rectangle 20"/>
          <p:cNvSpPr/>
          <p:nvPr/>
        </p:nvSpPr>
        <p:spPr>
          <a:xfrm>
            <a:off x="3465362" y="5859498"/>
            <a:ext cx="15938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2">
                    <a:lumMod val="50000"/>
                  </a:schemeClr>
                </a:solidFill>
              </a:rPr>
              <a:t>Total: 7</a:t>
            </a:r>
            <a:r>
              <a:rPr lang="en-US" sz="900" baseline="30000" dirty="0">
                <a:solidFill>
                  <a:schemeClr val="bg2">
                    <a:lumMod val="50000"/>
                  </a:schemeClr>
                </a:solidFill>
              </a:rPr>
              <a:t>th*</a:t>
            </a:r>
            <a:r>
              <a:rPr lang="en-US" sz="900" dirty="0">
                <a:solidFill>
                  <a:schemeClr val="bg2">
                    <a:lumMod val="50000"/>
                  </a:schemeClr>
                </a:solidFill>
              </a:rPr>
              <a:t> </a:t>
            </a:r>
          </a:p>
          <a:p>
            <a:r>
              <a:rPr lang="en-US" sz="900" dirty="0">
                <a:solidFill>
                  <a:schemeClr val="bg2">
                    <a:lumMod val="50000"/>
                  </a:schemeClr>
                </a:solidFill>
              </a:rPr>
              <a:t>Stand alone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: 3</a:t>
            </a:r>
            <a:r>
              <a:rPr lang="en-US" sz="900" baseline="30000" dirty="0">
                <a:solidFill>
                  <a:schemeClr val="bg1">
                    <a:lumMod val="50000"/>
                  </a:schemeClr>
                </a:solidFill>
              </a:rPr>
              <a:t>rd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en-PH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8F2857-9E2B-B404-A6DD-E3F3A2E5CB3A}"/>
              </a:ext>
            </a:extLst>
          </p:cNvPr>
          <p:cNvSpPr txBox="1"/>
          <p:nvPr/>
        </p:nvSpPr>
        <p:spPr>
          <a:xfrm>
            <a:off x="4689742" y="6595045"/>
            <a:ext cx="18820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1000" dirty="0">
                <a:solidFill>
                  <a:schemeClr val="bg1">
                    <a:lumMod val="50000"/>
                  </a:schemeClr>
                </a:solidFill>
              </a:rPr>
              <a:t>Source: BSP website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65364" y="3443104"/>
            <a:ext cx="1329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Total: 6</a:t>
            </a:r>
            <a:r>
              <a:rPr lang="en-GB" sz="900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</a:t>
            </a:r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  <a:p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Stand Alone: 3</a:t>
            </a:r>
            <a:r>
              <a:rPr lang="en-GB" sz="900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rd</a:t>
            </a:r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endParaRPr lang="en-PH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015108" y="3402148"/>
            <a:ext cx="2593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Total: 9</a:t>
            </a:r>
            <a:r>
              <a:rPr lang="en-GB" sz="900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</a:t>
            </a:r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  <a:p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Stand Alone : 5</a:t>
            </a:r>
            <a:r>
              <a:rPr lang="en-GB" sz="900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</a:t>
            </a:r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</a:t>
            </a:r>
            <a:endParaRPr lang="en-PH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926234" y="5939541"/>
            <a:ext cx="276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Total</a:t>
            </a:r>
            <a:r>
              <a:rPr lang="en-PH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5</a:t>
            </a:r>
            <a:r>
              <a:rPr lang="en-PH" sz="900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</a:t>
            </a:r>
            <a:r>
              <a:rPr lang="en-PH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  <a:p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Stand Alone: 2</a:t>
            </a:r>
            <a:r>
              <a:rPr lang="en-GB" sz="900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nd</a:t>
            </a:r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036" y="6340277"/>
            <a:ext cx="4572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05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*Total Loans and Receivables - ↓ from June to September (6</a:t>
            </a:r>
            <a:r>
              <a:rPr lang="en-US" sz="1050" i="1" baseline="30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</a:t>
            </a:r>
            <a:r>
              <a:rPr lang="en-US" sz="105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to 7</a:t>
            </a:r>
            <a:r>
              <a:rPr lang="en-US" sz="1050" i="1" baseline="30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</a:t>
            </a:r>
            <a:r>
              <a:rPr lang="en-US" sz="105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  <a:endParaRPr lang="en-PH" sz="1050" i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8290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" name="Chart 33">
            <a:extLst>
              <a:ext uri="{FF2B5EF4-FFF2-40B4-BE49-F238E27FC236}">
                <a16:creationId xmlns:a16="http://schemas.microsoft.com/office/drawing/2014/main" id="{03CBC2B6-A71C-46B1-8ECE-BBA8AD17AD0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54625617"/>
              </p:ext>
            </p:extLst>
          </p:nvPr>
        </p:nvGraphicFramePr>
        <p:xfrm>
          <a:off x="4691210" y="4165332"/>
          <a:ext cx="4241800" cy="21356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2" name="Chart 31">
            <a:extLst>
              <a:ext uri="{FF2B5EF4-FFF2-40B4-BE49-F238E27FC236}">
                <a16:creationId xmlns:a16="http://schemas.microsoft.com/office/drawing/2014/main" id="{B3064AEA-7A42-4F89-BF35-7BDA3FBB934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33294684"/>
              </p:ext>
            </p:extLst>
          </p:nvPr>
        </p:nvGraphicFramePr>
        <p:xfrm>
          <a:off x="4691213" y="1580698"/>
          <a:ext cx="4241799" cy="22116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0" name="Chart 29">
            <a:extLst>
              <a:ext uri="{FF2B5EF4-FFF2-40B4-BE49-F238E27FC236}">
                <a16:creationId xmlns:a16="http://schemas.microsoft.com/office/drawing/2014/main" id="{B2DCDBD3-5942-4818-91C4-BC181F66B1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10267357"/>
              </p:ext>
            </p:extLst>
          </p:nvPr>
        </p:nvGraphicFramePr>
        <p:xfrm>
          <a:off x="45038" y="4162798"/>
          <a:ext cx="4399965" cy="2140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8" name="Chart 27">
            <a:extLst>
              <a:ext uri="{FF2B5EF4-FFF2-40B4-BE49-F238E27FC236}">
                <a16:creationId xmlns:a16="http://schemas.microsoft.com/office/drawing/2014/main" id="{51F086AC-2D88-4D85-8210-26166A48A36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49342832"/>
              </p:ext>
            </p:extLst>
          </p:nvPr>
        </p:nvGraphicFramePr>
        <p:xfrm>
          <a:off x="45038" y="1579120"/>
          <a:ext cx="4399965" cy="22116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818276"/>
            <a:ext cx="3479180" cy="448483"/>
          </a:xfrm>
        </p:spPr>
        <p:txBody>
          <a:bodyPr>
            <a:normAutofit/>
          </a:bodyPr>
          <a:lstStyle/>
          <a:p>
            <a:pPr lvl="0"/>
            <a:r>
              <a:rPr lang="en-US" sz="1600" b="1" dirty="0"/>
              <a:t>Total Loans and Receivables</a:t>
            </a:r>
            <a:endParaRPr lang="en-US" sz="1800" dirty="0"/>
          </a:p>
        </p:txBody>
      </p:sp>
      <p:sp>
        <p:nvSpPr>
          <p:cNvPr id="14" name="Title 1"/>
          <p:cNvSpPr txBox="1">
            <a:spLocks/>
          </p:cNvSpPr>
          <p:nvPr/>
        </p:nvSpPr>
        <p:spPr>
          <a:xfrm>
            <a:off x="0" y="1229535"/>
            <a:ext cx="3820090" cy="481046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 dirty="0"/>
              <a:t>Total Assets</a:t>
            </a:r>
            <a:endParaRPr lang="en-US" sz="1600" dirty="0"/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4689568" y="3823836"/>
            <a:ext cx="3479180" cy="4429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 dirty="0"/>
              <a:t>Total Deposit Liabilities</a:t>
            </a:r>
            <a:endParaRPr lang="en-US" sz="1800" dirty="0"/>
          </a:p>
        </p:txBody>
      </p:sp>
      <p:sp>
        <p:nvSpPr>
          <p:cNvPr id="3" name="Rectangle 2"/>
          <p:cNvSpPr/>
          <p:nvPr/>
        </p:nvSpPr>
        <p:spPr>
          <a:xfrm>
            <a:off x="45036" y="6553248"/>
            <a:ext cx="4572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42 Thrift Banks | </a:t>
            </a:r>
            <a:r>
              <a:rPr lang="en-PH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Amounts in Million Pesos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4689568" y="1226834"/>
            <a:ext cx="3479180" cy="483749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 dirty="0"/>
              <a:t>Total Capital</a:t>
            </a:r>
            <a:endParaRPr lang="en-US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2B6C5F-819A-6424-BE85-FF1D53B48F15}"/>
              </a:ext>
            </a:extLst>
          </p:cNvPr>
          <p:cNvSpPr txBox="1"/>
          <p:nvPr/>
        </p:nvSpPr>
        <p:spPr>
          <a:xfrm>
            <a:off x="5903858" y="6556636"/>
            <a:ext cx="18820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1050" dirty="0">
                <a:solidFill>
                  <a:schemeClr val="bg1">
                    <a:lumMod val="50000"/>
                  </a:schemeClr>
                </a:solidFill>
              </a:rPr>
              <a:t>Source: BSP website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77970" y="3402515"/>
            <a:ext cx="2702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Stand Alone: 3</a:t>
            </a:r>
            <a:r>
              <a:rPr lang="en-GB" sz="900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rd</a:t>
            </a:r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  <a:p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Total : 6</a:t>
            </a:r>
            <a:r>
              <a:rPr lang="en-GB" sz="900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</a:t>
            </a:r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endParaRPr lang="en-PH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881878" y="3402515"/>
            <a:ext cx="3152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Stand Alone: 5</a:t>
            </a:r>
            <a:r>
              <a:rPr lang="en-GB" sz="900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</a:t>
            </a:r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  <a:p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Total: 9</a:t>
            </a:r>
            <a:r>
              <a:rPr lang="en-GB" sz="900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</a:t>
            </a:r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endParaRPr lang="en-PH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377970" y="5927113"/>
            <a:ext cx="1808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Stand Alone: 3</a:t>
            </a:r>
            <a:r>
              <a:rPr lang="en-GB" sz="900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rd</a:t>
            </a:r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  <a:p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Total: 7</a:t>
            </a:r>
            <a:r>
              <a:rPr lang="en-GB" sz="900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</a:t>
            </a:r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endParaRPr lang="en-PH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881878" y="5927113"/>
            <a:ext cx="2729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Stand Alone: 2</a:t>
            </a:r>
            <a:r>
              <a:rPr lang="en-GB" sz="900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nd</a:t>
            </a:r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</a:t>
            </a:r>
          </a:p>
          <a:p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Total:  5</a:t>
            </a:r>
            <a:r>
              <a:rPr lang="en-GB" sz="900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</a:t>
            </a:r>
            <a:r>
              <a:rPr lang="en-GB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endParaRPr lang="en-PH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7" name="Title 1"/>
          <p:cNvSpPr txBox="1">
            <a:spLocks/>
          </p:cNvSpPr>
          <p:nvPr/>
        </p:nvSpPr>
        <p:spPr>
          <a:xfrm>
            <a:off x="156118" y="89212"/>
            <a:ext cx="713678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100" b="1" dirty="0">
                <a:latin typeface="+mn-lt"/>
              </a:rPr>
              <a:t>INDUSTRY RANKING</a:t>
            </a:r>
            <a:br>
              <a:rPr lang="en-US" sz="3100" b="1" dirty="0">
                <a:latin typeface="+mn-lt"/>
              </a:rPr>
            </a:br>
            <a:r>
              <a:rPr lang="en-US" sz="2000" dirty="0">
                <a:latin typeface="+mn-lt"/>
              </a:rPr>
              <a:t>Thrift Bank Group, as of 30 September 2023</a:t>
            </a:r>
            <a:endParaRPr lang="en-US" sz="2400" dirty="0">
              <a:latin typeface="+mn-lt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5036" y="6340277"/>
            <a:ext cx="4572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05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*Total Loans and Receivables - ↓ from June to September (6</a:t>
            </a:r>
            <a:r>
              <a:rPr lang="en-US" sz="1050" i="1" baseline="30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</a:t>
            </a:r>
            <a:r>
              <a:rPr lang="en-US" sz="105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to 7</a:t>
            </a:r>
            <a:r>
              <a:rPr lang="en-US" sz="1050" i="1" baseline="30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</a:t>
            </a:r>
            <a:r>
              <a:rPr lang="en-US" sz="105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  <a:endParaRPr lang="en-PH" sz="1050" i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6144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Chart 21">
            <a:extLst>
              <a:ext uri="{FF2B5EF4-FFF2-40B4-BE49-F238E27FC236}">
                <a16:creationId xmlns:a16="http://schemas.microsoft.com/office/drawing/2014/main" id="{BB45C48E-BFC3-47BB-923E-830CB2ABB743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4683502" y="1629653"/>
          <a:ext cx="4316462" cy="22478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3" name="Chart 22">
            <a:extLst>
              <a:ext uri="{FF2B5EF4-FFF2-40B4-BE49-F238E27FC236}">
                <a16:creationId xmlns:a16="http://schemas.microsoft.com/office/drawing/2014/main" id="{19ED4B82-F47E-4233-9DFD-55420B482C66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4700233" y="4285067"/>
          <a:ext cx="4305973" cy="20557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1EE2B882-0BCA-4B06-A7A8-043DC4430B96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156120" y="4280694"/>
          <a:ext cx="4239783" cy="20601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8" name="Chart 17">
            <a:extLst>
              <a:ext uri="{FF2B5EF4-FFF2-40B4-BE49-F238E27FC236}">
                <a16:creationId xmlns:a16="http://schemas.microsoft.com/office/drawing/2014/main" id="{DF1E4A87-DF6F-49DB-8014-3E4DDF4B18A8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42428" y="1631588"/>
          <a:ext cx="4353475" cy="22459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40647" y="3812438"/>
            <a:ext cx="3459444" cy="473809"/>
          </a:xfrm>
        </p:spPr>
        <p:txBody>
          <a:bodyPr>
            <a:normAutofit/>
          </a:bodyPr>
          <a:lstStyle/>
          <a:p>
            <a:pPr lvl="0"/>
            <a:r>
              <a:rPr lang="en-US" sz="1600" b="1" dirty="0"/>
              <a:t>Total Loans and Receivables</a:t>
            </a:r>
            <a:endParaRPr lang="en-US" sz="1800" dirty="0"/>
          </a:p>
        </p:txBody>
      </p:sp>
      <p:sp>
        <p:nvSpPr>
          <p:cNvPr id="14" name="Title 1"/>
          <p:cNvSpPr txBox="1">
            <a:spLocks/>
          </p:cNvSpPr>
          <p:nvPr/>
        </p:nvSpPr>
        <p:spPr>
          <a:xfrm>
            <a:off x="0" y="1228432"/>
            <a:ext cx="3820090" cy="4810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1600" b="1" dirty="0">
                <a:solidFill>
                  <a:prstClr val="black"/>
                </a:solidFill>
                <a:latin typeface="Calibri Light" panose="020F0302020204030204"/>
              </a:rPr>
              <a:t>Total Assets</a:t>
            </a:r>
            <a:endParaRPr lang="en-US" sz="1600" dirty="0">
              <a:solidFill>
                <a:prstClr val="black"/>
              </a:solidFill>
              <a:latin typeface="Calibri Light" panose="020F0302020204030204"/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156118" y="89212"/>
            <a:ext cx="713678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3100" b="1" dirty="0">
                <a:solidFill>
                  <a:prstClr val="black"/>
                </a:solidFill>
                <a:latin typeface="Calibri" panose="020F0502020204030204"/>
              </a:rPr>
              <a:t>INDUSTRY RANKING</a:t>
            </a:r>
            <a:br>
              <a:rPr lang="en-US" sz="3100" b="1" dirty="0">
                <a:solidFill>
                  <a:prstClr val="black"/>
                </a:solidFill>
                <a:latin typeface="Calibri" panose="020F0502020204030204"/>
              </a:rPr>
            </a:br>
            <a:r>
              <a:rPr lang="en-US" sz="2000" dirty="0">
                <a:solidFill>
                  <a:prstClr val="black"/>
                </a:solidFill>
                <a:latin typeface="Calibri" panose="020F0502020204030204"/>
              </a:rPr>
              <a:t>Thrift Bank Group, as of 30 June 2023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4757253" y="3877541"/>
            <a:ext cx="3479180" cy="4118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1600" b="1" dirty="0">
                <a:solidFill>
                  <a:prstClr val="black"/>
                </a:solidFill>
                <a:latin typeface="Calibri Light" panose="020F0302020204030204"/>
              </a:rPr>
              <a:t>Total Deposit Liabilities</a:t>
            </a:r>
            <a:endParaRPr lang="en-US" sz="1800" dirty="0">
              <a:solidFill>
                <a:prstClr val="black"/>
              </a:solidFill>
              <a:latin typeface="Calibri Light" panose="020F030202020403020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036" y="6553248"/>
            <a:ext cx="4572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sz="11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/>
              </a:rPr>
              <a:t>42 Thrift Banks | </a:t>
            </a:r>
            <a:r>
              <a:rPr lang="en-PH" sz="11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/>
              </a:rPr>
              <a:t>Amounts in Million Pesos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4729097" y="1213701"/>
            <a:ext cx="3479180" cy="4957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1600" b="1" dirty="0">
                <a:solidFill>
                  <a:prstClr val="black"/>
                </a:solidFill>
                <a:latin typeface="Calibri Light" panose="020F0302020204030204"/>
              </a:rPr>
              <a:t>Total Capital</a:t>
            </a:r>
            <a:endParaRPr lang="en-US" sz="1800" dirty="0">
              <a:solidFill>
                <a:prstClr val="black"/>
              </a:solidFill>
              <a:latin typeface="Calibri Light" panose="020F0302020204030204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465362" y="5859498"/>
            <a:ext cx="15938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900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Total: 6</a:t>
            </a:r>
            <a:r>
              <a:rPr lang="en-US" sz="900" baseline="30000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th</a:t>
            </a:r>
            <a:r>
              <a:rPr lang="en-US" sz="900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 </a:t>
            </a:r>
          </a:p>
          <a:p>
            <a:pPr>
              <a:defRPr/>
            </a:pPr>
            <a:r>
              <a:rPr lang="en-US" sz="900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Stand alone</a:t>
            </a:r>
            <a:r>
              <a:rPr lang="en-US" sz="90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: 3</a:t>
            </a:r>
            <a:r>
              <a:rPr lang="en-US" sz="900" baseline="3000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rd</a:t>
            </a:r>
            <a:r>
              <a:rPr lang="en-US" sz="90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 </a:t>
            </a:r>
            <a:endParaRPr lang="en-PH" sz="900" dirty="0">
              <a:solidFill>
                <a:prstClr val="white">
                  <a:lumMod val="50000"/>
                </a:prstClr>
              </a:solidFill>
              <a:latin typeface="Calibri" panose="020F050202020403020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8F2857-9E2B-B404-A6DD-E3F3A2E5CB3A}"/>
              </a:ext>
            </a:extLst>
          </p:cNvPr>
          <p:cNvSpPr txBox="1"/>
          <p:nvPr/>
        </p:nvSpPr>
        <p:spPr>
          <a:xfrm>
            <a:off x="4689742" y="6595045"/>
            <a:ext cx="18820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PH" sz="100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Source: BSP website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65364" y="3443104"/>
            <a:ext cx="1329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900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</a:rPr>
              <a:t>Total: 6</a:t>
            </a:r>
            <a:r>
              <a:rPr lang="en-GB" sz="900" baseline="30000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</a:rPr>
              <a:t>th</a:t>
            </a:r>
            <a:r>
              <a:rPr lang="en-GB" sz="900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</a:rPr>
              <a:t> </a:t>
            </a:r>
          </a:p>
          <a:p>
            <a:pPr>
              <a:defRPr/>
            </a:pPr>
            <a:r>
              <a:rPr lang="en-GB" sz="900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</a:rPr>
              <a:t>Stand Alone: 3</a:t>
            </a:r>
            <a:r>
              <a:rPr lang="en-GB" sz="900" baseline="30000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</a:rPr>
              <a:t>rd</a:t>
            </a:r>
            <a:r>
              <a:rPr lang="en-GB" sz="900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</a:rPr>
              <a:t> </a:t>
            </a:r>
            <a:endParaRPr lang="en-PH" sz="900" dirty="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015108" y="3402148"/>
            <a:ext cx="2593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900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</a:rPr>
              <a:t>Total: 9</a:t>
            </a:r>
            <a:r>
              <a:rPr lang="en-GB" sz="900" baseline="30000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</a:rPr>
              <a:t>th</a:t>
            </a:r>
            <a:r>
              <a:rPr lang="en-GB" sz="900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</a:rPr>
              <a:t> </a:t>
            </a:r>
          </a:p>
          <a:p>
            <a:pPr>
              <a:defRPr/>
            </a:pPr>
            <a:r>
              <a:rPr lang="en-GB" sz="900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</a:rPr>
              <a:t>Stand Alone : 5</a:t>
            </a:r>
            <a:r>
              <a:rPr lang="en-GB" sz="900" baseline="30000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</a:rPr>
              <a:t>th</a:t>
            </a:r>
            <a:r>
              <a:rPr lang="en-GB" sz="900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</a:rPr>
              <a:t>  </a:t>
            </a:r>
            <a:endParaRPr lang="en-PH" sz="900" dirty="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926234" y="5939541"/>
            <a:ext cx="276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900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</a:rPr>
              <a:t>Total</a:t>
            </a:r>
            <a:r>
              <a:rPr lang="en-PH" sz="900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</a:rPr>
              <a:t>: 5</a:t>
            </a:r>
            <a:r>
              <a:rPr lang="en-PH" sz="900" baseline="30000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</a:rPr>
              <a:t>th</a:t>
            </a:r>
            <a:r>
              <a:rPr lang="en-PH" sz="900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</a:rPr>
              <a:t> </a:t>
            </a:r>
          </a:p>
          <a:p>
            <a:pPr>
              <a:defRPr/>
            </a:pPr>
            <a:r>
              <a:rPr lang="en-GB" sz="900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</a:rPr>
              <a:t>Stand Alone: 2</a:t>
            </a:r>
            <a:r>
              <a:rPr lang="en-GB" sz="900" baseline="30000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</a:rPr>
              <a:t>nd</a:t>
            </a:r>
            <a:r>
              <a:rPr lang="en-GB" sz="900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36837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Chart 17">
            <a:extLst>
              <a:ext uri="{FF2B5EF4-FFF2-40B4-BE49-F238E27FC236}">
                <a16:creationId xmlns:a16="http://schemas.microsoft.com/office/drawing/2014/main" id="{03CBC2B6-A71C-46B1-8ECE-BBA8AD17AD02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4691210" y="4313184"/>
          <a:ext cx="4241800" cy="2140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1" name="Chart 20">
            <a:extLst>
              <a:ext uri="{FF2B5EF4-FFF2-40B4-BE49-F238E27FC236}">
                <a16:creationId xmlns:a16="http://schemas.microsoft.com/office/drawing/2014/main" id="{B2DCDBD3-5942-4818-91C4-BC181F66B1B7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45038" y="4313184"/>
          <a:ext cx="4399965" cy="2140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2" name="Chart 21">
            <a:extLst>
              <a:ext uri="{FF2B5EF4-FFF2-40B4-BE49-F238E27FC236}">
                <a16:creationId xmlns:a16="http://schemas.microsoft.com/office/drawing/2014/main" id="{B3064AEA-7A42-4F89-BF35-7BDA3FBB934A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4691213" y="1740017"/>
          <a:ext cx="4241799" cy="22073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51F086AC-2D88-4D85-8210-26166A48A360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45037" y="1740017"/>
          <a:ext cx="4399964" cy="22073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947335"/>
            <a:ext cx="3479180" cy="448483"/>
          </a:xfrm>
        </p:spPr>
        <p:txBody>
          <a:bodyPr>
            <a:normAutofit/>
          </a:bodyPr>
          <a:lstStyle/>
          <a:p>
            <a:pPr lvl="0"/>
            <a:r>
              <a:rPr lang="en-US" sz="1600" b="1" dirty="0"/>
              <a:t>Total Loans and Receivables</a:t>
            </a:r>
            <a:endParaRPr lang="en-US" sz="1800" dirty="0"/>
          </a:p>
        </p:txBody>
      </p:sp>
      <p:sp>
        <p:nvSpPr>
          <p:cNvPr id="14" name="Title 1"/>
          <p:cNvSpPr txBox="1">
            <a:spLocks/>
          </p:cNvSpPr>
          <p:nvPr/>
        </p:nvSpPr>
        <p:spPr>
          <a:xfrm>
            <a:off x="0" y="1391485"/>
            <a:ext cx="3820090" cy="4810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1600" b="1" dirty="0">
                <a:solidFill>
                  <a:prstClr val="black"/>
                </a:solidFill>
                <a:latin typeface="Calibri Light" panose="020F0302020204030204"/>
              </a:rPr>
              <a:t>Total Assets</a:t>
            </a:r>
            <a:endParaRPr lang="en-US" sz="1600" dirty="0">
              <a:solidFill>
                <a:prstClr val="black"/>
              </a:solidFill>
              <a:latin typeface="Calibri Light" panose="020F0302020204030204"/>
            </a:endParaRPr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4617036" y="3984001"/>
            <a:ext cx="3479180" cy="4118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1600" b="1" dirty="0">
                <a:solidFill>
                  <a:prstClr val="black"/>
                </a:solidFill>
                <a:latin typeface="Calibri Light" panose="020F0302020204030204"/>
              </a:rPr>
              <a:t>Total Deposit Liabilities</a:t>
            </a:r>
            <a:endParaRPr lang="en-US" sz="1800" dirty="0">
              <a:solidFill>
                <a:prstClr val="black"/>
              </a:solidFill>
              <a:latin typeface="Calibri Light" panose="020F030202020403020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036" y="6553248"/>
            <a:ext cx="4572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sz="11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/>
              </a:rPr>
              <a:t>42 Thrift Banks | </a:t>
            </a:r>
            <a:r>
              <a:rPr lang="en-PH" sz="11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/>
              </a:rPr>
              <a:t>Amounts in Million Pesos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4729097" y="1391487"/>
            <a:ext cx="3479180" cy="4957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1600" b="1" dirty="0">
                <a:solidFill>
                  <a:prstClr val="black"/>
                </a:solidFill>
                <a:latin typeface="Calibri Light" panose="020F0302020204030204"/>
              </a:rPr>
              <a:t>Total Capital</a:t>
            </a:r>
            <a:endParaRPr lang="en-US" sz="1800" dirty="0">
              <a:solidFill>
                <a:prstClr val="black"/>
              </a:solidFill>
              <a:latin typeface="Calibri Light" panose="020F030202020403020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2B6C5F-819A-6424-BE85-FF1D53B48F15}"/>
              </a:ext>
            </a:extLst>
          </p:cNvPr>
          <p:cNvSpPr txBox="1"/>
          <p:nvPr/>
        </p:nvSpPr>
        <p:spPr>
          <a:xfrm>
            <a:off x="5903858" y="6556636"/>
            <a:ext cx="18820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PH" sz="105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Source: BSP website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77970" y="3591202"/>
            <a:ext cx="2702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900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</a:rPr>
              <a:t>Stand Alone: 3</a:t>
            </a:r>
            <a:r>
              <a:rPr lang="en-GB" sz="900" baseline="30000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</a:rPr>
              <a:t>rd</a:t>
            </a:r>
            <a:r>
              <a:rPr lang="en-GB" sz="900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</a:rPr>
              <a:t> </a:t>
            </a:r>
          </a:p>
          <a:p>
            <a:pPr>
              <a:defRPr/>
            </a:pPr>
            <a:r>
              <a:rPr lang="en-GB" sz="900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</a:rPr>
              <a:t>Total : 6</a:t>
            </a:r>
            <a:r>
              <a:rPr lang="en-GB" sz="900" baseline="30000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</a:rPr>
              <a:t>th</a:t>
            </a:r>
            <a:r>
              <a:rPr lang="en-GB" sz="900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</a:rPr>
              <a:t> </a:t>
            </a:r>
            <a:endParaRPr lang="en-PH" sz="900" dirty="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881878" y="3591202"/>
            <a:ext cx="3152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900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</a:rPr>
              <a:t>Stand Alone: 5</a:t>
            </a:r>
            <a:r>
              <a:rPr lang="en-GB" sz="900" baseline="30000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</a:rPr>
              <a:t>th</a:t>
            </a:r>
            <a:r>
              <a:rPr lang="en-GB" sz="900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</a:rPr>
              <a:t> </a:t>
            </a:r>
          </a:p>
          <a:p>
            <a:pPr>
              <a:defRPr/>
            </a:pPr>
            <a:r>
              <a:rPr lang="en-GB" sz="900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</a:rPr>
              <a:t>Total: 9</a:t>
            </a:r>
            <a:r>
              <a:rPr lang="en-GB" sz="900" baseline="30000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</a:rPr>
              <a:t>th</a:t>
            </a:r>
            <a:r>
              <a:rPr lang="en-GB" sz="900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</a:rPr>
              <a:t> </a:t>
            </a:r>
            <a:endParaRPr lang="en-PH" sz="900" dirty="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377970" y="6101284"/>
            <a:ext cx="1808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900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</a:rPr>
              <a:t>Stand Alone: 3</a:t>
            </a:r>
            <a:r>
              <a:rPr lang="en-GB" sz="900" baseline="30000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</a:rPr>
              <a:t>rd</a:t>
            </a:r>
            <a:r>
              <a:rPr lang="en-GB" sz="900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</a:rPr>
              <a:t> </a:t>
            </a:r>
          </a:p>
          <a:p>
            <a:pPr>
              <a:defRPr/>
            </a:pPr>
            <a:r>
              <a:rPr lang="en-GB" sz="900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</a:rPr>
              <a:t>Total: 6</a:t>
            </a:r>
            <a:r>
              <a:rPr lang="en-GB" sz="900" baseline="30000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</a:rPr>
              <a:t>th</a:t>
            </a:r>
            <a:r>
              <a:rPr lang="en-GB" sz="900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</a:rPr>
              <a:t> </a:t>
            </a:r>
            <a:endParaRPr lang="en-PH" sz="900" dirty="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881878" y="6101284"/>
            <a:ext cx="2729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900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</a:rPr>
              <a:t>Stand Alone: 2</a:t>
            </a:r>
            <a:r>
              <a:rPr lang="en-GB" sz="900" baseline="30000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</a:rPr>
              <a:t>nd</a:t>
            </a:r>
            <a:r>
              <a:rPr lang="en-GB" sz="900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</a:rPr>
              <a:t>  </a:t>
            </a:r>
          </a:p>
          <a:p>
            <a:pPr>
              <a:defRPr/>
            </a:pPr>
            <a:r>
              <a:rPr lang="en-GB" sz="900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</a:rPr>
              <a:t>Total:  5</a:t>
            </a:r>
            <a:r>
              <a:rPr lang="en-GB" sz="900" baseline="30000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</a:rPr>
              <a:t>th</a:t>
            </a:r>
            <a:r>
              <a:rPr lang="en-GB" sz="900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</a:rPr>
              <a:t> </a:t>
            </a:r>
            <a:endParaRPr lang="en-PH" sz="900" dirty="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/>
            </a:endParaRPr>
          </a:p>
        </p:txBody>
      </p:sp>
      <p:sp>
        <p:nvSpPr>
          <p:cNvPr id="17" name="Title 1"/>
          <p:cNvSpPr txBox="1">
            <a:spLocks/>
          </p:cNvSpPr>
          <p:nvPr/>
        </p:nvSpPr>
        <p:spPr>
          <a:xfrm>
            <a:off x="156118" y="89212"/>
            <a:ext cx="713678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3100" b="1" dirty="0">
                <a:solidFill>
                  <a:prstClr val="black"/>
                </a:solidFill>
                <a:latin typeface="Calibri" panose="020F0502020204030204"/>
              </a:rPr>
              <a:t>INDUSTRY RANKING</a:t>
            </a:r>
            <a:br>
              <a:rPr lang="en-US" sz="3100" b="1" dirty="0">
                <a:solidFill>
                  <a:prstClr val="black"/>
                </a:solidFill>
                <a:latin typeface="Calibri" panose="020F0502020204030204"/>
              </a:rPr>
            </a:br>
            <a:r>
              <a:rPr lang="en-US" sz="2000" dirty="0">
                <a:solidFill>
                  <a:prstClr val="black"/>
                </a:solidFill>
                <a:latin typeface="Calibri" panose="020F0502020204030204"/>
              </a:rPr>
              <a:t>Thrift Bank Group, as of 30 June 2023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693709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19ED4B82-F47E-4233-9DFD-55420B482C66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14128738" y="4192165"/>
          <a:ext cx="4255041" cy="23644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1EE2B882-0BCA-4B06-A7A8-043DC4430B96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9477904" y="4211811"/>
          <a:ext cx="4586088" cy="23448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BB45C48E-BFC3-47BB-923E-830CB2ABB743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13905184" y="1601768"/>
          <a:ext cx="4319788" cy="22272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DF1E4A87-DF6F-49DB-8014-3E4DDF4B18A8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9351025" y="1614063"/>
          <a:ext cx="4421645" cy="21484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51" y="3830658"/>
            <a:ext cx="3479180" cy="448483"/>
          </a:xfrm>
        </p:spPr>
        <p:txBody>
          <a:bodyPr>
            <a:normAutofit/>
          </a:bodyPr>
          <a:lstStyle/>
          <a:p>
            <a:pPr lvl="0"/>
            <a:r>
              <a:rPr lang="en-US" sz="1600" b="1" dirty="0"/>
              <a:t>Total Loans and Receivables</a:t>
            </a:r>
            <a:endParaRPr lang="en-US" sz="1800" dirty="0"/>
          </a:p>
        </p:txBody>
      </p:sp>
      <p:sp>
        <p:nvSpPr>
          <p:cNvPr id="14" name="Title 1"/>
          <p:cNvSpPr txBox="1">
            <a:spLocks/>
          </p:cNvSpPr>
          <p:nvPr/>
        </p:nvSpPr>
        <p:spPr>
          <a:xfrm>
            <a:off x="0" y="1228432"/>
            <a:ext cx="3820090" cy="4810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1600" b="1" dirty="0">
                <a:solidFill>
                  <a:prstClr val="black"/>
                </a:solidFill>
                <a:latin typeface="Calibri Light" panose="020F0302020204030204"/>
              </a:rPr>
              <a:t>Total Assets</a:t>
            </a:r>
            <a:endParaRPr lang="en-US" sz="1600" dirty="0">
              <a:solidFill>
                <a:prstClr val="black"/>
              </a:solidFill>
              <a:latin typeface="Calibri Light" panose="020F0302020204030204"/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156118" y="89212"/>
            <a:ext cx="713678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31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INDUSTRY RANKING</a:t>
            </a:r>
            <a:br>
              <a:rPr lang="en-US" sz="31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Thrift Bank Group, as of 31 March 2023</a:t>
            </a:r>
            <a:r>
              <a:rPr lang="en-US" sz="2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	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sz="24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4729097" y="3848990"/>
            <a:ext cx="3479180" cy="4118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1600" b="1" dirty="0">
                <a:solidFill>
                  <a:prstClr val="black"/>
                </a:solidFill>
                <a:latin typeface="Calibri Light" panose="020F0302020204030204"/>
              </a:rPr>
              <a:t>Total Deposit Liabilities</a:t>
            </a:r>
            <a:endParaRPr lang="en-US" sz="1800" dirty="0">
              <a:solidFill>
                <a:prstClr val="black"/>
              </a:solidFill>
              <a:latin typeface="Calibri Light" panose="020F030202020403020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424043" y="6515478"/>
            <a:ext cx="4572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sz="11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/>
              </a:rPr>
              <a:t>45 Thrift Banks | </a:t>
            </a:r>
            <a:r>
              <a:rPr lang="en-PH" sz="11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/>
              </a:rPr>
              <a:t>Amounts in Million Pesos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4729097" y="1213701"/>
            <a:ext cx="3479180" cy="4957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1600" b="1" dirty="0">
                <a:solidFill>
                  <a:prstClr val="black"/>
                </a:solidFill>
                <a:latin typeface="Calibri Light" panose="020F0302020204030204"/>
              </a:rPr>
              <a:t>Total Capital</a:t>
            </a:r>
            <a:endParaRPr lang="en-US" sz="1800" dirty="0">
              <a:solidFill>
                <a:prstClr val="black"/>
              </a:solidFill>
              <a:latin typeface="Calibri Light" panose="020F030202020403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2884072" y="3418536"/>
            <a:ext cx="15938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900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Total: 6</a:t>
            </a:r>
            <a:r>
              <a:rPr lang="en-US" sz="900" baseline="30000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th</a:t>
            </a:r>
            <a:r>
              <a:rPr lang="en-US" sz="900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 </a:t>
            </a:r>
          </a:p>
          <a:p>
            <a:pPr>
              <a:defRPr/>
            </a:pPr>
            <a:r>
              <a:rPr lang="en-US" sz="900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Stand alone</a:t>
            </a:r>
            <a:r>
              <a:rPr lang="en-US" sz="90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: 3</a:t>
            </a:r>
            <a:r>
              <a:rPr lang="en-US" sz="900" baseline="3000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rd</a:t>
            </a:r>
            <a:r>
              <a:rPr lang="en-US" sz="90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 </a:t>
            </a:r>
            <a:endParaRPr lang="en-PH" sz="900" dirty="0">
              <a:solidFill>
                <a:prstClr val="white">
                  <a:lumMod val="50000"/>
                </a:prstClr>
              </a:solidFill>
              <a:latin typeface="Calibri" panose="020F05020202040302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7321840" y="3447400"/>
            <a:ext cx="20195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900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Total: 7</a:t>
            </a:r>
            <a:r>
              <a:rPr lang="en-US" sz="900" baseline="30000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th</a:t>
            </a:r>
            <a:r>
              <a:rPr lang="en-US" sz="900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  </a:t>
            </a:r>
          </a:p>
          <a:p>
            <a:pPr>
              <a:defRPr/>
            </a:pPr>
            <a:r>
              <a:rPr lang="en-US" sz="900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Stand </a:t>
            </a:r>
            <a:r>
              <a:rPr lang="en-US" sz="90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alone:4</a:t>
            </a:r>
            <a:r>
              <a:rPr lang="en-US" sz="900" baseline="3000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th</a:t>
            </a:r>
            <a:r>
              <a:rPr lang="en-US" sz="90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  </a:t>
            </a:r>
            <a:endParaRPr lang="en-PH" sz="900" dirty="0">
              <a:solidFill>
                <a:prstClr val="white">
                  <a:lumMod val="50000"/>
                </a:prstClr>
              </a:solidFill>
              <a:latin typeface="Calibri" panose="020F0502020204030204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3042879" y="6186677"/>
            <a:ext cx="15938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900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Total: 6</a:t>
            </a:r>
            <a:r>
              <a:rPr lang="en-US" sz="900" baseline="30000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th</a:t>
            </a:r>
            <a:r>
              <a:rPr lang="en-US" sz="900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 </a:t>
            </a:r>
          </a:p>
          <a:p>
            <a:pPr>
              <a:defRPr/>
            </a:pPr>
            <a:r>
              <a:rPr lang="en-US" sz="900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Stand alone</a:t>
            </a:r>
            <a:r>
              <a:rPr lang="en-US" sz="90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: 3</a:t>
            </a:r>
            <a:r>
              <a:rPr lang="en-US" sz="900" baseline="3000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rd</a:t>
            </a:r>
            <a:r>
              <a:rPr lang="en-US" sz="90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 </a:t>
            </a:r>
            <a:endParaRPr lang="en-PH" sz="900" dirty="0">
              <a:solidFill>
                <a:prstClr val="white">
                  <a:lumMod val="50000"/>
                </a:prstClr>
              </a:solidFill>
              <a:latin typeface="Calibri" panose="020F050202020403020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8F2857-9E2B-B404-A6DD-E3F3A2E5CB3A}"/>
              </a:ext>
            </a:extLst>
          </p:cNvPr>
          <p:cNvSpPr txBox="1"/>
          <p:nvPr/>
        </p:nvSpPr>
        <p:spPr>
          <a:xfrm>
            <a:off x="97236" y="6515856"/>
            <a:ext cx="18820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PH" sz="105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Source: BSP website</a:t>
            </a:r>
          </a:p>
        </p:txBody>
      </p:sp>
      <p:graphicFrame>
        <p:nvGraphicFramePr>
          <p:cNvPr id="18" name="Chart 17">
            <a:extLst>
              <a:ext uri="{FF2B5EF4-FFF2-40B4-BE49-F238E27FC236}">
                <a16:creationId xmlns:a16="http://schemas.microsoft.com/office/drawing/2014/main" id="{DF1E4A87-DF6F-49DB-8014-3E4DDF4B18A8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97238" y="1585464"/>
          <a:ext cx="4098381" cy="21694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BB45C48E-BFC3-47BB-923E-830CB2ABB743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4763322" y="1585464"/>
          <a:ext cx="4242885" cy="21746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2" name="Chart 21">
            <a:extLst>
              <a:ext uri="{FF2B5EF4-FFF2-40B4-BE49-F238E27FC236}">
                <a16:creationId xmlns:a16="http://schemas.microsoft.com/office/drawing/2014/main" id="{1EE2B882-0BCA-4B06-A7A8-043DC4430B96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97238" y="4279139"/>
          <a:ext cx="4098381" cy="21211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23" name="Chart 22">
            <a:extLst>
              <a:ext uri="{FF2B5EF4-FFF2-40B4-BE49-F238E27FC236}">
                <a16:creationId xmlns:a16="http://schemas.microsoft.com/office/drawing/2014/main" id="{19ED4B82-F47E-4233-9DFD-55420B482C66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4729097" y="4285067"/>
          <a:ext cx="4277108" cy="20938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24" name="Rectangle 23"/>
          <p:cNvSpPr/>
          <p:nvPr/>
        </p:nvSpPr>
        <p:spPr>
          <a:xfrm>
            <a:off x="3185845" y="5998858"/>
            <a:ext cx="20195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900" dirty="0">
                <a:solidFill>
                  <a:srgbClr val="002060"/>
                </a:solidFill>
                <a:latin typeface="Calibri" panose="020F0502020204030204"/>
              </a:rPr>
              <a:t>Total: 6</a:t>
            </a:r>
            <a:r>
              <a:rPr lang="en-US" sz="900" baseline="30000" dirty="0">
                <a:solidFill>
                  <a:srgbClr val="002060"/>
                </a:solidFill>
                <a:latin typeface="Calibri" panose="020F0502020204030204"/>
              </a:rPr>
              <a:t>th</a:t>
            </a:r>
            <a:r>
              <a:rPr lang="en-US" sz="900" dirty="0">
                <a:solidFill>
                  <a:srgbClr val="002060"/>
                </a:solidFill>
                <a:latin typeface="Calibri" panose="020F0502020204030204"/>
              </a:rPr>
              <a:t> </a:t>
            </a:r>
          </a:p>
          <a:p>
            <a:pPr>
              <a:defRPr/>
            </a:pPr>
            <a:r>
              <a:rPr lang="en-US" sz="900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Stand alone: </a:t>
            </a:r>
            <a:r>
              <a:rPr lang="en-US" sz="90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3</a:t>
            </a:r>
            <a:r>
              <a:rPr lang="en-US" sz="900" baseline="3000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rd</a:t>
            </a:r>
            <a:r>
              <a:rPr lang="en-US" sz="90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 </a:t>
            </a:r>
            <a:endParaRPr lang="en-PH" sz="900" dirty="0">
              <a:solidFill>
                <a:prstClr val="white">
                  <a:lumMod val="50000"/>
                </a:prstClr>
              </a:solidFill>
              <a:latin typeface="Calibri" panose="020F0502020204030204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8079857" y="3369617"/>
            <a:ext cx="20195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900" dirty="0">
                <a:solidFill>
                  <a:srgbClr val="002060"/>
                </a:solidFill>
                <a:latin typeface="Calibri" panose="020F0502020204030204"/>
              </a:rPr>
              <a:t>Total: 9</a:t>
            </a:r>
            <a:r>
              <a:rPr lang="en-US" sz="900" baseline="30000" dirty="0">
                <a:solidFill>
                  <a:srgbClr val="002060"/>
                </a:solidFill>
                <a:latin typeface="Calibri" panose="020F0502020204030204"/>
              </a:rPr>
              <a:t>th</a:t>
            </a:r>
            <a:r>
              <a:rPr lang="en-US" sz="900" dirty="0">
                <a:solidFill>
                  <a:srgbClr val="002060"/>
                </a:solidFill>
                <a:latin typeface="Calibri" panose="020F0502020204030204"/>
              </a:rPr>
              <a:t> </a:t>
            </a:r>
          </a:p>
          <a:p>
            <a:pPr>
              <a:defRPr/>
            </a:pPr>
            <a:r>
              <a:rPr lang="en-US" sz="900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Stand alone: </a:t>
            </a:r>
            <a:r>
              <a:rPr lang="en-US" sz="90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5</a:t>
            </a:r>
            <a:r>
              <a:rPr lang="en-US" sz="900" baseline="3000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th</a:t>
            </a:r>
            <a:r>
              <a:rPr lang="en-US" sz="90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 </a:t>
            </a:r>
            <a:endParaRPr lang="en-PH" sz="900" dirty="0">
              <a:solidFill>
                <a:prstClr val="white">
                  <a:lumMod val="50000"/>
                </a:prstClr>
              </a:solidFill>
              <a:latin typeface="Calibri" panose="020F0502020204030204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197185" y="3369617"/>
            <a:ext cx="20195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900" dirty="0">
                <a:solidFill>
                  <a:srgbClr val="002060"/>
                </a:solidFill>
                <a:latin typeface="Calibri" panose="020F0502020204030204"/>
              </a:rPr>
              <a:t>Total: 6</a:t>
            </a:r>
            <a:r>
              <a:rPr lang="en-US" sz="900" baseline="30000" dirty="0">
                <a:solidFill>
                  <a:srgbClr val="002060"/>
                </a:solidFill>
                <a:latin typeface="Calibri" panose="020F0502020204030204"/>
              </a:rPr>
              <a:t>th</a:t>
            </a:r>
            <a:r>
              <a:rPr lang="en-US" sz="900" dirty="0">
                <a:solidFill>
                  <a:srgbClr val="002060"/>
                </a:solidFill>
                <a:latin typeface="Calibri" panose="020F0502020204030204"/>
              </a:rPr>
              <a:t> </a:t>
            </a:r>
          </a:p>
          <a:p>
            <a:pPr>
              <a:defRPr/>
            </a:pPr>
            <a:r>
              <a:rPr lang="en-US" sz="900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Stand alone: </a:t>
            </a:r>
            <a:r>
              <a:rPr lang="en-US" sz="90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3</a:t>
            </a:r>
            <a:r>
              <a:rPr lang="en-US" sz="900" baseline="3000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rd</a:t>
            </a:r>
            <a:r>
              <a:rPr lang="en-US" sz="90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 </a:t>
            </a:r>
            <a:endParaRPr lang="en-PH" sz="900" dirty="0">
              <a:solidFill>
                <a:prstClr val="white">
                  <a:lumMod val="50000"/>
                </a:prstClr>
              </a:solidFill>
              <a:latin typeface="Calibri" panose="020F050202020403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063135" y="5998858"/>
            <a:ext cx="20195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900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Total: </a:t>
            </a:r>
            <a:r>
              <a:rPr lang="en-US" sz="900" dirty="0">
                <a:solidFill>
                  <a:srgbClr val="002060"/>
                </a:solidFill>
                <a:latin typeface="Calibri" panose="020F0502020204030204"/>
              </a:rPr>
              <a:t>5</a:t>
            </a:r>
            <a:r>
              <a:rPr lang="en-US" sz="900" baseline="30000" dirty="0">
                <a:solidFill>
                  <a:srgbClr val="002060"/>
                </a:solidFill>
                <a:latin typeface="Calibri" panose="020F0502020204030204"/>
              </a:rPr>
              <a:t>th</a:t>
            </a:r>
            <a:r>
              <a:rPr lang="en-US" sz="900" dirty="0">
                <a:solidFill>
                  <a:srgbClr val="002060"/>
                </a:solidFill>
                <a:latin typeface="Calibri" panose="020F0502020204030204"/>
              </a:rPr>
              <a:t> </a:t>
            </a:r>
          </a:p>
          <a:p>
            <a:pPr>
              <a:defRPr/>
            </a:pPr>
            <a:r>
              <a:rPr lang="en-US" sz="900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Stand alone: </a:t>
            </a:r>
            <a:r>
              <a:rPr lang="en-US" sz="90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2</a:t>
            </a:r>
            <a:r>
              <a:rPr lang="en-US" sz="900" baseline="3000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nd</a:t>
            </a:r>
            <a:r>
              <a:rPr lang="en-US" sz="90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 </a:t>
            </a:r>
            <a:endParaRPr lang="en-PH" sz="900" dirty="0">
              <a:solidFill>
                <a:prstClr val="white">
                  <a:lumMod val="50000"/>
                </a:prstClr>
              </a:solidFill>
              <a:latin typeface="Calibri" panose="020F0502020204030204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97236" y="6400317"/>
            <a:ext cx="4572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sz="110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42 Thrift Banks | </a:t>
            </a:r>
            <a:r>
              <a:rPr lang="en-PH" sz="110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Amounts in Million Pesos</a:t>
            </a: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B0B54FB4-56F5-497D-A41A-23D79820E0A8}"/>
              </a:ext>
            </a:extLst>
          </p:cNvPr>
          <p:cNvSpPr txBox="1">
            <a:spLocks/>
          </p:cNvSpPr>
          <p:nvPr/>
        </p:nvSpPr>
        <p:spPr>
          <a:xfrm>
            <a:off x="9474489" y="550917"/>
            <a:ext cx="713678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3100" b="1" dirty="0">
                <a:solidFill>
                  <a:prstClr val="black"/>
                </a:solidFill>
                <a:latin typeface="Calibri Light" panose="020F0302020204030204"/>
              </a:rPr>
              <a:t>INDUSTRY RANKING</a:t>
            </a:r>
            <a:br>
              <a:rPr lang="en-US" sz="3100" b="1" dirty="0">
                <a:solidFill>
                  <a:prstClr val="black"/>
                </a:solidFill>
                <a:latin typeface="Calibri Light" panose="020F0302020204030204"/>
              </a:rPr>
            </a:br>
            <a:r>
              <a:rPr lang="en-US" sz="2000" dirty="0">
                <a:solidFill>
                  <a:prstClr val="black"/>
                </a:solidFill>
                <a:latin typeface="Calibri Light" panose="020F0302020204030204"/>
              </a:rPr>
              <a:t>Thrift Bank Group, as of 31 March 2022</a:t>
            </a:r>
            <a:r>
              <a:rPr lang="en-US" sz="2200" dirty="0">
                <a:solidFill>
                  <a:prstClr val="black"/>
                </a:solidFill>
                <a:latin typeface="Calibri Light" panose="020F0302020204030204"/>
              </a:rPr>
              <a:t>		</a:t>
            </a:r>
            <a:r>
              <a:rPr lang="en-US" sz="2000" dirty="0">
                <a:solidFill>
                  <a:prstClr val="black"/>
                </a:solidFill>
                <a:latin typeface="Calibri Light" panose="020F0302020204030204"/>
              </a:rPr>
              <a:t>	</a:t>
            </a:r>
            <a:r>
              <a:rPr lang="en-US" sz="2400" dirty="0">
                <a:solidFill>
                  <a:prstClr val="black"/>
                </a:solidFill>
                <a:latin typeface="Calibri Light" panose="020F0302020204030204"/>
              </a:rPr>
              <a:t/>
            </a:r>
            <a:br>
              <a:rPr lang="en-US" sz="2400" dirty="0">
                <a:solidFill>
                  <a:prstClr val="black"/>
                </a:solidFill>
                <a:latin typeface="Calibri Light" panose="020F0302020204030204"/>
              </a:rPr>
            </a:br>
            <a:endParaRPr lang="en-US" sz="2400" dirty="0">
              <a:solidFill>
                <a:prstClr val="black"/>
              </a:solidFill>
              <a:latin typeface="Calibri Light" panose="020F0302020204030204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E060845-31E2-4BE3-809F-06BCFC421408}"/>
              </a:ext>
            </a:extLst>
          </p:cNvPr>
          <p:cNvSpPr/>
          <p:nvPr/>
        </p:nvSpPr>
        <p:spPr>
          <a:xfrm>
            <a:off x="17374007" y="6146146"/>
            <a:ext cx="20195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900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Total: </a:t>
            </a:r>
            <a:r>
              <a:rPr lang="en-US" sz="900" dirty="0">
                <a:solidFill>
                  <a:srgbClr val="002060"/>
                </a:solidFill>
                <a:latin typeface="Calibri" panose="020F0502020204030204"/>
              </a:rPr>
              <a:t>5</a:t>
            </a:r>
            <a:r>
              <a:rPr lang="en-US" sz="900" baseline="30000" dirty="0">
                <a:solidFill>
                  <a:srgbClr val="002060"/>
                </a:solidFill>
                <a:latin typeface="Calibri" panose="020F0502020204030204"/>
              </a:rPr>
              <a:t>th</a:t>
            </a:r>
            <a:r>
              <a:rPr lang="en-US" sz="900" dirty="0">
                <a:solidFill>
                  <a:srgbClr val="002060"/>
                </a:solidFill>
                <a:latin typeface="Calibri" panose="020F0502020204030204"/>
              </a:rPr>
              <a:t> </a:t>
            </a:r>
          </a:p>
          <a:p>
            <a:pPr>
              <a:defRPr/>
            </a:pPr>
            <a:r>
              <a:rPr lang="en-US" sz="900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Stand alone: </a:t>
            </a:r>
            <a:r>
              <a:rPr lang="en-US" sz="90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2</a:t>
            </a:r>
            <a:r>
              <a:rPr lang="en-US" sz="900" baseline="3000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nd</a:t>
            </a:r>
            <a:r>
              <a:rPr lang="en-US" sz="90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 </a:t>
            </a:r>
            <a:endParaRPr lang="en-PH" sz="900" dirty="0">
              <a:solidFill>
                <a:prstClr val="white">
                  <a:lumMod val="50000"/>
                </a:prstClr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280958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B3064AEA-7A42-4F89-BF35-7BDA3FBB934A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13828208" y="1683672"/>
          <a:ext cx="4336413" cy="19531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B2DCDBD3-5942-4818-91C4-BC181F66B1B7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9457497" y="4066386"/>
          <a:ext cx="4538546" cy="18213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51F086AC-2D88-4D85-8210-26166A48A360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9241523" y="1709478"/>
          <a:ext cx="4538546" cy="19244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03CBC2B6-A71C-46B1-8ECE-BBA8AD17AD02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14108104" y="4059308"/>
          <a:ext cx="4208570" cy="18699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51" y="3830658"/>
            <a:ext cx="3479180" cy="448483"/>
          </a:xfrm>
        </p:spPr>
        <p:txBody>
          <a:bodyPr>
            <a:normAutofit/>
          </a:bodyPr>
          <a:lstStyle/>
          <a:p>
            <a:pPr lvl="0"/>
            <a:r>
              <a:rPr lang="en-US" sz="1600" b="1" dirty="0"/>
              <a:t>Total Loans and Receivables</a:t>
            </a:r>
            <a:endParaRPr lang="en-US" sz="1800" dirty="0"/>
          </a:p>
        </p:txBody>
      </p:sp>
      <p:sp>
        <p:nvSpPr>
          <p:cNvPr id="14" name="Title 1"/>
          <p:cNvSpPr txBox="1">
            <a:spLocks/>
          </p:cNvSpPr>
          <p:nvPr/>
        </p:nvSpPr>
        <p:spPr>
          <a:xfrm>
            <a:off x="0" y="1228432"/>
            <a:ext cx="3820090" cy="4810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1600" b="1" dirty="0">
                <a:solidFill>
                  <a:prstClr val="black"/>
                </a:solidFill>
                <a:latin typeface="Calibri Light" panose="020F0302020204030204"/>
              </a:rPr>
              <a:t>Total Assets</a:t>
            </a:r>
            <a:endParaRPr lang="en-US" sz="1600" dirty="0">
              <a:solidFill>
                <a:prstClr val="black"/>
              </a:solidFill>
              <a:latin typeface="Calibri Light" panose="020F0302020204030204"/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156118" y="89212"/>
            <a:ext cx="713678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31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INDUSTRY RANKING</a:t>
            </a:r>
            <a:br>
              <a:rPr lang="en-US" sz="31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Thrift Bank Group, as of 31 March 2023</a:t>
            </a:r>
            <a:r>
              <a:rPr lang="en-US" sz="2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	</a:t>
            </a:r>
            <a:r>
              <a:rPr lang="en-US" sz="20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sz="24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4729097" y="3848990"/>
            <a:ext cx="3479180" cy="4118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1600" b="1" dirty="0">
                <a:solidFill>
                  <a:prstClr val="black"/>
                </a:solidFill>
                <a:latin typeface="Calibri Light" panose="020F0302020204030204"/>
              </a:rPr>
              <a:t>Total Deposit Liabilities</a:t>
            </a:r>
            <a:endParaRPr lang="en-US" sz="1800" dirty="0">
              <a:solidFill>
                <a:prstClr val="black"/>
              </a:solidFill>
              <a:latin typeface="Calibri Light" panose="020F030202020403020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424043" y="6183916"/>
            <a:ext cx="4572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sz="11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/>
              </a:rPr>
              <a:t>45 Thrift Banks | </a:t>
            </a:r>
            <a:r>
              <a:rPr lang="en-PH" sz="11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 panose="020F0502020204030204"/>
              </a:rPr>
              <a:t>Amounts in Million Pesos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4729097" y="1213701"/>
            <a:ext cx="3479180" cy="4957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1600" b="1" dirty="0">
                <a:solidFill>
                  <a:prstClr val="black"/>
                </a:solidFill>
                <a:latin typeface="Calibri Light" panose="020F0302020204030204"/>
              </a:rPr>
              <a:t>Total Capital</a:t>
            </a:r>
            <a:endParaRPr lang="en-US" sz="1800" dirty="0">
              <a:solidFill>
                <a:prstClr val="black"/>
              </a:solidFill>
              <a:latin typeface="Calibri Light" panose="020F030202020403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2843029" y="3264623"/>
            <a:ext cx="1593892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900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Stand alone: 3</a:t>
            </a:r>
            <a:r>
              <a:rPr lang="en-US" sz="900" baseline="30000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rd</a:t>
            </a:r>
            <a:r>
              <a:rPr lang="en-US" sz="900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 </a:t>
            </a:r>
          </a:p>
          <a:p>
            <a:pPr>
              <a:defRPr/>
            </a:pPr>
            <a:r>
              <a:rPr lang="en-US" sz="900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Total: 6</a:t>
            </a:r>
            <a:r>
              <a:rPr lang="en-US" sz="900" baseline="30000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th</a:t>
            </a:r>
            <a:r>
              <a:rPr lang="en-US" sz="900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 </a:t>
            </a:r>
          </a:p>
          <a:p>
            <a:pPr>
              <a:defRPr/>
            </a:pPr>
            <a:endParaRPr lang="en-PH" sz="900" dirty="0">
              <a:solidFill>
                <a:srgbClr val="E7E6E6">
                  <a:lumMod val="50000"/>
                </a:srgbClr>
              </a:solidFill>
              <a:latin typeface="Calibri" panose="020F05020202040302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7297261" y="3277167"/>
            <a:ext cx="20195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900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Stand alone:4</a:t>
            </a:r>
            <a:r>
              <a:rPr lang="en-US" sz="900" baseline="30000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th</a:t>
            </a:r>
          </a:p>
          <a:p>
            <a:pPr>
              <a:defRPr/>
            </a:pPr>
            <a:r>
              <a:rPr lang="en-US" sz="900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Total: 7</a:t>
            </a:r>
            <a:r>
              <a:rPr lang="en-US" sz="900" baseline="30000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th</a:t>
            </a:r>
            <a:r>
              <a:rPr lang="en-US" sz="900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    </a:t>
            </a:r>
            <a:endParaRPr lang="en-PH" sz="900" dirty="0">
              <a:solidFill>
                <a:srgbClr val="E7E6E6">
                  <a:lumMod val="50000"/>
                </a:srgbClr>
              </a:solidFill>
              <a:latin typeface="Calibri" panose="020F0502020204030204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3027104" y="5529379"/>
            <a:ext cx="15938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900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Stand alone: 3</a:t>
            </a:r>
            <a:r>
              <a:rPr lang="en-US" sz="900" baseline="30000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rd</a:t>
            </a:r>
            <a:r>
              <a:rPr lang="en-US" sz="900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 </a:t>
            </a:r>
          </a:p>
          <a:p>
            <a:pPr>
              <a:defRPr/>
            </a:pPr>
            <a:r>
              <a:rPr lang="en-US" sz="900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Total: 6</a:t>
            </a:r>
            <a:r>
              <a:rPr lang="en-US" sz="900" baseline="30000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th</a:t>
            </a:r>
            <a:r>
              <a:rPr lang="en-US" sz="900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2B6C5F-819A-6424-BE85-FF1D53B48F15}"/>
              </a:ext>
            </a:extLst>
          </p:cNvPr>
          <p:cNvSpPr txBox="1"/>
          <p:nvPr/>
        </p:nvSpPr>
        <p:spPr>
          <a:xfrm>
            <a:off x="15282865" y="6187304"/>
            <a:ext cx="18820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PH" sz="105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Source: BSP website</a:t>
            </a:r>
          </a:p>
        </p:txBody>
      </p:sp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51F086AC-2D88-4D85-8210-26166A48A360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76546" y="1582396"/>
          <a:ext cx="4345792" cy="22482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8" name="Chart 17">
            <a:extLst>
              <a:ext uri="{FF2B5EF4-FFF2-40B4-BE49-F238E27FC236}">
                <a16:creationId xmlns:a16="http://schemas.microsoft.com/office/drawing/2014/main" id="{B3064AEA-7A42-4F89-BF35-7BDA3FBB934A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4685652" y="1582398"/>
          <a:ext cx="4270319" cy="22533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B2DCDBD3-5942-4818-91C4-BC181F66B1B7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104443" y="4209245"/>
          <a:ext cx="4317897" cy="22362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23" name="Chart 22">
            <a:extLst>
              <a:ext uri="{FF2B5EF4-FFF2-40B4-BE49-F238E27FC236}">
                <a16:creationId xmlns:a16="http://schemas.microsoft.com/office/drawing/2014/main" id="{03CBC2B6-A71C-46B1-8ECE-BBA8AD17AD02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4695883" y="4209244"/>
          <a:ext cx="4270319" cy="22362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24" name="Rectangle 23"/>
          <p:cNvSpPr/>
          <p:nvPr/>
        </p:nvSpPr>
        <p:spPr>
          <a:xfrm>
            <a:off x="3513331" y="6076194"/>
            <a:ext cx="20195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900" dirty="0">
                <a:solidFill>
                  <a:srgbClr val="002060"/>
                </a:solidFill>
                <a:latin typeface="Calibri" panose="020F0502020204030204"/>
              </a:rPr>
              <a:t>Stand alone: 3</a:t>
            </a:r>
            <a:r>
              <a:rPr lang="en-US" sz="900" baseline="30000" dirty="0">
                <a:solidFill>
                  <a:srgbClr val="002060"/>
                </a:solidFill>
                <a:latin typeface="Calibri" panose="020F0502020204030204"/>
              </a:rPr>
              <a:t>rd</a:t>
            </a:r>
            <a:r>
              <a:rPr lang="en-US" sz="900" dirty="0">
                <a:solidFill>
                  <a:srgbClr val="002060"/>
                </a:solidFill>
                <a:latin typeface="Calibri" panose="020F0502020204030204"/>
              </a:rPr>
              <a:t> </a:t>
            </a:r>
          </a:p>
          <a:p>
            <a:pPr>
              <a:defRPr/>
            </a:pPr>
            <a:r>
              <a:rPr lang="en-US" sz="900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Total: 6</a:t>
            </a:r>
            <a:r>
              <a:rPr lang="en-US" sz="900" baseline="30000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th</a:t>
            </a:r>
            <a:r>
              <a:rPr lang="en-US" sz="900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 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88974" y="3474070"/>
            <a:ext cx="20195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900" dirty="0">
                <a:solidFill>
                  <a:srgbClr val="002060"/>
                </a:solidFill>
                <a:latin typeface="Calibri" panose="020F0502020204030204"/>
              </a:rPr>
              <a:t>Stand alone: 5</a:t>
            </a:r>
            <a:r>
              <a:rPr lang="en-US" sz="900" baseline="30000" dirty="0">
                <a:solidFill>
                  <a:srgbClr val="002060"/>
                </a:solidFill>
                <a:latin typeface="Calibri" panose="020F0502020204030204"/>
              </a:rPr>
              <a:t>th</a:t>
            </a:r>
            <a:r>
              <a:rPr lang="en-US" sz="900" dirty="0">
                <a:solidFill>
                  <a:srgbClr val="002060"/>
                </a:solidFill>
                <a:latin typeface="Calibri" panose="020F0502020204030204"/>
              </a:rPr>
              <a:t> </a:t>
            </a:r>
          </a:p>
          <a:p>
            <a:pPr>
              <a:defRPr/>
            </a:pPr>
            <a:r>
              <a:rPr lang="en-US" sz="900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Total: 9</a:t>
            </a:r>
            <a:r>
              <a:rPr lang="en-US" sz="900" baseline="30000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th</a:t>
            </a:r>
            <a:r>
              <a:rPr lang="en-US" sz="900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 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58277" y="3468483"/>
            <a:ext cx="20195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900" dirty="0">
                <a:solidFill>
                  <a:srgbClr val="002060"/>
                </a:solidFill>
                <a:latin typeface="Calibri" panose="020F0502020204030204"/>
              </a:rPr>
              <a:t>Stand alone: 3</a:t>
            </a:r>
            <a:r>
              <a:rPr lang="en-US" sz="900" baseline="30000" dirty="0">
                <a:solidFill>
                  <a:srgbClr val="002060"/>
                </a:solidFill>
                <a:latin typeface="Calibri" panose="020F0502020204030204"/>
              </a:rPr>
              <a:t>rd</a:t>
            </a:r>
            <a:r>
              <a:rPr lang="en-US" sz="900" dirty="0">
                <a:solidFill>
                  <a:srgbClr val="002060"/>
                </a:solidFill>
                <a:latin typeface="Calibri" panose="020F0502020204030204"/>
              </a:rPr>
              <a:t> </a:t>
            </a:r>
          </a:p>
          <a:p>
            <a:pPr>
              <a:defRPr/>
            </a:pPr>
            <a:r>
              <a:rPr lang="en-US" sz="900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Total: 6</a:t>
            </a:r>
            <a:r>
              <a:rPr lang="en-US" sz="900" baseline="30000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th</a:t>
            </a:r>
            <a:r>
              <a:rPr lang="en-US" sz="900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 </a:t>
            </a:r>
          </a:p>
        </p:txBody>
      </p:sp>
      <p:sp>
        <p:nvSpPr>
          <p:cNvPr id="9" name="Rectangle 8"/>
          <p:cNvSpPr/>
          <p:nvPr/>
        </p:nvSpPr>
        <p:spPr>
          <a:xfrm>
            <a:off x="8088974" y="6076194"/>
            <a:ext cx="20195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900" dirty="0">
                <a:solidFill>
                  <a:srgbClr val="002060"/>
                </a:solidFill>
                <a:latin typeface="Calibri" panose="020F0502020204030204"/>
              </a:rPr>
              <a:t>Stand alone: 2</a:t>
            </a:r>
            <a:r>
              <a:rPr lang="en-US" sz="900" baseline="30000" dirty="0">
                <a:solidFill>
                  <a:srgbClr val="002060"/>
                </a:solidFill>
                <a:latin typeface="Calibri" panose="020F0502020204030204"/>
              </a:rPr>
              <a:t>nd</a:t>
            </a:r>
            <a:r>
              <a:rPr lang="en-US" sz="900" dirty="0">
                <a:solidFill>
                  <a:srgbClr val="002060"/>
                </a:solidFill>
                <a:latin typeface="Calibri" panose="020F0502020204030204"/>
              </a:rPr>
              <a:t> </a:t>
            </a:r>
          </a:p>
          <a:p>
            <a:pPr>
              <a:defRPr/>
            </a:pPr>
            <a:r>
              <a:rPr lang="en-US" sz="900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Total: 5</a:t>
            </a:r>
            <a:r>
              <a:rPr lang="en-US" sz="900" baseline="30000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th</a:t>
            </a:r>
            <a:r>
              <a:rPr lang="en-US" sz="900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</a:rPr>
              <a:t> 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7236" y="6418935"/>
            <a:ext cx="4572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sz="110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42 Thrift Banks | </a:t>
            </a:r>
            <a:r>
              <a:rPr lang="en-PH" sz="110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Amounts in Million Pesos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28F2857-9E2B-B404-A6DD-E3F3A2E5CB3A}"/>
              </a:ext>
            </a:extLst>
          </p:cNvPr>
          <p:cNvSpPr txBox="1"/>
          <p:nvPr/>
        </p:nvSpPr>
        <p:spPr>
          <a:xfrm>
            <a:off x="97236" y="6562503"/>
            <a:ext cx="18820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PH" sz="105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Source: BSP website</a:t>
            </a: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C908A979-0B40-4FA3-A46D-3F48620DE9EA}"/>
              </a:ext>
            </a:extLst>
          </p:cNvPr>
          <p:cNvSpPr txBox="1">
            <a:spLocks/>
          </p:cNvSpPr>
          <p:nvPr/>
        </p:nvSpPr>
        <p:spPr>
          <a:xfrm>
            <a:off x="9474489" y="550917"/>
            <a:ext cx="713678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3100" b="1" dirty="0">
                <a:solidFill>
                  <a:prstClr val="black"/>
                </a:solidFill>
                <a:latin typeface="Calibri Light" panose="020F0302020204030204"/>
              </a:rPr>
              <a:t>INDUSTRY RANKING</a:t>
            </a:r>
            <a:br>
              <a:rPr lang="en-US" sz="3100" b="1" dirty="0">
                <a:solidFill>
                  <a:prstClr val="black"/>
                </a:solidFill>
                <a:latin typeface="Calibri Light" panose="020F0302020204030204"/>
              </a:rPr>
            </a:br>
            <a:r>
              <a:rPr lang="en-US" sz="2000" dirty="0">
                <a:solidFill>
                  <a:prstClr val="black"/>
                </a:solidFill>
                <a:latin typeface="Calibri Light" panose="020F0302020204030204"/>
              </a:rPr>
              <a:t>Thrift Bank Group, as of 31 March 2022</a:t>
            </a:r>
            <a:r>
              <a:rPr lang="en-US" sz="2200" dirty="0">
                <a:solidFill>
                  <a:prstClr val="black"/>
                </a:solidFill>
                <a:latin typeface="Calibri Light" panose="020F0302020204030204"/>
              </a:rPr>
              <a:t>		</a:t>
            </a:r>
            <a:r>
              <a:rPr lang="en-US" sz="2000" dirty="0">
                <a:solidFill>
                  <a:prstClr val="black"/>
                </a:solidFill>
                <a:latin typeface="Calibri Light" panose="020F0302020204030204"/>
              </a:rPr>
              <a:t>	</a:t>
            </a:r>
            <a:r>
              <a:rPr lang="en-US" sz="2400" dirty="0">
                <a:solidFill>
                  <a:prstClr val="black"/>
                </a:solidFill>
                <a:latin typeface="Calibri Light" panose="020F0302020204030204"/>
              </a:rPr>
              <a:t/>
            </a:r>
            <a:br>
              <a:rPr lang="en-US" sz="2400" dirty="0">
                <a:solidFill>
                  <a:prstClr val="black"/>
                </a:solidFill>
                <a:latin typeface="Calibri Light" panose="020F0302020204030204"/>
              </a:rPr>
            </a:br>
            <a:endParaRPr lang="en-US" sz="2400" dirty="0">
              <a:solidFill>
                <a:prstClr val="black"/>
              </a:solidFill>
              <a:latin typeface="Calibri Light" panose="020F0302020204030204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B55626C-B528-4DF3-9804-CF380A61A4DC}"/>
              </a:ext>
            </a:extLst>
          </p:cNvPr>
          <p:cNvSpPr/>
          <p:nvPr/>
        </p:nvSpPr>
        <p:spPr>
          <a:xfrm>
            <a:off x="17306902" y="5559973"/>
            <a:ext cx="20195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90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Stand alone: 2</a:t>
            </a:r>
            <a:r>
              <a:rPr lang="en-US" sz="900" baseline="3000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nd</a:t>
            </a:r>
            <a:r>
              <a:rPr lang="en-US" sz="90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 </a:t>
            </a:r>
          </a:p>
          <a:p>
            <a:pPr>
              <a:defRPr/>
            </a:pPr>
            <a:r>
              <a:rPr lang="en-US" sz="90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Total: 5</a:t>
            </a:r>
            <a:r>
              <a:rPr lang="en-US" sz="900" baseline="3000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th</a:t>
            </a:r>
            <a:r>
              <a:rPr lang="en-US" sz="90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92997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02659" y="2438335"/>
            <a:ext cx="72468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3600" b="1" dirty="0">
                <a:solidFill>
                  <a:srgbClr val="002060"/>
                </a:solidFill>
                <a:latin typeface="Calibri" panose="020F0502020204030204"/>
              </a:rPr>
              <a:t>Thank you.</a:t>
            </a:r>
            <a:endParaRPr lang="en-PH" sz="2800" dirty="0">
              <a:solidFill>
                <a:srgbClr val="002060"/>
              </a:solidFill>
              <a:latin typeface="Calibri" panose="020F0502020204030204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696262" y="1588959"/>
            <a:ext cx="3072984" cy="58461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PH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104611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3279</TotalTime>
  <Words>2758</Words>
  <Application>Microsoft Office PowerPoint</Application>
  <PresentationFormat>On-screen Show (4:3)</PresentationFormat>
  <Paragraphs>698</Paragraphs>
  <Slides>22</Slides>
  <Notes>15</Notes>
  <HiddenSlides>17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Office Theme</vt:lpstr>
      <vt:lpstr>1_Office Theme</vt:lpstr>
      <vt:lpstr>PowerPoint Presentation</vt:lpstr>
      <vt:lpstr>Total Loans and Receivables</vt:lpstr>
      <vt:lpstr>Total Loans and Receivables</vt:lpstr>
      <vt:lpstr>Total Loans and Receivables</vt:lpstr>
      <vt:lpstr>Total Loans and Receivables</vt:lpstr>
      <vt:lpstr>Total Loans and Receivables</vt:lpstr>
      <vt:lpstr>Total Loans and Receivables</vt:lpstr>
      <vt:lpstr>Total Loans and Receivables</vt:lpstr>
      <vt:lpstr>Total Loans and Receivables</vt:lpstr>
      <vt:lpstr>Total Loans and Receivables</vt:lpstr>
      <vt:lpstr>Total Loans and Receivables</vt:lpstr>
      <vt:lpstr>Total Loans and Receivables</vt:lpstr>
      <vt:lpstr>Total Loans and Receivables</vt:lpstr>
      <vt:lpstr>Total Loans and Receivables</vt:lpstr>
      <vt:lpstr>Total Loans and Receivables</vt:lpstr>
      <vt:lpstr>Total Loans and Receivables</vt:lpstr>
      <vt:lpstr>Total Loans and Receivables</vt:lpstr>
      <vt:lpstr>Total Loans and Receivables</vt:lpstr>
      <vt:lpstr>Total Loans and Receivables</vt:lpstr>
      <vt:lpstr>Total Loans and Receivables</vt:lpstr>
      <vt:lpstr>Total Loans and Receivables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Jesica Kalila I. Ayson</dc:creator>
  <cp:lastModifiedBy>Ronnie Dominic P. San Pedro</cp:lastModifiedBy>
  <cp:revision>656</cp:revision>
  <dcterms:created xsi:type="dcterms:W3CDTF">2019-02-04T08:38:13Z</dcterms:created>
  <dcterms:modified xsi:type="dcterms:W3CDTF">2026-08-12T06:45:09Z</dcterms:modified>
</cp:coreProperties>
</file>